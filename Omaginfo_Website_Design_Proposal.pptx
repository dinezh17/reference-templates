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08e3e8-bd5e-6942-2bb1-50661af14130}">
          <p14:sldIdLst>
            <p14:sldId id="256"/>
            <p14:sldId id="257"/>
            <p14:sldId id="258"/>
          </p14:sldIdLst>
        </p14:section>
        <p14:section name="01 Foundations" id="{b9a52b63-a121-3d80-6c7f-de384311260c}">
          <p14:sldIdLst>
            <p14:sldId id="259"/>
            <p14:sldId id="260"/>
            <p14:sldId id="261"/>
            <p14:sldId id="262"/>
            <p14:sldId id="263"/>
            <p14:sldId id="264"/>
            <p14:sldId id="265"/>
          </p14:sldIdLst>
        </p14:section>
        <p14:section name="02 Global elements" id="{0120f4fb-8fc3-3854-decf-254d01541545}">
          <p14:sldIdLst>
            <p14:sldId id="266"/>
            <p14:sldId id="267"/>
            <p14:sldId id="268"/>
            <p14:sldId id="269"/>
          </p14:sldIdLst>
        </p14:section>
        <p14:section name="03 Home page" id="{201f010b-cfce-540b-652f-366503b3097a}">
          <p14:sldIdLst>
            <p14:sldId id="270"/>
            <p14:sldId id="271"/>
            <p14:sldId id="272"/>
            <p14:sldId id="273"/>
            <p14:sldId id="274"/>
            <p14:sldId id="275"/>
          </p14:sldIdLst>
        </p14:section>
        <p14:section name="04 About Us page" id="{19938b2d-24bf-51da-ddf9-9ea149049a10}">
          <p14:sldIdLst>
            <p14:sldId id="276"/>
            <p14:sldId id="277"/>
            <p14:sldId id="278"/>
            <p14:sldId id="279"/>
          </p14:sldIdLst>
        </p14:section>
        <p14:section name="05 Services pages" id="{07b05f6d-46f1-73bd-c48c-1bba211fd4c1}">
          <p14:sldIdLst>
            <p14:sldId id="280"/>
            <p14:sldId id="281"/>
            <p14:sldId id="282"/>
            <p14:sldId id="283"/>
            <p14:sldId id="284"/>
            <p14:sldId id="285"/>
            <p14:sldId id="286"/>
            <p14:sldId id="287"/>
            <p14:sldId id="288"/>
          </p14:sldIdLst>
        </p14:section>
        <p14:section name="06 Contact Us page" id="{13ab1a63-33ab-9385-8b43-dd26db62313b}">
          <p14:sldIdLst>
            <p14:sldId id="289"/>
            <p14:sldId id="290"/>
            <p14:sldId id="291"/>
          </p14:sldIdLst>
        </p14:section>
        <p14:section name="07 Delivery" id="{959217f7-f151-dbe4-adc1-eb953ef4ca55}">
          <p14:sldIdLst>
            <p14:sldId id="292"/>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6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498080" cy="1737360"/>
          </a:xfrm>
          <a:prstGeom prst="rect">
            <a:avLst/>
          </a:prstGeom>
          <a:noFill/>
          <a:ln/>
        </p:spPr>
        <p:txBody>
          <a:bodyPr wrap="square" rtlCol="0"/>
          <a:lstStyle>
            <a:lvl1pPr algn="l" indent="0" marL="0">
              <a:buNone/>
              <a:defRPr lang="en-US" sz="4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6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06040"/>
            <a:ext cx="5852160" cy="100584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3" name="Text 0"/>
          <p:cNvSpPr/>
          <p:nvPr/>
        </p:nvSpPr>
        <p:spPr>
          <a:xfrm>
            <a:off x="731520" y="6400800"/>
            <a:ext cx="5486400" cy="274320"/>
          </a:xfrm>
          <a:prstGeom prst="rect">
            <a:avLst/>
          </a:prstGeom>
          <a:noFill/>
          <a:ln/>
        </p:spPr>
        <p:txBody>
          <a:bodyPr wrap="square" lIns="0" tIns="0" rIns="0" bIns="0" rtlCol="0" anchor="ctr"/>
          <a:lstStyle/>
          <a:p>
            <a:pPr indent="0" marL="0">
              <a:buNone/>
            </a:pPr>
            <a:r>
              <a:rPr lang="en-US" sz="900" dirty="0">
                <a:solidFill>
                  <a:srgbClr val="8B8BA3"/>
                </a:solidFill>
                <a:latin typeface="Calibri" pitchFamily="34" charset="0"/>
                <a:ea typeface="Calibri" pitchFamily="34" charset="-122"/>
                <a:cs typeface="Calibri" pitchFamily="34" charset="-120"/>
              </a:rPr>
              <a:t>Omaginfo LLC · Website Design Proposal</a:t>
            </a:r>
            <a:endParaRPr lang="en-US" sz="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rtlCol="0"/>
          <a:lstStyle>
            <a:lvl1pPr algn="l" indent="0" marL="0">
              <a:buNone/>
              <a:defRPr lang="en-US" sz="2800" b="1" dirty="0">
                <a:solidFill>
                  <a:srgbClr val="16161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548640" y="6473952"/>
            <a:ext cx="5486400" cy="228600"/>
          </a:xfrm>
          <a:prstGeom prst="rect">
            <a:avLst/>
          </a:prstGeom>
          <a:noFill/>
          <a:ln/>
        </p:spPr>
        <p:txBody>
          <a:bodyPr wrap="square" lIns="0" tIns="0" rIns="0" bIns="0" rtlCol="0" anchor="ctr"/>
          <a:lstStyle/>
          <a:p>
            <a:pPr indent="0" marL="0">
              <a:buNone/>
            </a:pPr>
            <a:r>
              <a:rPr lang="en-US" sz="900" dirty="0">
                <a:solidFill>
                  <a:srgbClr val="8B8BA3"/>
                </a:solidFill>
                <a:latin typeface="Calibri" pitchFamily="34" charset="0"/>
                <a:ea typeface="Calibri" pitchFamily="34" charset="-122"/>
                <a:cs typeface="Calibri" pitchFamily="34" charset="-120"/>
              </a:rPr>
              <a:t>Omaginfo LLC · Website Design Proposal</a:t>
            </a:r>
            <a:endParaRPr lang="en-US" sz="9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jpe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jpe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4.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jpe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slideLayout" Target="../slideLayouts/slideLayout4.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4.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jpe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jpe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4.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4.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jpe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4.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jpe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4.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slideLayout" Target="../slideLayouts/slideLayout4.xml"/><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4.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jpe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slideLayout" Target="../slideLayouts/slideLayout4.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4.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image" Target="../media/image-38-3.jpeg"/><Relationship Id="rId4" Type="http://schemas.openxmlformats.org/officeDocument/2006/relationships/image" Target="../media/image-38-4.jpe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4.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5486400" cy="365760"/>
          </a:xfrm>
          <a:prstGeom prst="rect">
            <a:avLst/>
          </a:prstGeom>
          <a:noFill/>
          <a:ln/>
        </p:spPr>
        <p:txBody>
          <a:bodyPr wrap="square" lIns="0" tIns="0" rIns="0" bIns="0" rtlCol="0" anchor="t"/>
          <a:lstStyle/>
          <a:p>
            <a:pPr indent="0" marL="0">
              <a:buNone/>
            </a:pPr>
            <a:r>
              <a:rPr lang="en-US" sz="1300" b="1" spc="300" kern="0" dirty="0">
                <a:solidFill>
                  <a:srgbClr val="9DF0D4"/>
                </a:solidFill>
                <a:latin typeface="Calibri" pitchFamily="34" charset="0"/>
                <a:ea typeface="Calibri" pitchFamily="34" charset="-122"/>
                <a:cs typeface="Calibri" pitchFamily="34" charset="-120"/>
              </a:rPr>
              <a:t>WEBSITE DESIGN PROPOSAL</a:t>
            </a:r>
            <a:endParaRPr lang="en-US" sz="1300" dirty="0"/>
          </a:p>
        </p:txBody>
      </p:sp>
      <p:sp>
        <p:nvSpPr>
          <p:cNvPr id="3" name="Text 0"/>
          <p:cNvSpPr/>
          <p:nvPr>
            <p:ph idx="100" type="title" hasCustomPrompt="1"/>
          </p:nvPr>
        </p:nvSpPr>
        <p:spPr>
          <a:xfrm>
            <a:off x="731520" y="2011680"/>
            <a:ext cx="7498080" cy="1737360"/>
          </a:xfrm>
          <a:prstGeom prst="rect">
            <a:avLst/>
          </a:prstGeom>
          <a:noFill/>
          <a:ln/>
        </p:spPr>
        <p:txBody>
          <a:bodyPr wrap="square" lIns="0" tIns="0" rIns="0" bIns="0" rtlCol="0" anchor="t"/>
          <a:lstStyle/>
          <a:p>
            <a:pPr algn="l" indent="0" marL="0">
              <a:buNone/>
            </a:pPr>
            <a:r>
              <a:rPr lang="en-US" sz="4400" b="1" dirty="0">
                <a:solidFill>
                  <a:srgbClr val="FFFFFF"/>
                </a:solidFill>
                <a:latin typeface="Calibri" pitchFamily="34" charset="0"/>
                <a:ea typeface="Calibri" pitchFamily="34" charset="-122"/>
                <a:cs typeface="Calibri" pitchFamily="34" charset="-120"/>
              </a:rPr>
              <a:t>Omaginfo LLC Corporate Website</a:t>
            </a:r>
            <a:endParaRPr lang="en-US" sz="4400" dirty="0"/>
          </a:p>
        </p:txBody>
      </p:sp>
      <p:sp>
        <p:nvSpPr>
          <p:cNvPr id="4" name="Text 2"/>
          <p:cNvSpPr txBox="1"/>
          <p:nvPr/>
        </p:nvSpPr>
        <p:spPr>
          <a:xfrm>
            <a:off x="731520" y="3840480"/>
            <a:ext cx="6400800" cy="457200"/>
          </a:xfrm>
          <a:prstGeom prst="rect">
            <a:avLst/>
          </a:prstGeom>
          <a:noFill/>
          <a:ln/>
        </p:spPr>
        <p:txBody>
          <a:bodyPr wrap="square" lIns="0" tIns="0" rIns="0" bIns="0" rtlCol="0" anchor="t"/>
          <a:lstStyle/>
          <a:p>
            <a:pPr indent="0" marL="0">
              <a:buNone/>
            </a:pPr>
            <a:r>
              <a:rPr lang="en-US" sz="2000" i="1" dirty="0">
                <a:solidFill>
                  <a:srgbClr val="B3A8FF"/>
                </a:solidFill>
                <a:latin typeface="Calibri" pitchFamily="34" charset="0"/>
                <a:ea typeface="Calibri" pitchFamily="34" charset="-122"/>
                <a:cs typeface="Calibri" pitchFamily="34" charset="-120"/>
              </a:rPr>
              <a:t>Global Connectivity. Trusted Partnerships.</a:t>
            </a:r>
            <a:endParaRPr lang="en-US" sz="2000" dirty="0"/>
          </a:p>
        </p:txBody>
      </p:sp>
      <p:sp>
        <p:nvSpPr>
          <p:cNvPr id="5" name="Text 3"/>
          <p:cNvSpPr txBox="1"/>
          <p:nvPr/>
        </p:nvSpPr>
        <p:spPr>
          <a:xfrm>
            <a:off x="731520" y="4572000"/>
            <a:ext cx="6400800" cy="365760"/>
          </a:xfrm>
          <a:prstGeom prst="rect">
            <a:avLst/>
          </a:prstGeom>
          <a:noFill/>
          <a:ln/>
        </p:spPr>
        <p:txBody>
          <a:bodyPr wrap="square" lIns="0" tIns="0" rIns="0" bIns="0" rtlCol="0" anchor="t"/>
          <a:lstStyle/>
          <a:p>
            <a:pPr indent="0" marL="0">
              <a:buNone/>
            </a:pPr>
            <a:r>
              <a:rPr lang="en-US" sz="1400" dirty="0">
                <a:solidFill>
                  <a:srgbClr val="C9C9DA"/>
                </a:solidFill>
                <a:latin typeface="Calibri" pitchFamily="34" charset="0"/>
                <a:ea typeface="Calibri" pitchFamily="34" charset="-122"/>
                <a:cs typeface="Calibri" pitchFamily="34" charset="-120"/>
              </a:rPr>
              <a:t>Page-by-page design and content plan · October 2026</a:t>
            </a:r>
            <a:endParaRPr lang="en-US" sz="1400" dirty="0"/>
          </a:p>
        </p:txBody>
      </p:sp>
      <p:sp>
        <p:nvSpPr>
          <p:cNvPr id="6" name="Shape 4"/>
          <p:cNvSpPr/>
          <p:nvPr/>
        </p:nvSpPr>
        <p:spPr>
          <a:xfrm>
            <a:off x="7680960" y="822960"/>
            <a:ext cx="4023360" cy="5212080"/>
          </a:xfrm>
          <a:prstGeom prst="roundRect">
            <a:avLst>
              <a:gd name="adj" fmla="val 5682"/>
            </a:avLst>
          </a:prstGeom>
          <a:solidFill>
            <a:srgbClr val="1B1B28"/>
          </a:solidFill>
          <a:ln/>
        </p:spPr>
      </p:sp>
      <p:pic>
        <p:nvPicPr>
          <p:cNvPr id="7" name="Image 0" descr="preencoded.png">    </p:cNvPr>
          <p:cNvPicPr>
            <a:picLocks noChangeAspect="1"/>
          </p:cNvPicPr>
          <p:nvPr/>
        </p:nvPicPr>
        <p:blipFill>
          <a:blip r:embed="rId1"/>
          <a:stretch>
            <a:fillRect/>
          </a:stretch>
        </p:blipFill>
        <p:spPr>
          <a:xfrm>
            <a:off x="7863840" y="1005840"/>
            <a:ext cx="3657600" cy="2286000"/>
          </a:xfrm>
          <a:prstGeom prst="rect">
            <a:avLst/>
          </a:prstGeom>
        </p:spPr>
      </p:pic>
      <p:pic>
        <p:nvPicPr>
          <p:cNvPr id="8" name="Image 1" descr="preencoded.png">    </p:cNvPr>
          <p:cNvPicPr>
            <a:picLocks noChangeAspect="1"/>
          </p:cNvPicPr>
          <p:nvPr/>
        </p:nvPicPr>
        <p:blipFill>
          <a:blip r:embed="rId2"/>
          <a:stretch>
            <a:fillRect/>
          </a:stretch>
        </p:blipFill>
        <p:spPr>
          <a:xfrm>
            <a:off x="9132787" y="3429000"/>
            <a:ext cx="1119707" cy="2423160"/>
          </a:xfrm>
          <a:prstGeom prst="rect">
            <a:avLst/>
          </a:prstGeom>
        </p:spPr>
      </p:pic>
      <p:sp>
        <p:nvSpPr>
          <p:cNvPr id="9" name="Text 5"/>
          <p:cNvSpPr txBox="1"/>
          <p:nvPr/>
        </p:nvSpPr>
        <p:spPr>
          <a:xfrm>
            <a:off x="7863840" y="6080760"/>
            <a:ext cx="3840480" cy="274320"/>
          </a:xfrm>
          <a:prstGeom prst="rect">
            <a:avLst/>
          </a:prstGeom>
          <a:noFill/>
          <a:ln/>
        </p:spPr>
        <p:txBody>
          <a:bodyPr wrap="square" lIns="0" tIns="0" rIns="0" bIns="0" rtlCol="0" anchor="t"/>
          <a:lstStyle/>
          <a:p>
            <a:pPr indent="0" marL="0">
              <a:buNone/>
            </a:pPr>
            <a:r>
              <a:rPr lang="en-US" sz="900" dirty="0">
                <a:solidFill>
                  <a:srgbClr val="8B8BA3"/>
                </a:solidFill>
                <a:latin typeface="Calibri" pitchFamily="34" charset="0"/>
                <a:ea typeface="Calibri" pitchFamily="34" charset="-122"/>
                <a:cs typeface="Calibri" pitchFamily="34" charset="-120"/>
              </a:rPr>
              <a:t>Design reference: supplied sample website (placeholder content)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What this proposal covers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OVERVIEW</a:t>
            </a:r>
            <a:endParaRPr lang="en-US" sz="1050" dirty="0"/>
          </a:p>
        </p:txBody>
      </p:sp>
      <p:sp>
        <p:nvSpPr>
          <p:cNvPr id="4" name="Text 2"/>
          <p:cNvSpPr txBox="1"/>
          <p:nvPr/>
        </p:nvSpPr>
        <p:spPr>
          <a:xfrm>
            <a:off x="548640" y="1371600"/>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01</a:t>
            </a:r>
            <a:endParaRPr lang="en-US" sz="2000" dirty="0"/>
          </a:p>
        </p:txBody>
      </p:sp>
      <p:sp>
        <p:nvSpPr>
          <p:cNvPr id="5" name="Text 3"/>
          <p:cNvSpPr txBox="1"/>
          <p:nvPr/>
        </p:nvSpPr>
        <p:spPr>
          <a:xfrm>
            <a:off x="1188720" y="1371600"/>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Foundations</a:t>
            </a:r>
            <a:endParaRPr lang="en-US" sz="1500" dirty="0"/>
          </a:p>
        </p:txBody>
      </p:sp>
      <p:sp>
        <p:nvSpPr>
          <p:cNvPr id="6" name="Text 4"/>
          <p:cNvSpPr txBox="1"/>
          <p:nvPr/>
        </p:nvSpPr>
        <p:spPr>
          <a:xfrm>
            <a:off x="1188720" y="1645920"/>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Sample site analysis, what we keep and change, sitemap, visual direction</a:t>
            </a:r>
            <a:endParaRPr lang="en-US" sz="1200" dirty="0"/>
          </a:p>
        </p:txBody>
      </p:sp>
      <p:sp>
        <p:nvSpPr>
          <p:cNvPr id="7" name="Text 5"/>
          <p:cNvSpPr txBox="1"/>
          <p:nvPr/>
        </p:nvSpPr>
        <p:spPr>
          <a:xfrm>
            <a:off x="548640" y="2048256"/>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188720" y="2048256"/>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Global elements</a:t>
            </a:r>
            <a:endParaRPr lang="en-US" sz="1500" dirty="0"/>
          </a:p>
        </p:txBody>
      </p:sp>
      <p:sp>
        <p:nvSpPr>
          <p:cNvPr id="9" name="Text 7"/>
          <p:cNvSpPr txBox="1"/>
          <p:nvPr/>
        </p:nvSpPr>
        <p:spPr>
          <a:xfrm>
            <a:off x="1188720" y="2322576"/>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Navigation bar, footer and the reusable call-to-action band</a:t>
            </a:r>
            <a:endParaRPr lang="en-US" sz="1200" dirty="0"/>
          </a:p>
        </p:txBody>
      </p:sp>
      <p:sp>
        <p:nvSpPr>
          <p:cNvPr id="10" name="Text 8"/>
          <p:cNvSpPr txBox="1"/>
          <p:nvPr/>
        </p:nvSpPr>
        <p:spPr>
          <a:xfrm>
            <a:off x="548640" y="2724912"/>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03</a:t>
            </a:r>
            <a:endParaRPr lang="en-US" sz="2000" dirty="0"/>
          </a:p>
        </p:txBody>
      </p:sp>
      <p:sp>
        <p:nvSpPr>
          <p:cNvPr id="11" name="Text 9"/>
          <p:cNvSpPr txBox="1"/>
          <p:nvPr/>
        </p:nvSpPr>
        <p:spPr>
          <a:xfrm>
            <a:off x="1188720" y="2724912"/>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Home page</a:t>
            </a:r>
            <a:endParaRPr lang="en-US" sz="1500" dirty="0"/>
          </a:p>
        </p:txBody>
      </p:sp>
      <p:sp>
        <p:nvSpPr>
          <p:cNvPr id="12" name="Text 10"/>
          <p:cNvSpPr txBox="1"/>
          <p:nvPr/>
        </p:nvSpPr>
        <p:spPr>
          <a:xfrm>
            <a:off x="1188720" y="2999232"/>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Hero, featured solutions, about preview, services overview</a:t>
            </a:r>
            <a:endParaRPr lang="en-US" sz="1200" dirty="0"/>
          </a:p>
        </p:txBody>
      </p:sp>
      <p:sp>
        <p:nvSpPr>
          <p:cNvPr id="13" name="Text 11"/>
          <p:cNvSpPr txBox="1"/>
          <p:nvPr/>
        </p:nvSpPr>
        <p:spPr>
          <a:xfrm>
            <a:off x="548640" y="3401568"/>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04</a:t>
            </a:r>
            <a:endParaRPr lang="en-US" sz="2000" dirty="0"/>
          </a:p>
        </p:txBody>
      </p:sp>
      <p:sp>
        <p:nvSpPr>
          <p:cNvPr id="14" name="Text 12"/>
          <p:cNvSpPr txBox="1"/>
          <p:nvPr/>
        </p:nvSpPr>
        <p:spPr>
          <a:xfrm>
            <a:off x="1188720" y="3401568"/>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About Us page</a:t>
            </a:r>
            <a:endParaRPr lang="en-US" sz="1500" dirty="0"/>
          </a:p>
        </p:txBody>
      </p:sp>
      <p:sp>
        <p:nvSpPr>
          <p:cNvPr id="15" name="Text 13"/>
          <p:cNvSpPr txBox="1"/>
          <p:nvPr/>
        </p:nvSpPr>
        <p:spPr>
          <a:xfrm>
            <a:off x="1188720" y="3675888"/>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Company introduction, story, mission &amp; vision, leadership team</a:t>
            </a:r>
            <a:endParaRPr lang="en-US" sz="1200" dirty="0"/>
          </a:p>
        </p:txBody>
      </p:sp>
      <p:sp>
        <p:nvSpPr>
          <p:cNvPr id="16" name="Text 14"/>
          <p:cNvSpPr txBox="1"/>
          <p:nvPr/>
        </p:nvSpPr>
        <p:spPr>
          <a:xfrm>
            <a:off x="548640" y="4078224"/>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05</a:t>
            </a:r>
            <a:endParaRPr lang="en-US" sz="2000" dirty="0"/>
          </a:p>
        </p:txBody>
      </p:sp>
      <p:sp>
        <p:nvSpPr>
          <p:cNvPr id="17" name="Text 15"/>
          <p:cNvSpPr txBox="1"/>
          <p:nvPr/>
        </p:nvSpPr>
        <p:spPr>
          <a:xfrm>
            <a:off x="1188720" y="4078224"/>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Services pages</a:t>
            </a:r>
            <a:endParaRPr lang="en-US" sz="1500" dirty="0"/>
          </a:p>
        </p:txBody>
      </p:sp>
      <p:sp>
        <p:nvSpPr>
          <p:cNvPr id="18" name="Text 16"/>
          <p:cNvSpPr txBox="1"/>
          <p:nvPr/>
        </p:nvSpPr>
        <p:spPr>
          <a:xfrm>
            <a:off x="1188720" y="4352544"/>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Services overview, VoIP &amp; Voice Termination, SMS Connectivity</a:t>
            </a:r>
            <a:endParaRPr lang="en-US" sz="1200" dirty="0"/>
          </a:p>
        </p:txBody>
      </p:sp>
      <p:sp>
        <p:nvSpPr>
          <p:cNvPr id="19" name="Text 17"/>
          <p:cNvSpPr txBox="1"/>
          <p:nvPr/>
        </p:nvSpPr>
        <p:spPr>
          <a:xfrm>
            <a:off x="548640" y="4754880"/>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06</a:t>
            </a:r>
            <a:endParaRPr lang="en-US" sz="2000" dirty="0"/>
          </a:p>
        </p:txBody>
      </p:sp>
      <p:sp>
        <p:nvSpPr>
          <p:cNvPr id="20" name="Text 18"/>
          <p:cNvSpPr txBox="1"/>
          <p:nvPr/>
        </p:nvSpPr>
        <p:spPr>
          <a:xfrm>
            <a:off x="1188720" y="4754880"/>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Contact Us page</a:t>
            </a:r>
            <a:endParaRPr lang="en-US" sz="1500" dirty="0"/>
          </a:p>
        </p:txBody>
      </p:sp>
      <p:sp>
        <p:nvSpPr>
          <p:cNvPr id="21" name="Text 19"/>
          <p:cNvSpPr txBox="1"/>
          <p:nvPr/>
        </p:nvSpPr>
        <p:spPr>
          <a:xfrm>
            <a:off x="1188720" y="5029200"/>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Enquiry form, contact details and form behaviour</a:t>
            </a:r>
            <a:endParaRPr lang="en-US" sz="1200" dirty="0"/>
          </a:p>
        </p:txBody>
      </p:sp>
      <p:sp>
        <p:nvSpPr>
          <p:cNvPr id="22" name="Text 20"/>
          <p:cNvSpPr txBox="1"/>
          <p:nvPr/>
        </p:nvSpPr>
        <p:spPr>
          <a:xfrm>
            <a:off x="548640" y="5431536"/>
            <a:ext cx="548640" cy="457200"/>
          </a:xfrm>
          <a:prstGeom prst="rect">
            <a:avLst/>
          </a:prstGeom>
          <a:noFill/>
          <a:ln/>
        </p:spPr>
        <p:txBody>
          <a:bodyPr wrap="square" lIns="0" tIns="0" rIns="0" bIns="0" rtlCol="0" anchor="t"/>
          <a:lstStyle/>
          <a:p>
            <a:pPr indent="0" marL="0">
              <a:buNone/>
            </a:pPr>
            <a:r>
              <a:rPr lang="en-US" sz="2000" b="1" dirty="0">
                <a:solidFill>
                  <a:srgbClr val="7B6CF6"/>
                </a:solidFill>
                <a:latin typeface="Calibri" pitchFamily="34" charset="0"/>
                <a:ea typeface="Calibri" pitchFamily="34" charset="-122"/>
                <a:cs typeface="Calibri" pitchFamily="34" charset="-120"/>
              </a:rPr>
              <a:t>07</a:t>
            </a:r>
            <a:endParaRPr lang="en-US" sz="2000" dirty="0"/>
          </a:p>
        </p:txBody>
      </p:sp>
      <p:sp>
        <p:nvSpPr>
          <p:cNvPr id="23" name="Text 21"/>
          <p:cNvSpPr txBox="1"/>
          <p:nvPr/>
        </p:nvSpPr>
        <p:spPr>
          <a:xfrm>
            <a:off x="1188720" y="5431536"/>
            <a:ext cx="4754880" cy="27432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Delivery</a:t>
            </a:r>
            <a:endParaRPr lang="en-US" sz="1500" dirty="0"/>
          </a:p>
        </p:txBody>
      </p:sp>
      <p:sp>
        <p:nvSpPr>
          <p:cNvPr id="24" name="Text 22"/>
          <p:cNvSpPr txBox="1"/>
          <p:nvPr/>
        </p:nvSpPr>
        <p:spPr>
          <a:xfrm>
            <a:off x="1188720" y="5705856"/>
            <a:ext cx="5120640" cy="27432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Responsive design, SEO, missing items for approval, next steps</a:t>
            </a:r>
            <a:endParaRPr lang="en-US" sz="1200" dirty="0"/>
          </a:p>
        </p:txBody>
      </p:sp>
      <p:sp>
        <p:nvSpPr>
          <p:cNvPr id="25" name="Shape 23"/>
          <p:cNvSpPr/>
          <p:nvPr/>
        </p:nvSpPr>
        <p:spPr>
          <a:xfrm>
            <a:off x="6949440" y="1371600"/>
            <a:ext cx="4709160" cy="4754880"/>
          </a:xfrm>
          <a:prstGeom prst="roundRect">
            <a:avLst>
              <a:gd name="adj" fmla="val 3495"/>
            </a:avLst>
          </a:prstGeom>
          <a:solidFill>
            <a:srgbClr val="F3F2FA"/>
          </a:solidFill>
          <a:ln/>
        </p:spPr>
      </p:sp>
      <p:sp>
        <p:nvSpPr>
          <p:cNvPr id="26" name="Text 24"/>
          <p:cNvSpPr txBox="1"/>
          <p:nvPr/>
        </p:nvSpPr>
        <p:spPr>
          <a:xfrm>
            <a:off x="7223760" y="1600200"/>
            <a:ext cx="4206240" cy="365760"/>
          </a:xfrm>
          <a:prstGeom prst="rect">
            <a:avLst/>
          </a:prstGeom>
          <a:noFill/>
          <a:ln/>
        </p:spPr>
        <p:txBody>
          <a:bodyPr wrap="square" lIns="0" tIns="0" rIns="0" bIns="0" rtlCol="0" anchor="t"/>
          <a:lstStyle/>
          <a:p>
            <a:pPr indent="0" marL="0">
              <a:buNone/>
            </a:pPr>
            <a:r>
              <a:rPr lang="en-US" sz="1600" b="1" dirty="0">
                <a:solidFill>
                  <a:srgbClr val="16161F"/>
                </a:solidFill>
                <a:latin typeface="Calibri" pitchFamily="34" charset="0"/>
                <a:ea typeface="Calibri" pitchFamily="34" charset="-122"/>
                <a:cs typeface="Calibri" pitchFamily="34" charset="-120"/>
              </a:rPr>
              <a:t>How to read the page slides</a:t>
            </a:r>
            <a:endParaRPr lang="en-US" sz="1600" dirty="0"/>
          </a:p>
        </p:txBody>
      </p:sp>
      <p:sp>
        <p:nvSpPr>
          <p:cNvPr id="27" name="Text 25"/>
          <p:cNvSpPr txBox="1"/>
          <p:nvPr/>
        </p:nvSpPr>
        <p:spPr>
          <a:xfrm>
            <a:off x="7223760" y="2148840"/>
            <a:ext cx="457200" cy="27432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Aa</a:t>
            </a:r>
            <a:endParaRPr lang="en-US" sz="1400" dirty="0"/>
          </a:p>
        </p:txBody>
      </p:sp>
      <p:sp>
        <p:nvSpPr>
          <p:cNvPr id="28" name="Text 26"/>
          <p:cNvSpPr txBox="1"/>
          <p:nvPr/>
        </p:nvSpPr>
        <p:spPr>
          <a:xfrm>
            <a:off x="7863840" y="2148840"/>
            <a:ext cx="35661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Plain text in mockups</a:t>
            </a:r>
            <a:endParaRPr lang="en-US" sz="1300" dirty="0"/>
          </a:p>
        </p:txBody>
      </p:sp>
      <p:sp>
        <p:nvSpPr>
          <p:cNvPr id="29" name="Text 27"/>
          <p:cNvSpPr txBox="1"/>
          <p:nvPr/>
        </p:nvSpPr>
        <p:spPr>
          <a:xfrm>
            <a:off x="7863840" y="2423160"/>
            <a:ext cx="3611880" cy="54864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Taken from the client's Website Content document</a:t>
            </a:r>
            <a:endParaRPr lang="en-US" sz="1150" dirty="0"/>
          </a:p>
        </p:txBody>
      </p:sp>
      <p:sp>
        <p:nvSpPr>
          <p:cNvPr id="30" name="Text 28"/>
          <p:cNvSpPr txBox="1"/>
          <p:nvPr/>
        </p:nvSpPr>
        <p:spPr>
          <a:xfrm>
            <a:off x="7269480" y="3063240"/>
            <a:ext cx="457200" cy="274320"/>
          </a:xfrm>
          <a:prstGeom prst="rect">
            <a:avLst/>
          </a:prstGeom>
          <a:noFill/>
          <a:ln/>
        </p:spPr>
        <p:txBody>
          <a:bodyPr wrap="square" lIns="0" tIns="0" rIns="0" bIns="0" rtlCol="0" anchor="t"/>
          <a:lstStyle/>
          <a:p>
            <a:pPr indent="0" marL="0">
              <a:buNone/>
            </a:pPr>
            <a:r>
              <a:rPr lang="en-US" sz="1600" b="1" dirty="0">
                <a:solidFill>
                  <a:srgbClr val="7B6CF6"/>
                </a:solidFill>
                <a:latin typeface="Calibri" pitchFamily="34" charset="0"/>
                <a:ea typeface="Calibri" pitchFamily="34" charset="-122"/>
                <a:cs typeface="Calibri" pitchFamily="34" charset="-120"/>
              </a:rPr>
              <a:t>✱</a:t>
            </a:r>
            <a:endParaRPr lang="en-US" sz="1600" dirty="0"/>
          </a:p>
        </p:txBody>
      </p:sp>
      <p:sp>
        <p:nvSpPr>
          <p:cNvPr id="31" name="Text 29"/>
          <p:cNvSpPr txBox="1"/>
          <p:nvPr/>
        </p:nvSpPr>
        <p:spPr>
          <a:xfrm>
            <a:off x="7863840" y="3063240"/>
            <a:ext cx="35661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  Marked text</a:t>
            </a:r>
            <a:endParaRPr lang="en-US" sz="1300" dirty="0"/>
          </a:p>
        </p:txBody>
      </p:sp>
      <p:sp>
        <p:nvSpPr>
          <p:cNvPr id="32" name="Text 30"/>
          <p:cNvSpPr txBox="1"/>
          <p:nvPr/>
        </p:nvSpPr>
        <p:spPr>
          <a:xfrm>
            <a:off x="7863840" y="3337560"/>
            <a:ext cx="3611880" cy="54864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Proposed microcopy (button labels, short UI lines) — not in the document; needs approval</a:t>
            </a:r>
            <a:endParaRPr lang="en-US" sz="1150" dirty="0"/>
          </a:p>
        </p:txBody>
      </p:sp>
      <p:sp>
        <p:nvSpPr>
          <p:cNvPr id="33" name="Shape 31"/>
          <p:cNvSpPr/>
          <p:nvPr/>
        </p:nvSpPr>
        <p:spPr>
          <a:xfrm>
            <a:off x="7223760" y="4023360"/>
            <a:ext cx="345186" cy="182880"/>
          </a:xfrm>
          <a:prstGeom prst="roundRect">
            <a:avLst>
              <a:gd name="adj" fmla="val 50000"/>
            </a:avLst>
          </a:prstGeom>
          <a:solidFill>
            <a:srgbClr val="FDE9D3"/>
          </a:solidFill>
          <a:ln/>
        </p:spPr>
      </p:sp>
      <p:sp>
        <p:nvSpPr>
          <p:cNvPr id="34" name="Text 32"/>
          <p:cNvSpPr txBox="1"/>
          <p:nvPr/>
        </p:nvSpPr>
        <p:spPr>
          <a:xfrm>
            <a:off x="7223760" y="4023360"/>
            <a:ext cx="345186"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35" name="Text 33"/>
          <p:cNvSpPr txBox="1"/>
          <p:nvPr/>
        </p:nvSpPr>
        <p:spPr>
          <a:xfrm>
            <a:off x="7863840" y="3977640"/>
            <a:ext cx="35661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TBC chip</a:t>
            </a:r>
            <a:endParaRPr lang="en-US" sz="1300" dirty="0"/>
          </a:p>
        </p:txBody>
      </p:sp>
      <p:sp>
        <p:nvSpPr>
          <p:cNvPr id="36" name="Text 34"/>
          <p:cNvSpPr txBox="1"/>
          <p:nvPr/>
        </p:nvSpPr>
        <p:spPr>
          <a:xfrm>
            <a:off x="7863840" y="4251960"/>
            <a:ext cx="3611880" cy="54864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Information or asset missing — must be supplied or confirmed by the client</a:t>
            </a:r>
            <a:endParaRPr lang="en-US" sz="1150" dirty="0"/>
          </a:p>
        </p:txBody>
      </p:sp>
      <p:sp>
        <p:nvSpPr>
          <p:cNvPr id="37" name="Shape 35"/>
          <p:cNvSpPr/>
          <p:nvPr/>
        </p:nvSpPr>
        <p:spPr>
          <a:xfrm>
            <a:off x="7223760" y="4910328"/>
            <a:ext cx="411480" cy="274320"/>
          </a:xfrm>
          <a:prstGeom prst="roundRect">
            <a:avLst>
              <a:gd name="adj" fmla="val 16667"/>
            </a:avLst>
          </a:prstGeom>
          <a:solidFill>
            <a:srgbClr val="ECEBFF"/>
          </a:solidFill>
          <a:ln w="9525">
            <a:solidFill>
              <a:srgbClr val="B3A8FF"/>
            </a:solidFill>
            <a:prstDash val="dash"/>
          </a:ln>
        </p:spPr>
      </p:sp>
      <p:sp>
        <p:nvSpPr>
          <p:cNvPr id="38" name="Text 36"/>
          <p:cNvSpPr txBox="1"/>
          <p:nvPr/>
        </p:nvSpPr>
        <p:spPr>
          <a:xfrm>
            <a:off x="7863840" y="4892040"/>
            <a:ext cx="35661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Dashed boxes</a:t>
            </a:r>
            <a:endParaRPr lang="en-US" sz="1300" dirty="0"/>
          </a:p>
        </p:txBody>
      </p:sp>
      <p:sp>
        <p:nvSpPr>
          <p:cNvPr id="39" name="Text 37"/>
          <p:cNvSpPr txBox="1"/>
          <p:nvPr/>
        </p:nvSpPr>
        <p:spPr>
          <a:xfrm>
            <a:off x="7863840" y="5166360"/>
            <a:ext cx="3611880" cy="54864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Image, illustration or photo to be produced or supplied</a:t>
            </a:r>
            <a:endParaRPr lang="en-US" sz="1150" dirty="0"/>
          </a:p>
        </p:txBody>
      </p:sp>
      <p:sp>
        <p:nvSpPr>
          <p:cNvPr id="40" name="Text 38"/>
          <p:cNvSpPr txBox="1"/>
          <p:nvPr/>
        </p:nvSpPr>
        <p:spPr>
          <a:xfrm>
            <a:off x="7223760" y="5715000"/>
            <a:ext cx="4206240" cy="365760"/>
          </a:xfrm>
          <a:prstGeom prst="rect">
            <a:avLst/>
          </a:prstGeom>
          <a:noFill/>
          <a:ln/>
        </p:spPr>
        <p:txBody>
          <a:bodyPr wrap="square" lIns="0" tIns="0" rIns="0" bIns="0" rtlCol="0" anchor="t"/>
          <a:lstStyle/>
          <a:p>
            <a:pPr indent="0" marL="0">
              <a:buNone/>
            </a:pPr>
            <a:r>
              <a:rPr lang="en-US" sz="1100" i="1" dirty="0">
                <a:solidFill>
                  <a:srgbClr val="7B6CF6"/>
                </a:solidFill>
                <a:latin typeface="Calibri" pitchFamily="34" charset="0"/>
                <a:ea typeface="Calibri" pitchFamily="34" charset="-122"/>
                <a:cs typeface="Calibri" pitchFamily="34" charset="-120"/>
              </a:rPr>
              <a:t>No sample placeholder content (names, figures, prices, addresses) is carried into the proposed site.</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Goal: a credible B2B home for Omaginfo LLC</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PROJECT OVERVIEW</a:t>
            </a:r>
            <a:endParaRPr lang="en-US" sz="1050" dirty="0"/>
          </a:p>
        </p:txBody>
      </p:sp>
      <p:sp>
        <p:nvSpPr>
          <p:cNvPr id="4" name="Text 2"/>
          <p:cNvSpPr txBox="1"/>
          <p:nvPr/>
        </p:nvSpPr>
        <p:spPr>
          <a:xfrm>
            <a:off x="548640" y="1280160"/>
            <a:ext cx="11064240" cy="731520"/>
          </a:xfrm>
          <a:prstGeom prst="rect">
            <a:avLst/>
          </a:prstGeom>
          <a:noFill/>
          <a:ln/>
        </p:spPr>
        <p:txBody>
          <a:bodyPr wrap="square" lIns="0" tIns="0" rIns="0" bIns="0" rtlCol="0" anchor="t"/>
          <a:lstStyle/>
          <a:p>
            <a:pPr indent="0" marL="0">
              <a:buNone/>
            </a:pPr>
            <a:r>
              <a:rPr lang="en-US" sz="1400" dirty="0">
                <a:solidFill>
                  <a:srgbClr val="5F6075"/>
                </a:solidFill>
                <a:latin typeface="Calibri" pitchFamily="34" charset="0"/>
                <a:ea typeface="Calibri" pitchFamily="34" charset="-122"/>
                <a:cs typeface="Calibri" pitchFamily="34" charset="-120"/>
              </a:rPr>
              <a:t>Omaginfo LLC provides voice and messaging connectivity to operators, carriers and business partners across international markets. The new site should present its VoIP, A–Z voice termination and SMS routing services clearly and turn visitors into partnership enquiries.</a:t>
            </a:r>
            <a:endParaRPr lang="en-US" sz="1400" dirty="0"/>
          </a:p>
        </p:txBody>
      </p:sp>
      <p:sp>
        <p:nvSpPr>
          <p:cNvPr id="5" name="Shape 3"/>
          <p:cNvSpPr/>
          <p:nvPr/>
        </p:nvSpPr>
        <p:spPr>
          <a:xfrm>
            <a:off x="548640" y="2240280"/>
            <a:ext cx="2606040" cy="3886200"/>
          </a:xfrm>
          <a:prstGeom prst="roundRect">
            <a:avLst>
              <a:gd name="adj" fmla="val 6316"/>
            </a:avLst>
          </a:prstGeom>
          <a:solidFill>
            <a:srgbClr val="FFFFFF"/>
          </a:solidFill>
          <a:ln w="9525">
            <a:solidFill>
              <a:srgbClr val="E4E3EF"/>
            </a:solidFill>
            <a:prstDash val="solid"/>
          </a:ln>
        </p:spPr>
      </p:sp>
      <p:sp>
        <p:nvSpPr>
          <p:cNvPr id="6" name="Shape 4"/>
          <p:cNvSpPr/>
          <p:nvPr/>
        </p:nvSpPr>
        <p:spPr>
          <a:xfrm>
            <a:off x="822960" y="2514600"/>
            <a:ext cx="502920" cy="502920"/>
          </a:xfrm>
          <a:prstGeom prst="ellipse">
            <a:avLst/>
          </a:prstGeom>
          <a:solidFill>
            <a:srgbClr val="16161F"/>
          </a:solidFill>
          <a:ln/>
        </p:spPr>
      </p:sp>
      <p:pic>
        <p:nvPicPr>
          <p:cNvPr id="7" name="Image 0" descr="preencoded.png">    </p:cNvPr>
          <p:cNvPicPr>
            <a:picLocks noChangeAspect="1"/>
          </p:cNvPicPr>
          <p:nvPr/>
        </p:nvPicPr>
        <p:blipFill>
          <a:blip r:embed="rId1"/>
          <a:stretch>
            <a:fillRect/>
          </a:stretch>
        </p:blipFill>
        <p:spPr>
          <a:xfrm>
            <a:off x="950976" y="2642616"/>
            <a:ext cx="246888" cy="246888"/>
          </a:xfrm>
          <a:prstGeom prst="rect">
            <a:avLst/>
          </a:prstGeom>
        </p:spPr>
      </p:pic>
      <p:sp>
        <p:nvSpPr>
          <p:cNvPr id="8" name="Text 5"/>
          <p:cNvSpPr txBox="1"/>
          <p:nvPr/>
        </p:nvSpPr>
        <p:spPr>
          <a:xfrm>
            <a:off x="822960" y="3154680"/>
            <a:ext cx="2194560" cy="36576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Inputs analysed</a:t>
            </a:r>
            <a:endParaRPr lang="en-US" sz="1500" dirty="0"/>
          </a:p>
        </p:txBody>
      </p:sp>
      <p:sp>
        <p:nvSpPr>
          <p:cNvPr id="9" name="Text 6"/>
          <p:cNvSpPr txBox="1"/>
          <p:nvPr/>
        </p:nvSpPr>
        <p:spPr>
          <a:xfrm>
            <a:off x="822960"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Sample website: index.html, style.css, script.js (rendered and screenshotted at desktop, tablet and mobile widths)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Client document: Website_Content.docx (12 content items)</a:t>
            </a:r>
            <a:endParaRPr lang="en-US" sz="1200" dirty="0"/>
          </a:p>
        </p:txBody>
      </p:sp>
      <p:sp>
        <p:nvSpPr>
          <p:cNvPr id="10" name="Shape 7"/>
          <p:cNvSpPr/>
          <p:nvPr/>
        </p:nvSpPr>
        <p:spPr>
          <a:xfrm>
            <a:off x="3364992" y="2240280"/>
            <a:ext cx="2606040" cy="3886200"/>
          </a:xfrm>
          <a:prstGeom prst="roundRect">
            <a:avLst>
              <a:gd name="adj" fmla="val 6316"/>
            </a:avLst>
          </a:prstGeom>
          <a:solidFill>
            <a:srgbClr val="F3F2FA"/>
          </a:solidFill>
          <a:ln w="9525">
            <a:solidFill>
              <a:srgbClr val="E4E3EF"/>
            </a:solidFill>
            <a:prstDash val="solid"/>
          </a:ln>
        </p:spPr>
      </p:sp>
      <p:sp>
        <p:nvSpPr>
          <p:cNvPr id="11" name="Shape 8"/>
          <p:cNvSpPr/>
          <p:nvPr/>
        </p:nvSpPr>
        <p:spPr>
          <a:xfrm>
            <a:off x="3639312" y="2514600"/>
            <a:ext cx="502920" cy="502920"/>
          </a:xfrm>
          <a:prstGeom prst="ellipse">
            <a:avLst/>
          </a:prstGeom>
          <a:solidFill>
            <a:srgbClr val="ECEBFF"/>
          </a:solidFill>
          <a:ln/>
        </p:spPr>
      </p:sp>
      <p:pic>
        <p:nvPicPr>
          <p:cNvPr id="12" name="Image 1" descr="preencoded.png">    </p:cNvPr>
          <p:cNvPicPr>
            <a:picLocks noChangeAspect="1"/>
          </p:cNvPicPr>
          <p:nvPr/>
        </p:nvPicPr>
        <p:blipFill>
          <a:blip r:embed="rId2"/>
          <a:stretch>
            <a:fillRect/>
          </a:stretch>
        </p:blipFill>
        <p:spPr>
          <a:xfrm>
            <a:off x="3767328" y="2642616"/>
            <a:ext cx="246888" cy="246888"/>
          </a:xfrm>
          <a:prstGeom prst="rect">
            <a:avLst/>
          </a:prstGeom>
        </p:spPr>
      </p:pic>
      <p:sp>
        <p:nvSpPr>
          <p:cNvPr id="13" name="Text 9"/>
          <p:cNvSpPr txBox="1"/>
          <p:nvPr/>
        </p:nvSpPr>
        <p:spPr>
          <a:xfrm>
            <a:off x="3639312" y="3154680"/>
            <a:ext cx="2194560" cy="36576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Objectives</a:t>
            </a:r>
            <a:endParaRPr lang="en-US" sz="1500" dirty="0"/>
          </a:p>
        </p:txBody>
      </p:sp>
      <p:sp>
        <p:nvSpPr>
          <p:cNvPr id="14" name="Text 10"/>
          <p:cNvSpPr txBox="1"/>
          <p:nvPr/>
        </p:nvSpPr>
        <p:spPr>
          <a:xfrm>
            <a:off x="3639312"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Communicate the services clearly to telecom buyers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Build trust: company, founders, mission</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Drive enquiries to info@omaginfo.com</a:t>
            </a:r>
            <a:endParaRPr lang="en-US" sz="1200" dirty="0"/>
          </a:p>
        </p:txBody>
      </p:sp>
      <p:sp>
        <p:nvSpPr>
          <p:cNvPr id="15" name="Shape 11"/>
          <p:cNvSpPr/>
          <p:nvPr/>
        </p:nvSpPr>
        <p:spPr>
          <a:xfrm>
            <a:off x="6181344" y="2240280"/>
            <a:ext cx="2606040" cy="3886200"/>
          </a:xfrm>
          <a:prstGeom prst="roundRect">
            <a:avLst>
              <a:gd name="adj" fmla="val 6316"/>
            </a:avLst>
          </a:prstGeom>
          <a:solidFill>
            <a:srgbClr val="FFFFFF"/>
          </a:solidFill>
          <a:ln w="9525">
            <a:solidFill>
              <a:srgbClr val="E4E3EF"/>
            </a:solidFill>
            <a:prstDash val="solid"/>
          </a:ln>
        </p:spPr>
      </p:sp>
      <p:sp>
        <p:nvSpPr>
          <p:cNvPr id="16" name="Shape 12"/>
          <p:cNvSpPr/>
          <p:nvPr/>
        </p:nvSpPr>
        <p:spPr>
          <a:xfrm>
            <a:off x="6455664" y="2514600"/>
            <a:ext cx="502920" cy="502920"/>
          </a:xfrm>
          <a:prstGeom prst="ellipse">
            <a:avLst/>
          </a:prstGeom>
          <a:solidFill>
            <a:srgbClr val="ECEBFF"/>
          </a:solidFill>
          <a:ln/>
        </p:spPr>
      </p:sp>
      <p:pic>
        <p:nvPicPr>
          <p:cNvPr id="17" name="Image 2" descr="preencoded.png">    </p:cNvPr>
          <p:cNvPicPr>
            <a:picLocks noChangeAspect="1"/>
          </p:cNvPicPr>
          <p:nvPr/>
        </p:nvPicPr>
        <p:blipFill>
          <a:blip r:embed="rId3"/>
          <a:stretch>
            <a:fillRect/>
          </a:stretch>
        </p:blipFill>
        <p:spPr>
          <a:xfrm>
            <a:off x="6583680" y="2642616"/>
            <a:ext cx="246888" cy="246888"/>
          </a:xfrm>
          <a:prstGeom prst="rect">
            <a:avLst/>
          </a:prstGeom>
        </p:spPr>
      </p:pic>
      <p:sp>
        <p:nvSpPr>
          <p:cNvPr id="18" name="Text 13"/>
          <p:cNvSpPr txBox="1"/>
          <p:nvPr/>
        </p:nvSpPr>
        <p:spPr>
          <a:xfrm>
            <a:off x="6455664" y="3154680"/>
            <a:ext cx="2194560" cy="36576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Proposed scope</a:t>
            </a:r>
            <a:endParaRPr lang="en-US" sz="1500" dirty="0"/>
          </a:p>
        </p:txBody>
      </p:sp>
      <p:sp>
        <p:nvSpPr>
          <p:cNvPr id="19" name="Text 14"/>
          <p:cNvSpPr txBox="1"/>
          <p:nvPr/>
        </p:nvSpPr>
        <p:spPr>
          <a:xfrm>
            <a:off x="6455664"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6 pages: Home, About Us, Services, VoIP, SMS, Contact Us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Plus Privacy Policy and Terms (content TBC)</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Responsive desktop, tablet and mobile</a:t>
            </a:r>
            <a:endParaRPr lang="en-US" sz="1200" dirty="0"/>
          </a:p>
        </p:txBody>
      </p:sp>
      <p:sp>
        <p:nvSpPr>
          <p:cNvPr id="20" name="Shape 15"/>
          <p:cNvSpPr/>
          <p:nvPr/>
        </p:nvSpPr>
        <p:spPr>
          <a:xfrm>
            <a:off x="8997696" y="2240280"/>
            <a:ext cx="2606040" cy="3886200"/>
          </a:xfrm>
          <a:prstGeom prst="roundRect">
            <a:avLst>
              <a:gd name="adj" fmla="val 6316"/>
            </a:avLst>
          </a:prstGeom>
          <a:solidFill>
            <a:srgbClr val="F3F2FA"/>
          </a:solidFill>
          <a:ln w="9525">
            <a:solidFill>
              <a:srgbClr val="E4E3EF"/>
            </a:solidFill>
            <a:prstDash val="solid"/>
          </a:ln>
        </p:spPr>
      </p:sp>
      <p:sp>
        <p:nvSpPr>
          <p:cNvPr id="21" name="Shape 16"/>
          <p:cNvSpPr/>
          <p:nvPr/>
        </p:nvSpPr>
        <p:spPr>
          <a:xfrm>
            <a:off x="9272016" y="2514600"/>
            <a:ext cx="502920" cy="502920"/>
          </a:xfrm>
          <a:prstGeom prst="ellipse">
            <a:avLst/>
          </a:prstGeom>
          <a:solidFill>
            <a:srgbClr val="ECEBFF"/>
          </a:solidFill>
          <a:ln/>
        </p:spPr>
      </p:sp>
      <p:pic>
        <p:nvPicPr>
          <p:cNvPr id="22" name="Image 3" descr="preencoded.png">    </p:cNvPr>
          <p:cNvPicPr>
            <a:picLocks noChangeAspect="1"/>
          </p:cNvPicPr>
          <p:nvPr/>
        </p:nvPicPr>
        <p:blipFill>
          <a:blip r:embed="rId4"/>
          <a:stretch>
            <a:fillRect/>
          </a:stretch>
        </p:blipFill>
        <p:spPr>
          <a:xfrm>
            <a:off x="9400032" y="2642616"/>
            <a:ext cx="246888" cy="246888"/>
          </a:xfrm>
          <a:prstGeom prst="rect">
            <a:avLst/>
          </a:prstGeom>
        </p:spPr>
      </p:pic>
      <p:sp>
        <p:nvSpPr>
          <p:cNvPr id="23" name="Text 17"/>
          <p:cNvSpPr txBox="1"/>
          <p:nvPr/>
        </p:nvSpPr>
        <p:spPr>
          <a:xfrm>
            <a:off x="9272016" y="3154680"/>
            <a:ext cx="2194560" cy="36576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Audience (from document)</a:t>
            </a:r>
            <a:endParaRPr lang="en-US" sz="1500" dirty="0"/>
          </a:p>
        </p:txBody>
      </p:sp>
      <p:sp>
        <p:nvSpPr>
          <p:cNvPr id="24" name="Text 18"/>
          <p:cNvSpPr txBox="1"/>
          <p:nvPr/>
        </p:nvSpPr>
        <p:spPr>
          <a:xfrm>
            <a:off x="9272016"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Telecom operators and mobile network operators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Carriers, service providers, SMS aggregators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A2P / CPaaS platforms and businesses</a:t>
            </a:r>
            <a:endParaRPr lang="en-US" sz="1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01</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Foundations</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What the sample website does well, what changes for Omaginfo LLC, the sitemap and the visual direction.</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086600" y="2057400"/>
            <a:ext cx="4389120" cy="27432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Layout and navigation of the sample site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SAMPLE WEBSITE ANALYSIS</a:t>
            </a:r>
            <a:endParaRPr lang="en-US" sz="1050" dirty="0"/>
          </a:p>
        </p:txBody>
      </p:sp>
      <p:sp>
        <p:nvSpPr>
          <p:cNvPr id="4" name="Shape 2"/>
          <p:cNvSpPr/>
          <p:nvPr/>
        </p:nvSpPr>
        <p:spPr>
          <a:xfrm>
            <a:off x="502920" y="1280160"/>
            <a:ext cx="6858000" cy="4320540"/>
          </a:xfrm>
          <a:prstGeom prst="roundRect">
            <a:avLst>
              <a:gd name="adj" fmla="val 1693"/>
            </a:avLst>
          </a:prstGeom>
          <a:solidFill>
            <a:srgbClr val="F3F2FA"/>
          </a:solidFill>
          <a:ln w="9525">
            <a:solidFill>
              <a:srgbClr val="E4E3EF"/>
            </a:solidFill>
            <a:prstDash val="solid"/>
          </a:ln>
        </p:spPr>
      </p:sp>
      <p:pic>
        <p:nvPicPr>
          <p:cNvPr id="5" name="Image 0" descr="preencoded.png">    </p:cNvPr>
          <p:cNvPicPr>
            <a:picLocks noChangeAspect="1"/>
          </p:cNvPicPr>
          <p:nvPr/>
        </p:nvPicPr>
        <p:blipFill>
          <a:blip r:embed="rId1"/>
          <a:stretch>
            <a:fillRect/>
          </a:stretch>
        </p:blipFill>
        <p:spPr>
          <a:xfrm>
            <a:off x="548640" y="1325880"/>
            <a:ext cx="6766560" cy="4229100"/>
          </a:xfrm>
          <a:prstGeom prst="rect">
            <a:avLst/>
          </a:prstGeom>
        </p:spPr>
      </p:pic>
      <p:sp>
        <p:nvSpPr>
          <p:cNvPr id="6" name="Shape 3"/>
          <p:cNvSpPr/>
          <p:nvPr/>
        </p:nvSpPr>
        <p:spPr>
          <a:xfrm>
            <a:off x="1401775" y="1377178"/>
            <a:ext cx="256032" cy="256032"/>
          </a:xfrm>
          <a:prstGeom prst="ellipse">
            <a:avLst/>
          </a:prstGeom>
          <a:solidFill>
            <a:srgbClr val="7B6CF6"/>
          </a:solidFill>
          <a:ln w="19050">
            <a:solidFill>
              <a:srgbClr val="FFFFFF"/>
            </a:solidFill>
            <a:prstDash val="solid"/>
          </a:ln>
        </p:spPr>
      </p:sp>
      <p:sp>
        <p:nvSpPr>
          <p:cNvPr id="7" name="Text 4"/>
          <p:cNvSpPr txBox="1"/>
          <p:nvPr/>
        </p:nvSpPr>
        <p:spPr>
          <a:xfrm>
            <a:off x="1401775" y="137717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Shape 5"/>
          <p:cNvSpPr/>
          <p:nvPr/>
        </p:nvSpPr>
        <p:spPr>
          <a:xfrm>
            <a:off x="3499409" y="1519276"/>
            <a:ext cx="256032" cy="256032"/>
          </a:xfrm>
          <a:prstGeom prst="ellipse">
            <a:avLst/>
          </a:prstGeom>
          <a:solidFill>
            <a:srgbClr val="7B6CF6"/>
          </a:solidFill>
          <a:ln w="19050">
            <a:solidFill>
              <a:srgbClr val="FFFFFF"/>
            </a:solidFill>
            <a:prstDash val="solid"/>
          </a:ln>
        </p:spPr>
      </p:sp>
      <p:sp>
        <p:nvSpPr>
          <p:cNvPr id="9" name="Text 6"/>
          <p:cNvSpPr txBox="1"/>
          <p:nvPr/>
        </p:nvSpPr>
        <p:spPr>
          <a:xfrm>
            <a:off x="3499409" y="151927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Shape 7"/>
          <p:cNvSpPr/>
          <p:nvPr/>
        </p:nvSpPr>
        <p:spPr>
          <a:xfrm>
            <a:off x="6307531" y="1570025"/>
            <a:ext cx="256032" cy="256032"/>
          </a:xfrm>
          <a:prstGeom prst="ellipse">
            <a:avLst/>
          </a:prstGeom>
          <a:solidFill>
            <a:srgbClr val="7B6CF6"/>
          </a:solidFill>
          <a:ln w="19050">
            <a:solidFill>
              <a:srgbClr val="FFFFFF"/>
            </a:solidFill>
            <a:prstDash val="solid"/>
          </a:ln>
        </p:spPr>
      </p:sp>
      <p:sp>
        <p:nvSpPr>
          <p:cNvPr id="11" name="Text 8"/>
          <p:cNvSpPr txBox="1"/>
          <p:nvPr/>
        </p:nvSpPr>
        <p:spPr>
          <a:xfrm>
            <a:off x="6307531" y="1570025"/>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2" name="Shape 9"/>
          <p:cNvSpPr/>
          <p:nvPr/>
        </p:nvSpPr>
        <p:spPr>
          <a:xfrm>
            <a:off x="1773936" y="1989552"/>
            <a:ext cx="256032" cy="256032"/>
          </a:xfrm>
          <a:prstGeom prst="ellipse">
            <a:avLst/>
          </a:prstGeom>
          <a:solidFill>
            <a:srgbClr val="7B6CF6"/>
          </a:solidFill>
          <a:ln w="19050">
            <a:solidFill>
              <a:srgbClr val="FFFFFF"/>
            </a:solidFill>
            <a:prstDash val="solid"/>
          </a:ln>
        </p:spPr>
      </p:sp>
      <p:sp>
        <p:nvSpPr>
          <p:cNvPr id="13" name="Text 10"/>
          <p:cNvSpPr txBox="1"/>
          <p:nvPr/>
        </p:nvSpPr>
        <p:spPr>
          <a:xfrm>
            <a:off x="1773936" y="198955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4" name="Shape 11"/>
          <p:cNvSpPr/>
          <p:nvPr/>
        </p:nvSpPr>
        <p:spPr>
          <a:xfrm>
            <a:off x="630387" y="2618842"/>
            <a:ext cx="256032" cy="256032"/>
          </a:xfrm>
          <a:prstGeom prst="ellipse">
            <a:avLst/>
          </a:prstGeom>
          <a:solidFill>
            <a:srgbClr val="7B6CF6"/>
          </a:solidFill>
          <a:ln w="19050">
            <a:solidFill>
              <a:srgbClr val="FFFFFF"/>
            </a:solidFill>
            <a:prstDash val="solid"/>
          </a:ln>
        </p:spPr>
      </p:sp>
      <p:sp>
        <p:nvSpPr>
          <p:cNvPr id="15" name="Text 12"/>
          <p:cNvSpPr txBox="1"/>
          <p:nvPr/>
        </p:nvSpPr>
        <p:spPr>
          <a:xfrm>
            <a:off x="630387" y="261884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6" name="Shape 13"/>
          <p:cNvSpPr/>
          <p:nvPr/>
        </p:nvSpPr>
        <p:spPr>
          <a:xfrm>
            <a:off x="630387" y="3789456"/>
            <a:ext cx="256032" cy="256032"/>
          </a:xfrm>
          <a:prstGeom prst="ellipse">
            <a:avLst/>
          </a:prstGeom>
          <a:solidFill>
            <a:srgbClr val="7B6CF6"/>
          </a:solidFill>
          <a:ln w="19050">
            <a:solidFill>
              <a:srgbClr val="FFFFFF"/>
            </a:solidFill>
            <a:prstDash val="solid"/>
          </a:ln>
        </p:spPr>
      </p:sp>
      <p:sp>
        <p:nvSpPr>
          <p:cNvPr id="17" name="Text 14"/>
          <p:cNvSpPr txBox="1"/>
          <p:nvPr/>
        </p:nvSpPr>
        <p:spPr>
          <a:xfrm>
            <a:off x="630387" y="37894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8" name="Shape 15"/>
          <p:cNvSpPr/>
          <p:nvPr/>
        </p:nvSpPr>
        <p:spPr>
          <a:xfrm>
            <a:off x="630387" y="4242816"/>
            <a:ext cx="256032" cy="256032"/>
          </a:xfrm>
          <a:prstGeom prst="ellipse">
            <a:avLst/>
          </a:prstGeom>
          <a:solidFill>
            <a:srgbClr val="7B6CF6"/>
          </a:solidFill>
          <a:ln w="19050">
            <a:solidFill>
              <a:srgbClr val="FFFFFF"/>
            </a:solidFill>
            <a:prstDash val="solid"/>
          </a:ln>
        </p:spPr>
      </p:sp>
      <p:sp>
        <p:nvSpPr>
          <p:cNvPr id="19" name="Text 16"/>
          <p:cNvSpPr txBox="1"/>
          <p:nvPr/>
        </p:nvSpPr>
        <p:spPr>
          <a:xfrm>
            <a:off x="630387" y="424281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0" name="Shape 17"/>
          <p:cNvSpPr/>
          <p:nvPr/>
        </p:nvSpPr>
        <p:spPr>
          <a:xfrm>
            <a:off x="5326380" y="3092501"/>
            <a:ext cx="256032" cy="256032"/>
          </a:xfrm>
          <a:prstGeom prst="ellipse">
            <a:avLst/>
          </a:prstGeom>
          <a:solidFill>
            <a:srgbClr val="7B6CF6"/>
          </a:solidFill>
          <a:ln w="19050">
            <a:solidFill>
              <a:srgbClr val="FFFFFF"/>
            </a:solidFill>
            <a:prstDash val="solid"/>
          </a:ln>
        </p:spPr>
      </p:sp>
      <p:sp>
        <p:nvSpPr>
          <p:cNvPr id="21" name="Text 18"/>
          <p:cNvSpPr txBox="1"/>
          <p:nvPr/>
        </p:nvSpPr>
        <p:spPr>
          <a:xfrm>
            <a:off x="5326380" y="309250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2" name="Shape 19"/>
          <p:cNvSpPr/>
          <p:nvPr/>
        </p:nvSpPr>
        <p:spPr>
          <a:xfrm>
            <a:off x="2788920" y="5088636"/>
            <a:ext cx="256032" cy="256032"/>
          </a:xfrm>
          <a:prstGeom prst="ellipse">
            <a:avLst/>
          </a:prstGeom>
          <a:solidFill>
            <a:srgbClr val="7B6CF6"/>
          </a:solidFill>
          <a:ln w="19050">
            <a:solidFill>
              <a:srgbClr val="FFFFFF"/>
            </a:solidFill>
            <a:prstDash val="solid"/>
          </a:ln>
        </p:spPr>
      </p:sp>
      <p:sp>
        <p:nvSpPr>
          <p:cNvPr id="23" name="Text 20"/>
          <p:cNvSpPr txBox="1"/>
          <p:nvPr/>
        </p:nvSpPr>
        <p:spPr>
          <a:xfrm>
            <a:off x="2788920" y="508863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4" name="Text 21"/>
          <p:cNvSpPr txBox="1"/>
          <p:nvPr/>
        </p:nvSpPr>
        <p:spPr>
          <a:xfrm>
            <a:off x="548640" y="5692140"/>
            <a:ext cx="6766560" cy="45720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Single long page with anchor navigation. Sticky header turns frosted-white on scroll; active link marked by a purple dot.</a:t>
            </a:r>
            <a:endParaRPr lang="en-US" sz="1100" dirty="0"/>
          </a:p>
        </p:txBody>
      </p:sp>
      <p:sp>
        <p:nvSpPr>
          <p:cNvPr id="25" name="Shape 22"/>
          <p:cNvSpPr/>
          <p:nvPr/>
        </p:nvSpPr>
        <p:spPr>
          <a:xfrm>
            <a:off x="7635240" y="1325880"/>
            <a:ext cx="274320" cy="274320"/>
          </a:xfrm>
          <a:prstGeom prst="ellipse">
            <a:avLst/>
          </a:prstGeom>
          <a:solidFill>
            <a:srgbClr val="7B6CF6"/>
          </a:solidFill>
          <a:ln/>
        </p:spPr>
      </p:sp>
      <p:sp>
        <p:nvSpPr>
          <p:cNvPr id="26" name="Text 23"/>
          <p:cNvSpPr txBox="1"/>
          <p:nvPr/>
        </p:nvSpPr>
        <p:spPr>
          <a:xfrm>
            <a:off x="7635240" y="1325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Text 24"/>
          <p:cNvSpPr txBox="1"/>
          <p:nvPr/>
        </p:nvSpPr>
        <p:spPr>
          <a:xfrm>
            <a:off x="8046720" y="1307592"/>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Logo mark + wordmark, top left</a:t>
            </a:r>
            <a:endParaRPr lang="en-US" sz="1250" dirty="0"/>
          </a:p>
        </p:txBody>
      </p:sp>
      <p:sp>
        <p:nvSpPr>
          <p:cNvPr id="28" name="Shape 25"/>
          <p:cNvSpPr/>
          <p:nvPr/>
        </p:nvSpPr>
        <p:spPr>
          <a:xfrm>
            <a:off x="7635240" y="1856232"/>
            <a:ext cx="274320" cy="274320"/>
          </a:xfrm>
          <a:prstGeom prst="ellipse">
            <a:avLst/>
          </a:prstGeom>
          <a:solidFill>
            <a:srgbClr val="7B6CF6"/>
          </a:solidFill>
          <a:ln/>
        </p:spPr>
      </p:sp>
      <p:sp>
        <p:nvSpPr>
          <p:cNvPr id="29" name="Text 26"/>
          <p:cNvSpPr txBox="1"/>
          <p:nvPr/>
        </p:nvSpPr>
        <p:spPr>
          <a:xfrm>
            <a:off x="7635240" y="18562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7"/>
          <p:cNvSpPr txBox="1"/>
          <p:nvPr/>
        </p:nvSpPr>
        <p:spPr>
          <a:xfrm>
            <a:off x="8046720" y="1837944"/>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Centered links: Home, About, Services, Contact</a:t>
            </a:r>
            <a:endParaRPr lang="en-US" sz="1250" dirty="0"/>
          </a:p>
        </p:txBody>
      </p:sp>
      <p:sp>
        <p:nvSpPr>
          <p:cNvPr id="31" name="Shape 28"/>
          <p:cNvSpPr/>
          <p:nvPr/>
        </p:nvSpPr>
        <p:spPr>
          <a:xfrm>
            <a:off x="7635240" y="2386584"/>
            <a:ext cx="274320" cy="274320"/>
          </a:xfrm>
          <a:prstGeom prst="ellipse">
            <a:avLst/>
          </a:prstGeom>
          <a:solidFill>
            <a:srgbClr val="7B6CF6"/>
          </a:solidFill>
          <a:ln/>
        </p:spPr>
      </p:sp>
      <p:sp>
        <p:nvSpPr>
          <p:cNvPr id="32" name="Text 29"/>
          <p:cNvSpPr txBox="1"/>
          <p:nvPr/>
        </p:nvSpPr>
        <p:spPr>
          <a:xfrm>
            <a:off x="7635240" y="23865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0"/>
          <p:cNvSpPr txBox="1"/>
          <p:nvPr/>
        </p:nvSpPr>
        <p:spPr>
          <a:xfrm>
            <a:off x="8046720" y="2368296"/>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Right: Login (outline) + Get Started (dark) pills</a:t>
            </a:r>
            <a:endParaRPr lang="en-US" sz="1250" dirty="0"/>
          </a:p>
        </p:txBody>
      </p:sp>
      <p:sp>
        <p:nvSpPr>
          <p:cNvPr id="34" name="Shape 31"/>
          <p:cNvSpPr/>
          <p:nvPr/>
        </p:nvSpPr>
        <p:spPr>
          <a:xfrm>
            <a:off x="7635240" y="2916936"/>
            <a:ext cx="274320" cy="274320"/>
          </a:xfrm>
          <a:prstGeom prst="ellipse">
            <a:avLst/>
          </a:prstGeom>
          <a:solidFill>
            <a:srgbClr val="7B6CF6"/>
          </a:solidFill>
          <a:ln/>
        </p:spPr>
      </p:sp>
      <p:sp>
        <p:nvSpPr>
          <p:cNvPr id="35" name="Text 32"/>
          <p:cNvSpPr txBox="1"/>
          <p:nvPr/>
        </p:nvSpPr>
        <p:spPr>
          <a:xfrm>
            <a:off x="7635240" y="2916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3"/>
          <p:cNvSpPr txBox="1"/>
          <p:nvPr/>
        </p:nvSpPr>
        <p:spPr>
          <a:xfrm>
            <a:off x="8046720" y="2898648"/>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Status pill with live dot above headline</a:t>
            </a:r>
            <a:endParaRPr lang="en-US" sz="1250" dirty="0"/>
          </a:p>
        </p:txBody>
      </p:sp>
      <p:sp>
        <p:nvSpPr>
          <p:cNvPr id="37" name="Shape 34"/>
          <p:cNvSpPr/>
          <p:nvPr/>
        </p:nvSpPr>
        <p:spPr>
          <a:xfrm>
            <a:off x="7635240" y="3447288"/>
            <a:ext cx="274320" cy="274320"/>
          </a:xfrm>
          <a:prstGeom prst="ellipse">
            <a:avLst/>
          </a:prstGeom>
          <a:solidFill>
            <a:srgbClr val="7B6CF6"/>
          </a:solidFill>
          <a:ln/>
        </p:spPr>
      </p:sp>
      <p:sp>
        <p:nvSpPr>
          <p:cNvPr id="38" name="Text 35"/>
          <p:cNvSpPr txBox="1"/>
          <p:nvPr/>
        </p:nvSpPr>
        <p:spPr>
          <a:xfrm>
            <a:off x="7635240" y="34472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9" name="Text 36"/>
          <p:cNvSpPr txBox="1"/>
          <p:nvPr/>
        </p:nvSpPr>
        <p:spPr>
          <a:xfrm>
            <a:off x="8046720" y="3429000"/>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Large headline, left column (≈ 60px, semibold)</a:t>
            </a:r>
            <a:endParaRPr lang="en-US" sz="1250" dirty="0"/>
          </a:p>
        </p:txBody>
      </p:sp>
      <p:sp>
        <p:nvSpPr>
          <p:cNvPr id="40" name="Shape 37"/>
          <p:cNvSpPr/>
          <p:nvPr/>
        </p:nvSpPr>
        <p:spPr>
          <a:xfrm>
            <a:off x="7635240" y="3977640"/>
            <a:ext cx="274320" cy="274320"/>
          </a:xfrm>
          <a:prstGeom prst="ellipse">
            <a:avLst/>
          </a:prstGeom>
          <a:solidFill>
            <a:srgbClr val="7B6CF6"/>
          </a:solidFill>
          <a:ln/>
        </p:spPr>
      </p:sp>
      <p:sp>
        <p:nvSpPr>
          <p:cNvPr id="41" name="Text 38"/>
          <p:cNvSpPr txBox="1"/>
          <p:nvPr/>
        </p:nvSpPr>
        <p:spPr>
          <a:xfrm>
            <a:off x="7635240" y="39776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2" name="Text 39"/>
          <p:cNvSpPr txBox="1"/>
          <p:nvPr/>
        </p:nvSpPr>
        <p:spPr>
          <a:xfrm>
            <a:off x="8046720" y="3959352"/>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Primary purple CTA + secondary text link</a:t>
            </a:r>
            <a:endParaRPr lang="en-US" sz="1250" dirty="0"/>
          </a:p>
        </p:txBody>
      </p:sp>
      <p:sp>
        <p:nvSpPr>
          <p:cNvPr id="43" name="Shape 40"/>
          <p:cNvSpPr/>
          <p:nvPr/>
        </p:nvSpPr>
        <p:spPr>
          <a:xfrm>
            <a:off x="7635240" y="4507992"/>
            <a:ext cx="274320" cy="274320"/>
          </a:xfrm>
          <a:prstGeom prst="ellipse">
            <a:avLst/>
          </a:prstGeom>
          <a:solidFill>
            <a:srgbClr val="7B6CF6"/>
          </a:solidFill>
          <a:ln/>
        </p:spPr>
      </p:sp>
      <p:sp>
        <p:nvSpPr>
          <p:cNvPr id="44" name="Text 41"/>
          <p:cNvSpPr txBox="1"/>
          <p:nvPr/>
        </p:nvSpPr>
        <p:spPr>
          <a:xfrm>
            <a:off x="7635240" y="45079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5" name="Text 42"/>
          <p:cNvSpPr txBox="1"/>
          <p:nvPr/>
        </p:nvSpPr>
        <p:spPr>
          <a:xfrm>
            <a:off x="8046720" y="4489704"/>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Animated stat counters (3 figures)</a:t>
            </a:r>
            <a:endParaRPr lang="en-US" sz="1250" dirty="0"/>
          </a:p>
        </p:txBody>
      </p:sp>
      <p:sp>
        <p:nvSpPr>
          <p:cNvPr id="46" name="Shape 43"/>
          <p:cNvSpPr/>
          <p:nvPr/>
        </p:nvSpPr>
        <p:spPr>
          <a:xfrm>
            <a:off x="7635240" y="5038344"/>
            <a:ext cx="274320" cy="274320"/>
          </a:xfrm>
          <a:prstGeom prst="ellipse">
            <a:avLst/>
          </a:prstGeom>
          <a:solidFill>
            <a:srgbClr val="7B6CF6"/>
          </a:solidFill>
          <a:ln/>
        </p:spPr>
      </p:sp>
      <p:sp>
        <p:nvSpPr>
          <p:cNvPr id="47" name="Text 44"/>
          <p:cNvSpPr txBox="1"/>
          <p:nvPr/>
        </p:nvSpPr>
        <p:spPr>
          <a:xfrm>
            <a:off x="7635240" y="50383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8" name="Text 45"/>
          <p:cNvSpPr txBox="1"/>
          <p:nvPr/>
        </p:nvSpPr>
        <p:spPr>
          <a:xfrm>
            <a:off x="8046720" y="5020056"/>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Isometric 3D SVG illustration with mouse parallax</a:t>
            </a:r>
            <a:endParaRPr lang="en-US" sz="1250" dirty="0"/>
          </a:p>
        </p:txBody>
      </p:sp>
      <p:sp>
        <p:nvSpPr>
          <p:cNvPr id="49" name="Shape 46"/>
          <p:cNvSpPr/>
          <p:nvPr/>
        </p:nvSpPr>
        <p:spPr>
          <a:xfrm>
            <a:off x="7635240" y="5568696"/>
            <a:ext cx="274320" cy="274320"/>
          </a:xfrm>
          <a:prstGeom prst="ellipse">
            <a:avLst/>
          </a:prstGeom>
          <a:solidFill>
            <a:srgbClr val="7B6CF6"/>
          </a:solidFill>
          <a:ln/>
        </p:spPr>
      </p:sp>
      <p:sp>
        <p:nvSpPr>
          <p:cNvPr id="50" name="Text 47"/>
          <p:cNvSpPr txBox="1"/>
          <p:nvPr/>
        </p:nvSpPr>
        <p:spPr>
          <a:xfrm>
            <a:off x="7635240" y="556869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1" name="Text 48"/>
          <p:cNvSpPr txBox="1"/>
          <p:nvPr/>
        </p:nvSpPr>
        <p:spPr>
          <a:xfrm>
            <a:off x="8046720" y="5550408"/>
            <a:ext cx="3611880" cy="457200"/>
          </a:xfrm>
          <a:prstGeom prst="rect">
            <a:avLst/>
          </a:prstGeom>
          <a:noFill/>
          <a:ln/>
        </p:spPr>
        <p:txBody>
          <a:bodyPr wrap="square" lIns="0" tIns="0" rIns="0" bIns="0" rtlCol="0" anchor="ctr"/>
          <a:lstStyle/>
          <a:p>
            <a:pPr indent="0" marL="0">
              <a:buNone/>
            </a:pPr>
            <a:r>
              <a:rPr lang="en-US" sz="1250" dirty="0">
                <a:solidFill>
                  <a:srgbClr val="16161F"/>
                </a:solidFill>
                <a:latin typeface="Calibri" pitchFamily="34" charset="0"/>
                <a:ea typeface="Calibri" pitchFamily="34" charset="-122"/>
                <a:cs typeface="Calibri" pitchFamily="34" charset="-120"/>
              </a:rPr>
              <a:t>Bento highlight cards below the fold</a:t>
            </a:r>
            <a:endParaRPr lang="en-US" sz="125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Section structure, top to bottom</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SAMPLE WEBSITE ANALYSIS</a:t>
            </a:r>
            <a:endParaRPr lang="en-US" sz="1050" dirty="0"/>
          </a:p>
        </p:txBody>
      </p:sp>
      <p:sp>
        <p:nvSpPr>
          <p:cNvPr id="4" name="Shape 2"/>
          <p:cNvSpPr/>
          <p:nvPr/>
        </p:nvSpPr>
        <p:spPr>
          <a:xfrm>
            <a:off x="548640" y="1325880"/>
            <a:ext cx="1737360" cy="4983480"/>
          </a:xfrm>
          <a:prstGeom prst="roundRect">
            <a:avLst>
              <a:gd name="adj" fmla="val 5263"/>
            </a:avLst>
          </a:prstGeom>
          <a:solidFill>
            <a:srgbClr val="F3F2FA"/>
          </a:solidFill>
          <a:ln w="9525">
            <a:solidFill>
              <a:srgbClr val="E4E3EF"/>
            </a:solidFill>
            <a:prstDash val="solid"/>
          </a:ln>
        </p:spPr>
      </p:sp>
      <p:pic>
        <p:nvPicPr>
          <p:cNvPr id="5" name="Image 0" descr="preencoded.png">    </p:cNvPr>
          <p:cNvPicPr>
            <a:picLocks noChangeAspect="1"/>
          </p:cNvPicPr>
          <p:nvPr/>
        </p:nvPicPr>
        <p:blipFill>
          <a:blip r:embed="rId1"/>
          <a:stretch>
            <a:fillRect/>
          </a:stretch>
        </p:blipFill>
        <p:spPr>
          <a:xfrm>
            <a:off x="672549" y="1371600"/>
            <a:ext cx="1489541" cy="4892040"/>
          </a:xfrm>
          <a:prstGeom prst="rect">
            <a:avLst/>
          </a:prstGeom>
        </p:spPr>
      </p:pic>
      <p:sp>
        <p:nvSpPr>
          <p:cNvPr id="6" name="Shape 3"/>
          <p:cNvSpPr/>
          <p:nvPr/>
        </p:nvSpPr>
        <p:spPr>
          <a:xfrm>
            <a:off x="2560320" y="1325880"/>
            <a:ext cx="9098280" cy="475488"/>
          </a:xfrm>
          <a:prstGeom prst="roundRect">
            <a:avLst>
              <a:gd name="adj" fmla="val 15385"/>
            </a:avLst>
          </a:prstGeom>
          <a:solidFill>
            <a:srgbClr val="F3F2FA"/>
          </a:solidFill>
          <a:ln/>
        </p:spPr>
      </p:sp>
      <p:sp>
        <p:nvSpPr>
          <p:cNvPr id="7" name="Text 4"/>
          <p:cNvSpPr txBox="1"/>
          <p:nvPr/>
        </p:nvSpPr>
        <p:spPr>
          <a:xfrm>
            <a:off x="2743200" y="1325880"/>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Navbar</a:t>
            </a:r>
            <a:endParaRPr lang="en-US" sz="1300" dirty="0"/>
          </a:p>
        </p:txBody>
      </p:sp>
      <p:sp>
        <p:nvSpPr>
          <p:cNvPr id="8" name="Text 5"/>
          <p:cNvSpPr txBox="1"/>
          <p:nvPr/>
        </p:nvSpPr>
        <p:spPr>
          <a:xfrm>
            <a:off x="4480560" y="1325880"/>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Sticky; logo left, links centre, two pill buttons right; hamburger below 900px</a:t>
            </a:r>
            <a:endParaRPr lang="en-US" sz="1200" dirty="0"/>
          </a:p>
        </p:txBody>
      </p:sp>
      <p:sp>
        <p:nvSpPr>
          <p:cNvPr id="9" name="Shape 6"/>
          <p:cNvSpPr/>
          <p:nvPr/>
        </p:nvSpPr>
        <p:spPr>
          <a:xfrm>
            <a:off x="2560320" y="1883664"/>
            <a:ext cx="9098280" cy="475488"/>
          </a:xfrm>
          <a:prstGeom prst="roundRect">
            <a:avLst>
              <a:gd name="adj" fmla="val 15385"/>
            </a:avLst>
          </a:prstGeom>
          <a:solidFill>
            <a:srgbClr val="FFFFFF"/>
          </a:solidFill>
          <a:ln/>
        </p:spPr>
      </p:sp>
      <p:sp>
        <p:nvSpPr>
          <p:cNvPr id="10" name="Text 7"/>
          <p:cNvSpPr txBox="1"/>
          <p:nvPr/>
        </p:nvSpPr>
        <p:spPr>
          <a:xfrm>
            <a:off x="2743200" y="1883664"/>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Hero</a:t>
            </a:r>
            <a:endParaRPr lang="en-US" sz="1300" dirty="0"/>
          </a:p>
        </p:txBody>
      </p:sp>
      <p:sp>
        <p:nvSpPr>
          <p:cNvPr id="11" name="Text 8"/>
          <p:cNvSpPr txBox="1"/>
          <p:nvPr/>
        </p:nvSpPr>
        <p:spPr>
          <a:xfrm>
            <a:off x="4480560" y="1883664"/>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2-column grid: text left (pill tag, H1, paragraph, 2 CTAs, 3 counters), isometric illustration right</a:t>
            </a:r>
            <a:endParaRPr lang="en-US" sz="1200" dirty="0"/>
          </a:p>
        </p:txBody>
      </p:sp>
      <p:sp>
        <p:nvSpPr>
          <p:cNvPr id="12" name="Shape 9"/>
          <p:cNvSpPr/>
          <p:nvPr/>
        </p:nvSpPr>
        <p:spPr>
          <a:xfrm>
            <a:off x="2560320" y="2441448"/>
            <a:ext cx="9098280" cy="475488"/>
          </a:xfrm>
          <a:prstGeom prst="roundRect">
            <a:avLst>
              <a:gd name="adj" fmla="val 15385"/>
            </a:avLst>
          </a:prstGeom>
          <a:solidFill>
            <a:srgbClr val="F3F2FA"/>
          </a:solidFill>
          <a:ln/>
        </p:spPr>
      </p:sp>
      <p:sp>
        <p:nvSpPr>
          <p:cNvPr id="13" name="Text 10"/>
          <p:cNvSpPr txBox="1"/>
          <p:nvPr/>
        </p:nvSpPr>
        <p:spPr>
          <a:xfrm>
            <a:off x="2743200" y="2441448"/>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Highlight strip</a:t>
            </a:r>
            <a:endParaRPr lang="en-US" sz="1300" dirty="0"/>
          </a:p>
        </p:txBody>
      </p:sp>
      <p:sp>
        <p:nvSpPr>
          <p:cNvPr id="14" name="Text 11"/>
          <p:cNvSpPr txBox="1"/>
          <p:nvPr/>
        </p:nvSpPr>
        <p:spPr>
          <a:xfrm>
            <a:off x="4480560" y="2441448"/>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Bento 2:1 — light card with chart visual + dark compact card with avatar and CTA</a:t>
            </a:r>
            <a:endParaRPr lang="en-US" sz="1200" dirty="0"/>
          </a:p>
        </p:txBody>
      </p:sp>
      <p:sp>
        <p:nvSpPr>
          <p:cNvPr id="15" name="Shape 12"/>
          <p:cNvSpPr/>
          <p:nvPr/>
        </p:nvSpPr>
        <p:spPr>
          <a:xfrm>
            <a:off x="2560320" y="2999232"/>
            <a:ext cx="9098280" cy="475488"/>
          </a:xfrm>
          <a:prstGeom prst="roundRect">
            <a:avLst>
              <a:gd name="adj" fmla="val 15385"/>
            </a:avLst>
          </a:prstGeom>
          <a:solidFill>
            <a:srgbClr val="FFFFFF"/>
          </a:solidFill>
          <a:ln/>
        </p:spPr>
      </p:sp>
      <p:sp>
        <p:nvSpPr>
          <p:cNvPr id="16" name="Text 13"/>
          <p:cNvSpPr txBox="1"/>
          <p:nvPr/>
        </p:nvSpPr>
        <p:spPr>
          <a:xfrm>
            <a:off x="2743200" y="2999232"/>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About</a:t>
            </a:r>
            <a:endParaRPr lang="en-US" sz="1300" dirty="0"/>
          </a:p>
        </p:txBody>
      </p:sp>
      <p:sp>
        <p:nvSpPr>
          <p:cNvPr id="17" name="Text 14"/>
          <p:cNvSpPr txBox="1"/>
          <p:nvPr/>
        </p:nvSpPr>
        <p:spPr>
          <a:xfrm>
            <a:off x="4480560" y="2999232"/>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Text + tick list + 2 buttons left; dark globe card with 3 floating stat chips right</a:t>
            </a:r>
            <a:endParaRPr lang="en-US" sz="1200" dirty="0"/>
          </a:p>
        </p:txBody>
      </p:sp>
      <p:sp>
        <p:nvSpPr>
          <p:cNvPr id="18" name="Shape 15"/>
          <p:cNvSpPr/>
          <p:nvPr/>
        </p:nvSpPr>
        <p:spPr>
          <a:xfrm>
            <a:off x="2560320" y="3557016"/>
            <a:ext cx="9098280" cy="475488"/>
          </a:xfrm>
          <a:prstGeom prst="roundRect">
            <a:avLst>
              <a:gd name="adj" fmla="val 15385"/>
            </a:avLst>
          </a:prstGeom>
          <a:solidFill>
            <a:srgbClr val="F3F2FA"/>
          </a:solidFill>
          <a:ln/>
        </p:spPr>
      </p:sp>
      <p:sp>
        <p:nvSpPr>
          <p:cNvPr id="19" name="Text 16"/>
          <p:cNvSpPr txBox="1"/>
          <p:nvPr/>
        </p:nvSpPr>
        <p:spPr>
          <a:xfrm>
            <a:off x="2743200" y="3557016"/>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Founders</a:t>
            </a:r>
            <a:endParaRPr lang="en-US" sz="1300" dirty="0"/>
          </a:p>
        </p:txBody>
      </p:sp>
      <p:sp>
        <p:nvSpPr>
          <p:cNvPr id="20" name="Text 17"/>
          <p:cNvSpPr txBox="1"/>
          <p:nvPr/>
        </p:nvSpPr>
        <p:spPr>
          <a:xfrm>
            <a:off x="4480560" y="3557016"/>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Two horizontal cards: illustrated portrait, role pill, name, quote, bio, years, social icons</a:t>
            </a:r>
            <a:endParaRPr lang="en-US" sz="1200" dirty="0"/>
          </a:p>
        </p:txBody>
      </p:sp>
      <p:sp>
        <p:nvSpPr>
          <p:cNvPr id="21" name="Shape 18"/>
          <p:cNvSpPr/>
          <p:nvPr/>
        </p:nvSpPr>
        <p:spPr>
          <a:xfrm>
            <a:off x="2560320" y="4114800"/>
            <a:ext cx="9098280" cy="475488"/>
          </a:xfrm>
          <a:prstGeom prst="roundRect">
            <a:avLst>
              <a:gd name="adj" fmla="val 15385"/>
            </a:avLst>
          </a:prstGeom>
          <a:solidFill>
            <a:srgbClr val="FFFFFF"/>
          </a:solidFill>
          <a:ln/>
        </p:spPr>
      </p:sp>
      <p:sp>
        <p:nvSpPr>
          <p:cNvPr id="22" name="Text 19"/>
          <p:cNvSpPr txBox="1"/>
          <p:nvPr/>
        </p:nvSpPr>
        <p:spPr>
          <a:xfrm>
            <a:off x="2743200" y="4114800"/>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Timeline</a:t>
            </a:r>
            <a:endParaRPr lang="en-US" sz="1300" dirty="0"/>
          </a:p>
        </p:txBody>
      </p:sp>
      <p:sp>
        <p:nvSpPr>
          <p:cNvPr id="23" name="Text 20"/>
          <p:cNvSpPr txBox="1"/>
          <p:nvPr/>
        </p:nvSpPr>
        <p:spPr>
          <a:xfrm>
            <a:off x="4480560" y="4114800"/>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4 milestones on a horizontal line (stacks vertically on mobile)</a:t>
            </a:r>
            <a:endParaRPr lang="en-US" sz="1200" dirty="0"/>
          </a:p>
        </p:txBody>
      </p:sp>
      <p:sp>
        <p:nvSpPr>
          <p:cNvPr id="24" name="Shape 21"/>
          <p:cNvSpPr/>
          <p:nvPr/>
        </p:nvSpPr>
        <p:spPr>
          <a:xfrm>
            <a:off x="2560320" y="4672584"/>
            <a:ext cx="9098280" cy="475488"/>
          </a:xfrm>
          <a:prstGeom prst="roundRect">
            <a:avLst>
              <a:gd name="adj" fmla="val 15385"/>
            </a:avLst>
          </a:prstGeom>
          <a:solidFill>
            <a:srgbClr val="F3F2FA"/>
          </a:solidFill>
          <a:ln/>
        </p:spPr>
      </p:sp>
      <p:sp>
        <p:nvSpPr>
          <p:cNvPr id="25" name="Text 22"/>
          <p:cNvSpPr txBox="1"/>
          <p:nvPr/>
        </p:nvSpPr>
        <p:spPr>
          <a:xfrm>
            <a:off x="2743200" y="4672584"/>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Services</a:t>
            </a:r>
            <a:endParaRPr lang="en-US" sz="1300" dirty="0"/>
          </a:p>
        </p:txBody>
      </p:sp>
      <p:sp>
        <p:nvSpPr>
          <p:cNvPr id="26" name="Text 23"/>
          <p:cNvSpPr txBox="1"/>
          <p:nvPr/>
        </p:nvSpPr>
        <p:spPr>
          <a:xfrm>
            <a:off x="4480560" y="4672584"/>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Centered heading + 4-column bento grid of 7 cards (tall, wide, full-width banner)</a:t>
            </a:r>
            <a:endParaRPr lang="en-US" sz="1200" dirty="0"/>
          </a:p>
        </p:txBody>
      </p:sp>
      <p:sp>
        <p:nvSpPr>
          <p:cNvPr id="27" name="Shape 24"/>
          <p:cNvSpPr/>
          <p:nvPr/>
        </p:nvSpPr>
        <p:spPr>
          <a:xfrm>
            <a:off x="2560320" y="5230368"/>
            <a:ext cx="9098280" cy="475488"/>
          </a:xfrm>
          <a:prstGeom prst="roundRect">
            <a:avLst>
              <a:gd name="adj" fmla="val 15385"/>
            </a:avLst>
          </a:prstGeom>
          <a:solidFill>
            <a:srgbClr val="FFFFFF"/>
          </a:solidFill>
          <a:ln/>
        </p:spPr>
      </p:sp>
      <p:sp>
        <p:nvSpPr>
          <p:cNvPr id="28" name="Text 25"/>
          <p:cNvSpPr txBox="1"/>
          <p:nvPr/>
        </p:nvSpPr>
        <p:spPr>
          <a:xfrm>
            <a:off x="2743200" y="5230368"/>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Contact</a:t>
            </a:r>
            <a:endParaRPr lang="en-US" sz="1300" dirty="0"/>
          </a:p>
        </p:txBody>
      </p:sp>
      <p:sp>
        <p:nvSpPr>
          <p:cNvPr id="29" name="Text 26"/>
          <p:cNvSpPr txBox="1"/>
          <p:nvPr/>
        </p:nvSpPr>
        <p:spPr>
          <a:xfrm>
            <a:off x="4480560" y="5230368"/>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Form card (enquiry-type toggle, 4 fields) + dark info card with phone, email, hours, status</a:t>
            </a:r>
            <a:endParaRPr lang="en-US" sz="1200" dirty="0"/>
          </a:p>
        </p:txBody>
      </p:sp>
      <p:sp>
        <p:nvSpPr>
          <p:cNvPr id="30" name="Shape 27"/>
          <p:cNvSpPr/>
          <p:nvPr/>
        </p:nvSpPr>
        <p:spPr>
          <a:xfrm>
            <a:off x="2560320" y="5788152"/>
            <a:ext cx="9098280" cy="475488"/>
          </a:xfrm>
          <a:prstGeom prst="roundRect">
            <a:avLst>
              <a:gd name="adj" fmla="val 15385"/>
            </a:avLst>
          </a:prstGeom>
          <a:solidFill>
            <a:srgbClr val="F3F2FA"/>
          </a:solidFill>
          <a:ln/>
        </p:spPr>
      </p:sp>
      <p:sp>
        <p:nvSpPr>
          <p:cNvPr id="31" name="Text 28"/>
          <p:cNvSpPr txBox="1"/>
          <p:nvPr/>
        </p:nvSpPr>
        <p:spPr>
          <a:xfrm>
            <a:off x="2743200" y="5788152"/>
            <a:ext cx="1737360" cy="475488"/>
          </a:xfrm>
          <a:prstGeom prst="rect">
            <a:avLst/>
          </a:prstGeom>
          <a:noFill/>
          <a:ln/>
        </p:spPr>
        <p:txBody>
          <a:bodyPr wrap="square" lIns="0" tIns="0" rIns="0" bIns="0" rtlCol="0" anchor="ctr"/>
          <a:lstStyle/>
          <a:p>
            <a:pPr indent="0" marL="0">
              <a:buNone/>
            </a:pPr>
            <a:r>
              <a:rPr lang="en-US" sz="1300" b="1" dirty="0">
                <a:solidFill>
                  <a:srgbClr val="16161F"/>
                </a:solidFill>
                <a:latin typeface="Calibri" pitchFamily="34" charset="0"/>
                <a:ea typeface="Calibri" pitchFamily="34" charset="-122"/>
                <a:cs typeface="Calibri" pitchFamily="34" charset="-120"/>
              </a:rPr>
              <a:t>Footer</a:t>
            </a:r>
            <a:endParaRPr lang="en-US" sz="1300" dirty="0"/>
          </a:p>
        </p:txBody>
      </p:sp>
      <p:sp>
        <p:nvSpPr>
          <p:cNvPr id="32" name="Text 29"/>
          <p:cNvSpPr txBox="1"/>
          <p:nvPr/>
        </p:nvSpPr>
        <p:spPr>
          <a:xfrm>
            <a:off x="4480560" y="5788152"/>
            <a:ext cx="7040880" cy="475488"/>
          </a:xfrm>
          <a:prstGeom prst="rect">
            <a:avLst/>
          </a:prstGeom>
          <a:noFill/>
          <a:ln/>
        </p:spPr>
        <p:txBody>
          <a:bodyPr wrap="square" lIns="0" tIns="0" rIns="0" bIns="0" rtlCol="0" anchor="ctr"/>
          <a:lstStyle/>
          <a:p>
            <a:pPr indent="0" marL="0">
              <a:buNone/>
            </a:pPr>
            <a:r>
              <a:rPr lang="en-US" sz="1200" dirty="0">
                <a:solidFill>
                  <a:srgbClr val="5F6075"/>
                </a:solidFill>
                <a:latin typeface="Calibri" pitchFamily="34" charset="0"/>
                <a:ea typeface="Calibri" pitchFamily="34" charset="-122"/>
                <a:cs typeface="Calibri" pitchFamily="34" charset="-120"/>
              </a:rPr>
              <a:t>Dark: logo + text, two link columns, newsletter field, copyright and legal links</a:t>
            </a:r>
            <a:endParaRPr lang="en-US" sz="1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Colours, typography and components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SAMPLE WEBSITE ANALYSIS</a:t>
            </a:r>
            <a:endParaRPr lang="en-US" sz="1050" dirty="0"/>
          </a:p>
        </p:txBody>
      </p:sp>
      <p:sp>
        <p:nvSpPr>
          <p:cNvPr id="4" name="Text 2"/>
          <p:cNvSpPr txBox="1"/>
          <p:nvPr/>
        </p:nvSpPr>
        <p:spPr>
          <a:xfrm>
            <a:off x="548640" y="1325880"/>
            <a:ext cx="4572000" cy="27432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Colour tokens (from style.css)</a:t>
            </a:r>
            <a:endParaRPr lang="en-US" sz="1400" dirty="0"/>
          </a:p>
        </p:txBody>
      </p:sp>
      <p:sp>
        <p:nvSpPr>
          <p:cNvPr id="5" name="Shape 3"/>
          <p:cNvSpPr/>
          <p:nvPr/>
        </p:nvSpPr>
        <p:spPr>
          <a:xfrm>
            <a:off x="548640" y="1737360"/>
            <a:ext cx="1280160" cy="640080"/>
          </a:xfrm>
          <a:prstGeom prst="roundRect">
            <a:avLst>
              <a:gd name="adj" fmla="val 14286"/>
            </a:avLst>
          </a:prstGeom>
          <a:solidFill>
            <a:srgbClr val="16161F"/>
          </a:solidFill>
          <a:ln w="9525">
            <a:solidFill>
              <a:srgbClr val="E4E3EF"/>
            </a:solidFill>
            <a:prstDash val="solid"/>
          </a:ln>
        </p:spPr>
      </p:sp>
      <p:sp>
        <p:nvSpPr>
          <p:cNvPr id="6" name="Text 4"/>
          <p:cNvSpPr txBox="1"/>
          <p:nvPr/>
        </p:nvSpPr>
        <p:spPr>
          <a:xfrm>
            <a:off x="548640" y="242316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Ink</a:t>
            </a:r>
            <a:endParaRPr lang="en-US" sz="1100" dirty="0"/>
          </a:p>
        </p:txBody>
      </p:sp>
      <p:sp>
        <p:nvSpPr>
          <p:cNvPr id="7" name="Text 5"/>
          <p:cNvSpPr txBox="1"/>
          <p:nvPr/>
        </p:nvSpPr>
        <p:spPr>
          <a:xfrm>
            <a:off x="548640" y="262432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#16161F · Text, dark buttons</a:t>
            </a:r>
            <a:endParaRPr lang="en-US" sz="900" dirty="0"/>
          </a:p>
        </p:txBody>
      </p:sp>
      <p:sp>
        <p:nvSpPr>
          <p:cNvPr id="8" name="Shape 6"/>
          <p:cNvSpPr/>
          <p:nvPr/>
        </p:nvSpPr>
        <p:spPr>
          <a:xfrm>
            <a:off x="1965960" y="1737360"/>
            <a:ext cx="1280160" cy="640080"/>
          </a:xfrm>
          <a:prstGeom prst="roundRect">
            <a:avLst>
              <a:gd name="adj" fmla="val 14286"/>
            </a:avLst>
          </a:prstGeom>
          <a:solidFill>
            <a:srgbClr val="1B1B28"/>
          </a:solidFill>
          <a:ln w="9525">
            <a:solidFill>
              <a:srgbClr val="E4E3EF"/>
            </a:solidFill>
            <a:prstDash val="solid"/>
          </a:ln>
        </p:spPr>
      </p:sp>
      <p:sp>
        <p:nvSpPr>
          <p:cNvPr id="9" name="Text 7"/>
          <p:cNvSpPr txBox="1"/>
          <p:nvPr/>
        </p:nvSpPr>
        <p:spPr>
          <a:xfrm>
            <a:off x="1965960" y="242316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Dark card</a:t>
            </a:r>
            <a:endParaRPr lang="en-US" sz="1100" dirty="0"/>
          </a:p>
        </p:txBody>
      </p:sp>
      <p:sp>
        <p:nvSpPr>
          <p:cNvPr id="10" name="Text 8"/>
          <p:cNvSpPr txBox="1"/>
          <p:nvPr/>
        </p:nvSpPr>
        <p:spPr>
          <a:xfrm>
            <a:off x="1965960" y="262432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#1B1B28 · Cards, footer</a:t>
            </a:r>
            <a:endParaRPr lang="en-US" sz="900" dirty="0"/>
          </a:p>
        </p:txBody>
      </p:sp>
      <p:sp>
        <p:nvSpPr>
          <p:cNvPr id="11" name="Shape 9"/>
          <p:cNvSpPr/>
          <p:nvPr/>
        </p:nvSpPr>
        <p:spPr>
          <a:xfrm>
            <a:off x="3383280" y="1737360"/>
            <a:ext cx="1280160" cy="640080"/>
          </a:xfrm>
          <a:prstGeom prst="roundRect">
            <a:avLst>
              <a:gd name="adj" fmla="val 14286"/>
            </a:avLst>
          </a:prstGeom>
          <a:solidFill>
            <a:srgbClr val="7B6CF6"/>
          </a:solidFill>
          <a:ln w="9525">
            <a:solidFill>
              <a:srgbClr val="E4E3EF"/>
            </a:solidFill>
            <a:prstDash val="solid"/>
          </a:ln>
        </p:spPr>
      </p:sp>
      <p:sp>
        <p:nvSpPr>
          <p:cNvPr id="12" name="Text 10"/>
          <p:cNvSpPr txBox="1"/>
          <p:nvPr/>
        </p:nvSpPr>
        <p:spPr>
          <a:xfrm>
            <a:off x="3383280" y="242316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Purple</a:t>
            </a:r>
            <a:endParaRPr lang="en-US" sz="1100" dirty="0"/>
          </a:p>
        </p:txBody>
      </p:sp>
      <p:sp>
        <p:nvSpPr>
          <p:cNvPr id="13" name="Text 11"/>
          <p:cNvSpPr txBox="1"/>
          <p:nvPr/>
        </p:nvSpPr>
        <p:spPr>
          <a:xfrm>
            <a:off x="3383280" y="262432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#7B6CF6 · Primary accent</a:t>
            </a:r>
            <a:endParaRPr lang="en-US" sz="900" dirty="0"/>
          </a:p>
        </p:txBody>
      </p:sp>
      <p:sp>
        <p:nvSpPr>
          <p:cNvPr id="14" name="Shape 12"/>
          <p:cNvSpPr/>
          <p:nvPr/>
        </p:nvSpPr>
        <p:spPr>
          <a:xfrm>
            <a:off x="4800600" y="1737360"/>
            <a:ext cx="1280160" cy="640080"/>
          </a:xfrm>
          <a:prstGeom prst="roundRect">
            <a:avLst>
              <a:gd name="adj" fmla="val 14286"/>
            </a:avLst>
          </a:prstGeom>
          <a:solidFill>
            <a:srgbClr val="B3A8FF"/>
          </a:solidFill>
          <a:ln w="9525">
            <a:solidFill>
              <a:srgbClr val="E4E3EF"/>
            </a:solidFill>
            <a:prstDash val="solid"/>
          </a:ln>
        </p:spPr>
      </p:sp>
      <p:sp>
        <p:nvSpPr>
          <p:cNvPr id="15" name="Text 13"/>
          <p:cNvSpPr txBox="1"/>
          <p:nvPr/>
        </p:nvSpPr>
        <p:spPr>
          <a:xfrm>
            <a:off x="4800600" y="242316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Lavender</a:t>
            </a:r>
            <a:endParaRPr lang="en-US" sz="1100" dirty="0"/>
          </a:p>
        </p:txBody>
      </p:sp>
      <p:sp>
        <p:nvSpPr>
          <p:cNvPr id="16" name="Text 14"/>
          <p:cNvSpPr txBox="1"/>
          <p:nvPr/>
        </p:nvSpPr>
        <p:spPr>
          <a:xfrm>
            <a:off x="4800600" y="262432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#B3A8FF · Secondary accent</a:t>
            </a:r>
            <a:endParaRPr lang="en-US" sz="900" dirty="0"/>
          </a:p>
        </p:txBody>
      </p:sp>
      <p:sp>
        <p:nvSpPr>
          <p:cNvPr id="17" name="Shape 15"/>
          <p:cNvSpPr/>
          <p:nvPr/>
        </p:nvSpPr>
        <p:spPr>
          <a:xfrm>
            <a:off x="548640" y="3063240"/>
            <a:ext cx="1280160" cy="640080"/>
          </a:xfrm>
          <a:prstGeom prst="roundRect">
            <a:avLst>
              <a:gd name="adj" fmla="val 14286"/>
            </a:avLst>
          </a:prstGeom>
          <a:solidFill>
            <a:srgbClr val="ECEBFF"/>
          </a:solidFill>
          <a:ln w="9525">
            <a:solidFill>
              <a:srgbClr val="E4E3EF"/>
            </a:solidFill>
            <a:prstDash val="solid"/>
          </a:ln>
        </p:spPr>
      </p:sp>
      <p:sp>
        <p:nvSpPr>
          <p:cNvPr id="18" name="Text 16"/>
          <p:cNvSpPr txBox="1"/>
          <p:nvPr/>
        </p:nvSpPr>
        <p:spPr>
          <a:xfrm>
            <a:off x="548640" y="374904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Purple soft</a:t>
            </a:r>
            <a:endParaRPr lang="en-US" sz="1100" dirty="0"/>
          </a:p>
        </p:txBody>
      </p:sp>
      <p:sp>
        <p:nvSpPr>
          <p:cNvPr id="19" name="Text 17"/>
          <p:cNvSpPr txBox="1"/>
          <p:nvPr/>
        </p:nvSpPr>
        <p:spPr>
          <a:xfrm>
            <a:off x="548640" y="395020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#ECEBFF · Pills, tints</a:t>
            </a:r>
            <a:endParaRPr lang="en-US" sz="900" dirty="0"/>
          </a:p>
        </p:txBody>
      </p:sp>
      <p:sp>
        <p:nvSpPr>
          <p:cNvPr id="20" name="Shape 18"/>
          <p:cNvSpPr/>
          <p:nvPr/>
        </p:nvSpPr>
        <p:spPr>
          <a:xfrm>
            <a:off x="1965960" y="3063240"/>
            <a:ext cx="1280160" cy="640080"/>
          </a:xfrm>
          <a:prstGeom prst="roundRect">
            <a:avLst>
              <a:gd name="adj" fmla="val 14286"/>
            </a:avLst>
          </a:prstGeom>
          <a:solidFill>
            <a:srgbClr val="9DF0D4"/>
          </a:solidFill>
          <a:ln w="9525">
            <a:solidFill>
              <a:srgbClr val="E4E3EF"/>
            </a:solidFill>
            <a:prstDash val="solid"/>
          </a:ln>
        </p:spPr>
      </p:sp>
      <p:sp>
        <p:nvSpPr>
          <p:cNvPr id="21" name="Text 19"/>
          <p:cNvSpPr txBox="1"/>
          <p:nvPr/>
        </p:nvSpPr>
        <p:spPr>
          <a:xfrm>
            <a:off x="1965960" y="374904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Mint</a:t>
            </a:r>
            <a:endParaRPr lang="en-US" sz="1100" dirty="0"/>
          </a:p>
        </p:txBody>
      </p:sp>
      <p:sp>
        <p:nvSpPr>
          <p:cNvPr id="22" name="Text 20"/>
          <p:cNvSpPr txBox="1"/>
          <p:nvPr/>
        </p:nvSpPr>
        <p:spPr>
          <a:xfrm>
            <a:off x="1965960" y="395020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#9DF0D4 · Highlights</a:t>
            </a:r>
            <a:endParaRPr lang="en-US" sz="900" dirty="0"/>
          </a:p>
        </p:txBody>
      </p:sp>
      <p:sp>
        <p:nvSpPr>
          <p:cNvPr id="23" name="Shape 21"/>
          <p:cNvSpPr/>
          <p:nvPr/>
        </p:nvSpPr>
        <p:spPr>
          <a:xfrm>
            <a:off x="3383280" y="3063240"/>
            <a:ext cx="1280160" cy="640080"/>
          </a:xfrm>
          <a:prstGeom prst="roundRect">
            <a:avLst>
              <a:gd name="adj" fmla="val 14286"/>
            </a:avLst>
          </a:prstGeom>
          <a:solidFill>
            <a:srgbClr val="F2B77A"/>
          </a:solidFill>
          <a:ln w="9525">
            <a:solidFill>
              <a:srgbClr val="E4E3EF"/>
            </a:solidFill>
            <a:prstDash val="solid"/>
          </a:ln>
        </p:spPr>
      </p:sp>
      <p:sp>
        <p:nvSpPr>
          <p:cNvPr id="24" name="Text 22"/>
          <p:cNvSpPr txBox="1"/>
          <p:nvPr/>
        </p:nvSpPr>
        <p:spPr>
          <a:xfrm>
            <a:off x="3383280" y="374904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Peach</a:t>
            </a:r>
            <a:endParaRPr lang="en-US" sz="1100" dirty="0"/>
          </a:p>
        </p:txBody>
      </p:sp>
      <p:sp>
        <p:nvSpPr>
          <p:cNvPr id="25" name="Text 23"/>
          <p:cNvSpPr txBox="1"/>
          <p:nvPr/>
        </p:nvSpPr>
        <p:spPr>
          <a:xfrm>
            <a:off x="3383280" y="395020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#F2B77A · Warm accent</a:t>
            </a:r>
            <a:endParaRPr lang="en-US" sz="900" dirty="0"/>
          </a:p>
        </p:txBody>
      </p:sp>
      <p:sp>
        <p:nvSpPr>
          <p:cNvPr id="26" name="Shape 24"/>
          <p:cNvSpPr/>
          <p:nvPr/>
        </p:nvSpPr>
        <p:spPr>
          <a:xfrm>
            <a:off x="4800600" y="3063240"/>
            <a:ext cx="1280160" cy="640080"/>
          </a:xfrm>
          <a:prstGeom prst="roundRect">
            <a:avLst>
              <a:gd name="adj" fmla="val 14286"/>
            </a:avLst>
          </a:prstGeom>
          <a:solidFill>
            <a:srgbClr val="F3F2FA"/>
          </a:solidFill>
          <a:ln w="9525">
            <a:solidFill>
              <a:srgbClr val="E4E3EF"/>
            </a:solidFill>
            <a:prstDash val="solid"/>
          </a:ln>
        </p:spPr>
      </p:sp>
      <p:sp>
        <p:nvSpPr>
          <p:cNvPr id="27" name="Text 25"/>
          <p:cNvSpPr txBox="1"/>
          <p:nvPr/>
        </p:nvSpPr>
        <p:spPr>
          <a:xfrm>
            <a:off x="4800600" y="3749040"/>
            <a:ext cx="1325880" cy="201168"/>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Page</a:t>
            </a:r>
            <a:endParaRPr lang="en-US" sz="1100" dirty="0"/>
          </a:p>
        </p:txBody>
      </p:sp>
      <p:sp>
        <p:nvSpPr>
          <p:cNvPr id="28" name="Text 26"/>
          <p:cNvSpPr txBox="1"/>
          <p:nvPr/>
        </p:nvSpPr>
        <p:spPr>
          <a:xfrm>
            <a:off x="4800600" y="3950208"/>
            <a:ext cx="1371600" cy="32004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#F3F2FA · Background</a:t>
            </a:r>
            <a:endParaRPr lang="en-US" sz="900" dirty="0"/>
          </a:p>
        </p:txBody>
      </p:sp>
      <p:sp>
        <p:nvSpPr>
          <p:cNvPr id="29" name="Text 27"/>
          <p:cNvSpPr txBox="1"/>
          <p:nvPr/>
        </p:nvSpPr>
        <p:spPr>
          <a:xfrm>
            <a:off x="548640" y="4526280"/>
            <a:ext cx="4572000" cy="27432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Typography</a:t>
            </a:r>
            <a:endParaRPr lang="en-US" sz="1400" dirty="0"/>
          </a:p>
        </p:txBody>
      </p:sp>
      <p:sp>
        <p:nvSpPr>
          <p:cNvPr id="30" name="Text 28"/>
          <p:cNvSpPr txBox="1"/>
          <p:nvPr/>
        </p:nvSpPr>
        <p:spPr>
          <a:xfrm>
            <a:off x="548640" y="4846320"/>
            <a:ext cx="5577840" cy="1097280"/>
          </a:xfrm>
          <a:prstGeom prst="rect">
            <a:avLst/>
          </a:prstGeom>
          <a:noFill/>
          <a:ln/>
        </p:spPr>
        <p:txBody>
          <a:bodyPr wrap="square" lIns="0" tIns="0" rIns="0" bIns="0" rtlCol="0" anchor="t"/>
          <a:lstStyle/>
          <a:p>
            <a:pPr indent="0" marL="0">
              <a:buNone/>
            </a:pPr>
            <a:r>
              <a:rPr lang="en-US" sz="2200" b="1" dirty="0">
                <a:solidFill>
                  <a:srgbClr val="16161F"/>
                </a:solidFill>
                <a:latin typeface="Calibri" pitchFamily="34" charset="0"/>
                <a:ea typeface="Calibri" pitchFamily="34" charset="-122"/>
                <a:cs typeface="Calibri" pitchFamily="34" charset="-120"/>
              </a:rPr>
              <a:t>Plus Jakarta Sans</a:t>
            </a:r>
            <a:endParaRPr lang="en-US" sz="1000" dirty="0"/>
          </a:p>
          <a:p>
            <a:pPr indent="0" marL="0">
              <a:buNone/>
            </a:pPr>
            <a:r>
              <a:rPr lang="en-US" sz="1150" dirty="0">
                <a:solidFill>
                  <a:srgbClr val="5F6075"/>
                </a:solidFill>
                <a:latin typeface="Calibri" pitchFamily="34" charset="0"/>
                <a:ea typeface="Calibri" pitchFamily="34" charset="-122"/>
                <a:cs typeface="Calibri" pitchFamily="34" charset="-120"/>
              </a:rPr>
              <a:t>Google Font · weights 400–800 · headings 600 with tight letter-spacing · body 16px / 1.6 line height in muted grey #5F6075</a:t>
            </a:r>
            <a:endParaRPr lang="en-US" sz="1000" dirty="0"/>
          </a:p>
        </p:txBody>
      </p:sp>
      <p:sp>
        <p:nvSpPr>
          <p:cNvPr id="31" name="Shape 29"/>
          <p:cNvSpPr/>
          <p:nvPr/>
        </p:nvSpPr>
        <p:spPr>
          <a:xfrm>
            <a:off x="6583680" y="1325880"/>
            <a:ext cx="5074920" cy="4983480"/>
          </a:xfrm>
          <a:prstGeom prst="roundRect">
            <a:avLst>
              <a:gd name="adj" fmla="val 3303"/>
            </a:avLst>
          </a:prstGeom>
          <a:solidFill>
            <a:srgbClr val="F3F2FA"/>
          </a:solidFill>
          <a:ln/>
        </p:spPr>
      </p:sp>
      <p:sp>
        <p:nvSpPr>
          <p:cNvPr id="32" name="Text 30"/>
          <p:cNvSpPr txBox="1"/>
          <p:nvPr/>
        </p:nvSpPr>
        <p:spPr>
          <a:xfrm>
            <a:off x="6858000" y="1508760"/>
            <a:ext cx="4572000" cy="27432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Components &amp; motion</a:t>
            </a:r>
            <a:endParaRPr lang="en-US" sz="1400" dirty="0"/>
          </a:p>
        </p:txBody>
      </p:sp>
      <p:sp>
        <p:nvSpPr>
          <p:cNvPr id="33" name="Shape 31"/>
          <p:cNvSpPr/>
          <p:nvPr/>
        </p:nvSpPr>
        <p:spPr>
          <a:xfrm>
            <a:off x="6858000" y="1965960"/>
            <a:ext cx="753466" cy="310896"/>
          </a:xfrm>
          <a:prstGeom prst="roundRect">
            <a:avLst>
              <a:gd name="adj" fmla="val 50000"/>
            </a:avLst>
          </a:prstGeom>
          <a:solidFill>
            <a:srgbClr val="7B6CF6"/>
          </a:solidFill>
          <a:ln/>
        </p:spPr>
      </p:sp>
      <p:sp>
        <p:nvSpPr>
          <p:cNvPr id="34" name="Text 32"/>
          <p:cNvSpPr txBox="1"/>
          <p:nvPr/>
        </p:nvSpPr>
        <p:spPr>
          <a:xfrm>
            <a:off x="6858000" y="1965960"/>
            <a:ext cx="75346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Primary</a:t>
            </a:r>
            <a:endParaRPr lang="en-US" sz="1000" dirty="0"/>
          </a:p>
        </p:txBody>
      </p:sp>
      <p:sp>
        <p:nvSpPr>
          <p:cNvPr id="35" name="Shape 33"/>
          <p:cNvSpPr/>
          <p:nvPr/>
        </p:nvSpPr>
        <p:spPr>
          <a:xfrm>
            <a:off x="7748626" y="1965960"/>
            <a:ext cx="555955" cy="310896"/>
          </a:xfrm>
          <a:prstGeom prst="roundRect">
            <a:avLst>
              <a:gd name="adj" fmla="val 50000"/>
            </a:avLst>
          </a:prstGeom>
          <a:solidFill>
            <a:srgbClr val="16161F"/>
          </a:solidFill>
          <a:ln/>
        </p:spPr>
      </p:sp>
      <p:sp>
        <p:nvSpPr>
          <p:cNvPr id="36" name="Text 34"/>
          <p:cNvSpPr txBox="1"/>
          <p:nvPr/>
        </p:nvSpPr>
        <p:spPr>
          <a:xfrm>
            <a:off x="7748626" y="1965960"/>
            <a:ext cx="555955"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Dark</a:t>
            </a:r>
            <a:endParaRPr lang="en-US" sz="1000" dirty="0"/>
          </a:p>
        </p:txBody>
      </p:sp>
      <p:sp>
        <p:nvSpPr>
          <p:cNvPr id="37" name="Shape 35"/>
          <p:cNvSpPr/>
          <p:nvPr/>
        </p:nvSpPr>
        <p:spPr>
          <a:xfrm>
            <a:off x="8441741" y="1965960"/>
            <a:ext cx="753466" cy="310896"/>
          </a:xfrm>
          <a:prstGeom prst="roundRect">
            <a:avLst>
              <a:gd name="adj" fmla="val 50000"/>
            </a:avLst>
          </a:prstGeom>
          <a:solidFill>
            <a:srgbClr val="FFFFFF"/>
          </a:solidFill>
          <a:ln w="9525">
            <a:solidFill>
              <a:srgbClr val="16161F"/>
            </a:solidFill>
            <a:prstDash val="solid"/>
          </a:ln>
        </p:spPr>
      </p:sp>
      <p:sp>
        <p:nvSpPr>
          <p:cNvPr id="38" name="Text 36"/>
          <p:cNvSpPr txBox="1"/>
          <p:nvPr/>
        </p:nvSpPr>
        <p:spPr>
          <a:xfrm>
            <a:off x="8441741" y="1965960"/>
            <a:ext cx="753466" cy="310896"/>
          </a:xfrm>
          <a:prstGeom prst="rect">
            <a:avLst/>
          </a:prstGeom>
          <a:noFill/>
          <a:ln/>
        </p:spPr>
        <p:txBody>
          <a:bodyPr wrap="square" lIns="0" tIns="0" rIns="0" bIns="0" rtlCol="0" anchor="ctr"/>
          <a:lstStyle/>
          <a:p>
            <a:pPr algn="ctr" indent="0" marL="0">
              <a:buNone/>
            </a:pPr>
            <a:r>
              <a:rPr lang="en-US" sz="1000" b="1" dirty="0">
                <a:solidFill>
                  <a:srgbClr val="16161F"/>
                </a:solidFill>
                <a:latin typeface="Calibri" pitchFamily="34" charset="0"/>
                <a:ea typeface="Calibri" pitchFamily="34" charset="-122"/>
                <a:cs typeface="Calibri" pitchFamily="34" charset="-120"/>
              </a:rPr>
              <a:t>Outline</a:t>
            </a:r>
            <a:endParaRPr lang="en-US" sz="1000" dirty="0"/>
          </a:p>
        </p:txBody>
      </p:sp>
      <p:sp>
        <p:nvSpPr>
          <p:cNvPr id="39" name="Shape 37"/>
          <p:cNvSpPr/>
          <p:nvPr/>
        </p:nvSpPr>
        <p:spPr>
          <a:xfrm>
            <a:off x="9332366" y="1965960"/>
            <a:ext cx="555955" cy="310896"/>
          </a:xfrm>
          <a:prstGeom prst="roundRect">
            <a:avLst>
              <a:gd name="adj" fmla="val 50000"/>
            </a:avLst>
          </a:prstGeom>
          <a:solidFill>
            <a:srgbClr val="ECEBFF"/>
          </a:solidFill>
          <a:ln/>
        </p:spPr>
      </p:sp>
      <p:sp>
        <p:nvSpPr>
          <p:cNvPr id="40" name="Text 38"/>
          <p:cNvSpPr txBox="1"/>
          <p:nvPr/>
        </p:nvSpPr>
        <p:spPr>
          <a:xfrm>
            <a:off x="9332366" y="1965960"/>
            <a:ext cx="555955" cy="310896"/>
          </a:xfrm>
          <a:prstGeom prst="rect">
            <a:avLst/>
          </a:prstGeom>
          <a:noFill/>
          <a:ln/>
        </p:spPr>
        <p:txBody>
          <a:bodyPr wrap="square" lIns="0" tIns="0" rIns="0" bIns="0" rtlCol="0" anchor="ctr"/>
          <a:lstStyle/>
          <a:p>
            <a:pPr algn="ctr" indent="0" marL="0">
              <a:buNone/>
            </a:pPr>
            <a:r>
              <a:rPr lang="en-US" sz="1000" b="1" dirty="0">
                <a:solidFill>
                  <a:srgbClr val="16161F"/>
                </a:solidFill>
                <a:latin typeface="Calibri" pitchFamily="34" charset="0"/>
                <a:ea typeface="Calibri" pitchFamily="34" charset="-122"/>
                <a:cs typeface="Calibri" pitchFamily="34" charset="-120"/>
              </a:rPr>
              <a:t>Soft</a:t>
            </a:r>
            <a:endParaRPr lang="en-US" sz="1000" dirty="0"/>
          </a:p>
        </p:txBody>
      </p:sp>
      <p:sp>
        <p:nvSpPr>
          <p:cNvPr id="41" name="Shape 39"/>
          <p:cNvSpPr/>
          <p:nvPr/>
        </p:nvSpPr>
        <p:spPr>
          <a:xfrm>
            <a:off x="6858000" y="2514600"/>
            <a:ext cx="981608" cy="201168"/>
          </a:xfrm>
          <a:prstGeom prst="roundRect">
            <a:avLst>
              <a:gd name="adj" fmla="val 50000"/>
            </a:avLst>
          </a:prstGeom>
          <a:solidFill>
            <a:srgbClr val="ECEBFF"/>
          </a:solidFill>
          <a:ln/>
        </p:spPr>
      </p:sp>
      <p:sp>
        <p:nvSpPr>
          <p:cNvPr id="42" name="Text 40"/>
          <p:cNvSpPr txBox="1"/>
          <p:nvPr/>
        </p:nvSpPr>
        <p:spPr>
          <a:xfrm>
            <a:off x="6858000" y="2514600"/>
            <a:ext cx="981608"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EYEBROW LABEL</a:t>
            </a:r>
            <a:endParaRPr lang="en-US" sz="700" dirty="0"/>
          </a:p>
        </p:txBody>
      </p:sp>
      <p:sp>
        <p:nvSpPr>
          <p:cNvPr id="43" name="Shape 41"/>
          <p:cNvSpPr/>
          <p:nvPr/>
        </p:nvSpPr>
        <p:spPr>
          <a:xfrm>
            <a:off x="6858000" y="2880360"/>
            <a:ext cx="2240280" cy="1234440"/>
          </a:xfrm>
          <a:prstGeom prst="roundRect">
            <a:avLst>
              <a:gd name="adj" fmla="val 14815"/>
            </a:avLst>
          </a:prstGeom>
          <a:solidFill>
            <a:srgbClr val="FFFFFF"/>
          </a:solidFill>
          <a:ln w="9525">
            <a:solidFill>
              <a:srgbClr val="E4E3EF"/>
            </a:solidFill>
            <a:prstDash val="solid"/>
          </a:ln>
        </p:spPr>
      </p:sp>
      <p:sp>
        <p:nvSpPr>
          <p:cNvPr id="44" name="Text 42"/>
          <p:cNvSpPr txBox="1"/>
          <p:nvPr/>
        </p:nvSpPr>
        <p:spPr>
          <a:xfrm>
            <a:off x="7040880" y="3017520"/>
            <a:ext cx="1828800" cy="274320"/>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Light card</a:t>
            </a:r>
            <a:endParaRPr lang="en-US" sz="1100" dirty="0"/>
          </a:p>
        </p:txBody>
      </p:sp>
      <p:sp>
        <p:nvSpPr>
          <p:cNvPr id="45" name="Text 43"/>
          <p:cNvSpPr txBox="1"/>
          <p:nvPr/>
        </p:nvSpPr>
        <p:spPr>
          <a:xfrm>
            <a:off x="7040880" y="3291840"/>
            <a:ext cx="1920240" cy="548640"/>
          </a:xfrm>
          <a:prstGeom prst="rect">
            <a:avLst/>
          </a:prstGeom>
          <a:noFill/>
          <a:ln/>
        </p:spPr>
        <p:txBody>
          <a:bodyPr wrap="square" lIns="0" tIns="0" rIns="0" bIns="0" rtlCol="0" anchor="t"/>
          <a:lstStyle/>
          <a:p>
            <a:pPr indent="0" marL="0">
              <a:buNone/>
            </a:pPr>
            <a:r>
              <a:rPr lang="en-US" sz="950" dirty="0">
                <a:solidFill>
                  <a:srgbClr val="5F6075"/>
                </a:solidFill>
                <a:latin typeface="Calibri" pitchFamily="34" charset="0"/>
                <a:ea typeface="Calibri" pitchFamily="34" charset="-122"/>
                <a:cs typeface="Calibri" pitchFamily="34" charset="-120"/>
              </a:rPr>
              <a:t>22px radius, 1px border, lift on hover</a:t>
            </a:r>
            <a:endParaRPr lang="en-US" sz="950" dirty="0"/>
          </a:p>
        </p:txBody>
      </p:sp>
      <p:sp>
        <p:nvSpPr>
          <p:cNvPr id="46" name="Shape 44"/>
          <p:cNvSpPr/>
          <p:nvPr/>
        </p:nvSpPr>
        <p:spPr>
          <a:xfrm>
            <a:off x="9235440" y="2880360"/>
            <a:ext cx="2240280" cy="1234440"/>
          </a:xfrm>
          <a:prstGeom prst="roundRect">
            <a:avLst>
              <a:gd name="adj" fmla="val 14815"/>
            </a:avLst>
          </a:prstGeom>
          <a:solidFill>
            <a:srgbClr val="1B1B28"/>
          </a:solidFill>
          <a:ln/>
        </p:spPr>
      </p:sp>
      <p:sp>
        <p:nvSpPr>
          <p:cNvPr id="47" name="Text 45"/>
          <p:cNvSpPr txBox="1"/>
          <p:nvPr/>
        </p:nvSpPr>
        <p:spPr>
          <a:xfrm>
            <a:off x="9418320" y="3017520"/>
            <a:ext cx="182880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Dark card</a:t>
            </a:r>
            <a:endParaRPr lang="en-US" sz="1100" dirty="0"/>
          </a:p>
        </p:txBody>
      </p:sp>
      <p:sp>
        <p:nvSpPr>
          <p:cNvPr id="48" name="Text 46"/>
          <p:cNvSpPr txBox="1"/>
          <p:nvPr/>
        </p:nvSpPr>
        <p:spPr>
          <a:xfrm>
            <a:off x="9418320" y="3291840"/>
            <a:ext cx="1920240" cy="548640"/>
          </a:xfrm>
          <a:prstGeom prst="rect">
            <a:avLst/>
          </a:prstGeom>
          <a:noFill/>
          <a:ln/>
        </p:spPr>
        <p:txBody>
          <a:bodyPr wrap="square" lIns="0" tIns="0" rIns="0" bIns="0" rtlCol="0" anchor="t"/>
          <a:lstStyle/>
          <a:p>
            <a:pPr indent="0" marL="0">
              <a:buNone/>
            </a:pPr>
            <a:r>
              <a:rPr lang="en-US" sz="950" dirty="0">
                <a:solidFill>
                  <a:srgbClr val="A9A9C0"/>
                </a:solidFill>
                <a:latin typeface="Calibri" pitchFamily="34" charset="0"/>
                <a:ea typeface="Calibri" pitchFamily="34" charset="-122"/>
                <a:cs typeface="Calibri" pitchFamily="34" charset="-120"/>
              </a:rPr>
              <a:t>Contrast block for key items</a:t>
            </a:r>
            <a:endParaRPr lang="en-US" sz="950" dirty="0"/>
          </a:p>
        </p:txBody>
      </p:sp>
      <p:sp>
        <p:nvSpPr>
          <p:cNvPr id="49" name="Text 47"/>
          <p:cNvSpPr txBox="1"/>
          <p:nvPr/>
        </p:nvSpPr>
        <p:spPr>
          <a:xfrm>
            <a:off x="6858000" y="4343400"/>
            <a:ext cx="4572000" cy="1737360"/>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Scroll-reveal fade-up on every block</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Animated number counters</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Floating / parallax SVG layers in hero</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Dashed 'data flow' line animations</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Respects reduced-motion settings</a:t>
            </a:r>
            <a:endParaRPr lang="en-US" sz="1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What we keep, adapt and remove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FROM SAMPLE TO OMAGINFO LLC</a:t>
            </a:r>
            <a:endParaRPr lang="en-US" sz="1050" dirty="0"/>
          </a:p>
        </p:txBody>
      </p:sp>
      <p:sp>
        <p:nvSpPr>
          <p:cNvPr id="4" name="Shape 2"/>
          <p:cNvSpPr/>
          <p:nvPr/>
        </p:nvSpPr>
        <p:spPr>
          <a:xfrm>
            <a:off x="548640" y="1325880"/>
            <a:ext cx="3566160" cy="4937760"/>
          </a:xfrm>
          <a:prstGeom prst="roundRect">
            <a:avLst>
              <a:gd name="adj" fmla="val 4615"/>
            </a:avLst>
          </a:prstGeom>
          <a:solidFill>
            <a:srgbClr val="FFFFFF"/>
          </a:solidFill>
          <a:ln w="9525">
            <a:solidFill>
              <a:srgbClr val="E4E3EF"/>
            </a:solidFill>
            <a:prstDash val="solid"/>
          </a:ln>
        </p:spPr>
      </p:sp>
      <p:sp>
        <p:nvSpPr>
          <p:cNvPr id="5" name="Shape 3"/>
          <p:cNvSpPr/>
          <p:nvPr/>
        </p:nvSpPr>
        <p:spPr>
          <a:xfrm>
            <a:off x="822960" y="1554480"/>
            <a:ext cx="1097280" cy="329184"/>
          </a:xfrm>
          <a:prstGeom prst="roundRect">
            <a:avLst>
              <a:gd name="adj" fmla="val 50000"/>
            </a:avLst>
          </a:prstGeom>
          <a:solidFill>
            <a:srgbClr val="9DF0D4"/>
          </a:solidFill>
          <a:ln/>
        </p:spPr>
      </p:sp>
      <p:sp>
        <p:nvSpPr>
          <p:cNvPr id="6" name="Text 4"/>
          <p:cNvSpPr txBox="1"/>
          <p:nvPr/>
        </p:nvSpPr>
        <p:spPr>
          <a:xfrm>
            <a:off x="822960" y="1554480"/>
            <a:ext cx="1097280" cy="329184"/>
          </a:xfrm>
          <a:prstGeom prst="rect">
            <a:avLst/>
          </a:prstGeom>
          <a:noFill/>
          <a:ln/>
        </p:spPr>
        <p:txBody>
          <a:bodyPr wrap="square" lIns="0" tIns="0" rIns="0" bIns="0" rtlCol="0" anchor="ctr"/>
          <a:lstStyle/>
          <a:p>
            <a:pPr algn="ctr" indent="0" marL="0">
              <a:buNone/>
            </a:pPr>
            <a:r>
              <a:rPr lang="en-US" sz="1300" b="1" dirty="0">
                <a:solidFill>
                  <a:srgbClr val="0F5A44"/>
                </a:solidFill>
                <a:latin typeface="Calibri" pitchFamily="34" charset="0"/>
                <a:ea typeface="Calibri" pitchFamily="34" charset="-122"/>
                <a:cs typeface="Calibri" pitchFamily="34" charset="-120"/>
              </a:rPr>
              <a:t>Keep</a:t>
            </a:r>
            <a:endParaRPr lang="en-US" sz="1300" dirty="0"/>
          </a:p>
        </p:txBody>
      </p:sp>
      <p:sp>
        <p:nvSpPr>
          <p:cNvPr id="7" name="Text 5"/>
          <p:cNvSpPr txBox="1"/>
          <p:nvPr/>
        </p:nvSpPr>
        <p:spPr>
          <a:xfrm>
            <a:off x="822960" y="2103120"/>
            <a:ext cx="3063240" cy="402336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Overall layout grid, spacing and rounded-card style</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Sticky navbar with mobile slide-in menu</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Bento card grids for services</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Founder card format</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Two-column contact section and form validation</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Scroll-reveal motion and reduced-motion support</a:t>
            </a:r>
            <a:endParaRPr lang="en-US" sz="1300" dirty="0"/>
          </a:p>
        </p:txBody>
      </p:sp>
      <p:sp>
        <p:nvSpPr>
          <p:cNvPr id="8" name="Shape 6"/>
          <p:cNvSpPr/>
          <p:nvPr/>
        </p:nvSpPr>
        <p:spPr>
          <a:xfrm>
            <a:off x="4297680" y="1325880"/>
            <a:ext cx="3566160" cy="4937760"/>
          </a:xfrm>
          <a:prstGeom prst="roundRect">
            <a:avLst>
              <a:gd name="adj" fmla="val 4615"/>
            </a:avLst>
          </a:prstGeom>
          <a:solidFill>
            <a:srgbClr val="F3F2FA"/>
          </a:solidFill>
          <a:ln w="9525">
            <a:solidFill>
              <a:srgbClr val="E4E3EF"/>
            </a:solidFill>
            <a:prstDash val="solid"/>
          </a:ln>
        </p:spPr>
      </p:sp>
      <p:sp>
        <p:nvSpPr>
          <p:cNvPr id="9" name="Shape 7"/>
          <p:cNvSpPr/>
          <p:nvPr/>
        </p:nvSpPr>
        <p:spPr>
          <a:xfrm>
            <a:off x="4572000" y="1554480"/>
            <a:ext cx="1097280" cy="329184"/>
          </a:xfrm>
          <a:prstGeom prst="roundRect">
            <a:avLst>
              <a:gd name="adj" fmla="val 50000"/>
            </a:avLst>
          </a:prstGeom>
          <a:solidFill>
            <a:srgbClr val="ECEBFF"/>
          </a:solidFill>
          <a:ln/>
        </p:spPr>
      </p:sp>
      <p:sp>
        <p:nvSpPr>
          <p:cNvPr id="10" name="Text 8"/>
          <p:cNvSpPr txBox="1"/>
          <p:nvPr/>
        </p:nvSpPr>
        <p:spPr>
          <a:xfrm>
            <a:off x="4572000" y="1554480"/>
            <a:ext cx="1097280" cy="329184"/>
          </a:xfrm>
          <a:prstGeom prst="rect">
            <a:avLst/>
          </a:prstGeom>
          <a:noFill/>
          <a:ln/>
        </p:spPr>
        <p:txBody>
          <a:bodyPr wrap="square" lIns="0" tIns="0" rIns="0" bIns="0" rtlCol="0" anchor="ctr"/>
          <a:lstStyle/>
          <a:p>
            <a:pPr algn="ctr" indent="0" marL="0">
              <a:buNone/>
            </a:pPr>
            <a:r>
              <a:rPr lang="en-US" sz="1300" b="1" dirty="0">
                <a:solidFill>
                  <a:srgbClr val="7B6CF6"/>
                </a:solidFill>
                <a:latin typeface="Calibri" pitchFamily="34" charset="0"/>
                <a:ea typeface="Calibri" pitchFamily="34" charset="-122"/>
                <a:cs typeface="Calibri" pitchFamily="34" charset="-120"/>
              </a:rPr>
              <a:t>Adapt</a:t>
            </a:r>
            <a:endParaRPr lang="en-US" sz="1300" dirty="0"/>
          </a:p>
        </p:txBody>
      </p:sp>
      <p:sp>
        <p:nvSpPr>
          <p:cNvPr id="11" name="Text 9"/>
          <p:cNvSpPr txBox="1"/>
          <p:nvPr/>
        </p:nvSpPr>
        <p:spPr>
          <a:xfrm>
            <a:off x="4572000" y="2103120"/>
            <a:ext cx="3063240" cy="402336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Single page → 6-page site with a Services dropdown</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5G tower art → globe / voice &amp; SMS route illustrations</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Timeline → 'Our Story' text (no dates supplied)</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Stat chips → company values from the document</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Enquiry toggle → Voice / SMS / Partnership / General ✱</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Network status panel → LinkedIn + office details</a:t>
            </a:r>
            <a:endParaRPr lang="en-US" sz="1300" dirty="0"/>
          </a:p>
        </p:txBody>
      </p:sp>
      <p:sp>
        <p:nvSpPr>
          <p:cNvPr id="12" name="Shape 10"/>
          <p:cNvSpPr/>
          <p:nvPr/>
        </p:nvSpPr>
        <p:spPr>
          <a:xfrm>
            <a:off x="8046720" y="1325880"/>
            <a:ext cx="3566160" cy="4937760"/>
          </a:xfrm>
          <a:prstGeom prst="roundRect">
            <a:avLst>
              <a:gd name="adj" fmla="val 4615"/>
            </a:avLst>
          </a:prstGeom>
          <a:solidFill>
            <a:srgbClr val="FFFFFF"/>
          </a:solidFill>
          <a:ln w="9525">
            <a:solidFill>
              <a:srgbClr val="E4E3EF"/>
            </a:solidFill>
            <a:prstDash val="solid"/>
          </a:ln>
        </p:spPr>
      </p:sp>
      <p:sp>
        <p:nvSpPr>
          <p:cNvPr id="13" name="Shape 11"/>
          <p:cNvSpPr/>
          <p:nvPr/>
        </p:nvSpPr>
        <p:spPr>
          <a:xfrm>
            <a:off x="8321040" y="1554480"/>
            <a:ext cx="1097280" cy="329184"/>
          </a:xfrm>
          <a:prstGeom prst="roundRect">
            <a:avLst>
              <a:gd name="adj" fmla="val 50000"/>
            </a:avLst>
          </a:prstGeom>
          <a:solidFill>
            <a:srgbClr val="FDE9D3"/>
          </a:solidFill>
          <a:ln/>
        </p:spPr>
      </p:sp>
      <p:sp>
        <p:nvSpPr>
          <p:cNvPr id="14" name="Text 12"/>
          <p:cNvSpPr txBox="1"/>
          <p:nvPr/>
        </p:nvSpPr>
        <p:spPr>
          <a:xfrm>
            <a:off x="8321040" y="1554480"/>
            <a:ext cx="1097280" cy="329184"/>
          </a:xfrm>
          <a:prstGeom prst="rect">
            <a:avLst/>
          </a:prstGeom>
          <a:noFill/>
          <a:ln/>
        </p:spPr>
        <p:txBody>
          <a:bodyPr wrap="square" lIns="0" tIns="0" rIns="0" bIns="0" rtlCol="0" anchor="ctr"/>
          <a:lstStyle/>
          <a:p>
            <a:pPr algn="ctr" indent="0" marL="0">
              <a:buNone/>
            </a:pPr>
            <a:r>
              <a:rPr lang="en-US" sz="1300" b="1" dirty="0">
                <a:solidFill>
                  <a:srgbClr val="A0561C"/>
                </a:solidFill>
                <a:latin typeface="Calibri" pitchFamily="34" charset="0"/>
                <a:ea typeface="Calibri" pitchFamily="34" charset="-122"/>
                <a:cs typeface="Calibri" pitchFamily="34" charset="-120"/>
              </a:rPr>
              <a:t>Remove</a:t>
            </a:r>
            <a:endParaRPr lang="en-US" sz="1300" dirty="0"/>
          </a:p>
        </p:txBody>
      </p:sp>
      <p:sp>
        <p:nvSpPr>
          <p:cNvPr id="15" name="Text 13"/>
          <p:cNvSpPr txBox="1"/>
          <p:nvPr/>
        </p:nvSpPr>
        <p:spPr>
          <a:xfrm>
            <a:off x="8321040" y="2103120"/>
            <a:ext cx="3063240" cy="402336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Orbitel name, logo and all lorem-ipsum text</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Sample services: 5G, fibre, cloud, security, IoT</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Sample figures: 99.9%, 2M+, 10 Gbps, 12 yrs, 40k+, 850+</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Sample price ₹499/mo and sample founders</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Sample phone, email, address and hours</a:t>
            </a:r>
            <a:endParaRPr lang="en-US" sz="1300" dirty="0"/>
          </a:p>
          <a:p>
            <a:pPr marL="152400" indent="-152400">
              <a:spcAft>
                <a:spcPts val="800"/>
              </a:spcAft>
              <a:buSzPct val="100000"/>
              <a:buChar char="•"/>
            </a:pPr>
            <a:r>
              <a:rPr lang="en-US" sz="1300" dirty="0">
                <a:solidFill>
                  <a:srgbClr val="16161F"/>
                </a:solidFill>
                <a:latin typeface="Calibri" pitchFamily="34" charset="0"/>
                <a:ea typeface="Calibri" pitchFamily="34" charset="-122"/>
                <a:cs typeface="Calibri" pitchFamily="34" charset="-120"/>
              </a:rPr>
              <a:t>Login button and newsletter (unless confirmed)</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Proposed sitemap</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INFORMATION ARCHITECTURE</a:t>
            </a:r>
            <a:endParaRPr lang="en-US" sz="1050" dirty="0"/>
          </a:p>
        </p:txBody>
      </p:sp>
      <p:sp>
        <p:nvSpPr>
          <p:cNvPr id="4" name="Shape 2"/>
          <p:cNvSpPr/>
          <p:nvPr/>
        </p:nvSpPr>
        <p:spPr>
          <a:xfrm>
            <a:off x="4956048" y="1280160"/>
            <a:ext cx="2286000" cy="777240"/>
          </a:xfrm>
          <a:prstGeom prst="roundRect">
            <a:avLst>
              <a:gd name="adj" fmla="val 16471"/>
            </a:avLst>
          </a:prstGeom>
          <a:solidFill>
            <a:srgbClr val="16161F"/>
          </a:solidFill>
          <a:ln/>
        </p:spPr>
      </p:sp>
      <p:sp>
        <p:nvSpPr>
          <p:cNvPr id="5" name="Text 3"/>
          <p:cNvSpPr txBox="1"/>
          <p:nvPr/>
        </p:nvSpPr>
        <p:spPr>
          <a:xfrm>
            <a:off x="4956048" y="1389888"/>
            <a:ext cx="2286000" cy="292608"/>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Home</a:t>
            </a:r>
            <a:endParaRPr lang="en-US" sz="1400" dirty="0"/>
          </a:p>
        </p:txBody>
      </p:sp>
      <p:sp>
        <p:nvSpPr>
          <p:cNvPr id="6" name="Text 4"/>
          <p:cNvSpPr txBox="1"/>
          <p:nvPr/>
        </p:nvSpPr>
        <p:spPr>
          <a:xfrm>
            <a:off x="5065776" y="1691640"/>
            <a:ext cx="2066544" cy="320040"/>
          </a:xfrm>
          <a:prstGeom prst="rect">
            <a:avLst/>
          </a:prstGeom>
          <a:noFill/>
          <a:ln/>
        </p:spPr>
        <p:txBody>
          <a:bodyPr wrap="square" lIns="0" tIns="0" rIns="0" bIns="0" rtlCol="0" anchor="t"/>
          <a:lstStyle/>
          <a:p>
            <a:pPr algn="ctr" indent="0" marL="0">
              <a:buNone/>
            </a:pPr>
            <a:r>
              <a:rPr lang="en-US" sz="1000" dirty="0">
                <a:solidFill>
                  <a:srgbClr val="C9C9DA"/>
                </a:solidFill>
                <a:latin typeface="Calibri" pitchFamily="34" charset="0"/>
                <a:ea typeface="Calibri" pitchFamily="34" charset="-122"/>
                <a:cs typeface="Calibri" pitchFamily="34" charset="-120"/>
              </a:rPr>
              <a:t>omaginfo.com /</a:t>
            </a:r>
            <a:endParaRPr lang="en-US" sz="1000" dirty="0"/>
          </a:p>
        </p:txBody>
      </p:sp>
      <p:sp>
        <p:nvSpPr>
          <p:cNvPr id="7" name="Shape 5"/>
          <p:cNvSpPr/>
          <p:nvPr/>
        </p:nvSpPr>
        <p:spPr>
          <a:xfrm>
            <a:off x="6099048" y="2057400"/>
            <a:ext cx="914" cy="411480"/>
          </a:xfrm>
          <a:prstGeom prst="line">
            <a:avLst/>
          </a:prstGeom>
          <a:noFill/>
          <a:ln w="19050">
            <a:solidFill>
              <a:srgbClr val="B3A8FF"/>
            </a:solidFill>
            <a:prstDash val="solid"/>
          </a:ln>
        </p:spPr>
      </p:sp>
      <p:sp>
        <p:nvSpPr>
          <p:cNvPr id="8" name="Shape 6"/>
          <p:cNvSpPr/>
          <p:nvPr/>
        </p:nvSpPr>
        <p:spPr>
          <a:xfrm>
            <a:off x="2331720" y="2468880"/>
            <a:ext cx="7543800" cy="914"/>
          </a:xfrm>
          <a:prstGeom prst="line">
            <a:avLst/>
          </a:prstGeom>
          <a:noFill/>
          <a:ln w="19050">
            <a:solidFill>
              <a:srgbClr val="B3A8FF"/>
            </a:solidFill>
            <a:prstDash val="solid"/>
          </a:ln>
        </p:spPr>
      </p:sp>
      <p:sp>
        <p:nvSpPr>
          <p:cNvPr id="9" name="Shape 7"/>
          <p:cNvSpPr/>
          <p:nvPr/>
        </p:nvSpPr>
        <p:spPr>
          <a:xfrm>
            <a:off x="2331720" y="2468880"/>
            <a:ext cx="914" cy="274320"/>
          </a:xfrm>
          <a:prstGeom prst="line">
            <a:avLst/>
          </a:prstGeom>
          <a:noFill/>
          <a:ln w="19050">
            <a:solidFill>
              <a:srgbClr val="B3A8FF"/>
            </a:solidFill>
            <a:prstDash val="solid"/>
          </a:ln>
        </p:spPr>
      </p:sp>
      <p:sp>
        <p:nvSpPr>
          <p:cNvPr id="10" name="Shape 8"/>
          <p:cNvSpPr/>
          <p:nvPr/>
        </p:nvSpPr>
        <p:spPr>
          <a:xfrm>
            <a:off x="1188720" y="2743200"/>
            <a:ext cx="2286000" cy="960120"/>
          </a:xfrm>
          <a:prstGeom prst="roundRect">
            <a:avLst>
              <a:gd name="adj" fmla="val 13333"/>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11" name="Text 9"/>
          <p:cNvSpPr txBox="1"/>
          <p:nvPr/>
        </p:nvSpPr>
        <p:spPr>
          <a:xfrm>
            <a:off x="1188720" y="2852928"/>
            <a:ext cx="2286000" cy="292608"/>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About Us</a:t>
            </a:r>
            <a:endParaRPr lang="en-US" sz="1400" dirty="0"/>
          </a:p>
        </p:txBody>
      </p:sp>
      <p:sp>
        <p:nvSpPr>
          <p:cNvPr id="12" name="Text 10"/>
          <p:cNvSpPr txBox="1"/>
          <p:nvPr/>
        </p:nvSpPr>
        <p:spPr>
          <a:xfrm>
            <a:off x="1298448" y="3154680"/>
            <a:ext cx="2066544" cy="502920"/>
          </a:xfrm>
          <a:prstGeom prst="rect">
            <a:avLst/>
          </a:prstGeom>
          <a:noFill/>
          <a:ln/>
        </p:spPr>
        <p:txBody>
          <a:bodyPr wrap="square" lIns="0" tIns="0" rIns="0" bIns="0" rtlCol="0" anchor="t"/>
          <a:lstStyle/>
          <a:p>
            <a:pPr algn="ctr" indent="0" marL="0">
              <a:buNone/>
            </a:pPr>
            <a:r>
              <a:rPr lang="en-US" sz="1000" dirty="0">
                <a:solidFill>
                  <a:srgbClr val="5F6075"/>
                </a:solidFill>
                <a:latin typeface="Calibri" pitchFamily="34" charset="0"/>
                <a:ea typeface="Calibri" pitchFamily="34" charset="-122"/>
                <a:cs typeface="Calibri" pitchFamily="34" charset="-120"/>
              </a:rPr>
              <a:t>Story · Mission &amp; Vision · Leadership</a:t>
            </a:r>
            <a:endParaRPr lang="en-US" sz="1000" dirty="0"/>
          </a:p>
        </p:txBody>
      </p:sp>
      <p:sp>
        <p:nvSpPr>
          <p:cNvPr id="13" name="Shape 11"/>
          <p:cNvSpPr/>
          <p:nvPr/>
        </p:nvSpPr>
        <p:spPr>
          <a:xfrm>
            <a:off x="6099048" y="2468880"/>
            <a:ext cx="914" cy="274320"/>
          </a:xfrm>
          <a:prstGeom prst="line">
            <a:avLst/>
          </a:prstGeom>
          <a:noFill/>
          <a:ln w="19050">
            <a:solidFill>
              <a:srgbClr val="B3A8FF"/>
            </a:solidFill>
            <a:prstDash val="solid"/>
          </a:ln>
        </p:spPr>
      </p:sp>
      <p:sp>
        <p:nvSpPr>
          <p:cNvPr id="14" name="Shape 12"/>
          <p:cNvSpPr/>
          <p:nvPr/>
        </p:nvSpPr>
        <p:spPr>
          <a:xfrm>
            <a:off x="4956048" y="2743200"/>
            <a:ext cx="2286000" cy="960120"/>
          </a:xfrm>
          <a:prstGeom prst="roundRect">
            <a:avLst>
              <a:gd name="adj" fmla="val 13333"/>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15" name="Text 13"/>
          <p:cNvSpPr txBox="1"/>
          <p:nvPr/>
        </p:nvSpPr>
        <p:spPr>
          <a:xfrm>
            <a:off x="4956048" y="2852928"/>
            <a:ext cx="2286000" cy="292608"/>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Services</a:t>
            </a:r>
            <a:endParaRPr lang="en-US" sz="1400" dirty="0"/>
          </a:p>
        </p:txBody>
      </p:sp>
      <p:sp>
        <p:nvSpPr>
          <p:cNvPr id="16" name="Text 14"/>
          <p:cNvSpPr txBox="1"/>
          <p:nvPr/>
        </p:nvSpPr>
        <p:spPr>
          <a:xfrm>
            <a:off x="5065776" y="3154680"/>
            <a:ext cx="2066544" cy="502920"/>
          </a:xfrm>
          <a:prstGeom prst="rect">
            <a:avLst/>
          </a:prstGeom>
          <a:noFill/>
          <a:ln/>
        </p:spPr>
        <p:txBody>
          <a:bodyPr wrap="square" lIns="0" tIns="0" rIns="0" bIns="0" rtlCol="0" anchor="t"/>
          <a:lstStyle/>
          <a:p>
            <a:pPr algn="ctr" indent="0" marL="0">
              <a:buNone/>
            </a:pPr>
            <a:r>
              <a:rPr lang="en-US" sz="1000" dirty="0">
                <a:solidFill>
                  <a:srgbClr val="5F6075"/>
                </a:solidFill>
                <a:latin typeface="Calibri" pitchFamily="34" charset="0"/>
                <a:ea typeface="Calibri" pitchFamily="34" charset="-122"/>
                <a:cs typeface="Calibri" pitchFamily="34" charset="-120"/>
              </a:rPr>
              <a:t>Overview of all five services</a:t>
            </a:r>
            <a:endParaRPr lang="en-US" sz="1000" dirty="0"/>
          </a:p>
        </p:txBody>
      </p:sp>
      <p:sp>
        <p:nvSpPr>
          <p:cNvPr id="17" name="Shape 15"/>
          <p:cNvSpPr/>
          <p:nvPr/>
        </p:nvSpPr>
        <p:spPr>
          <a:xfrm>
            <a:off x="9875520" y="2468880"/>
            <a:ext cx="914" cy="274320"/>
          </a:xfrm>
          <a:prstGeom prst="line">
            <a:avLst/>
          </a:prstGeom>
          <a:noFill/>
          <a:ln w="19050">
            <a:solidFill>
              <a:srgbClr val="B3A8FF"/>
            </a:solidFill>
            <a:prstDash val="solid"/>
          </a:ln>
        </p:spPr>
      </p:sp>
      <p:sp>
        <p:nvSpPr>
          <p:cNvPr id="18" name="Shape 16"/>
          <p:cNvSpPr/>
          <p:nvPr/>
        </p:nvSpPr>
        <p:spPr>
          <a:xfrm>
            <a:off x="8732520" y="2743200"/>
            <a:ext cx="2286000" cy="960120"/>
          </a:xfrm>
          <a:prstGeom prst="roundRect">
            <a:avLst>
              <a:gd name="adj" fmla="val 13333"/>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19" name="Text 17"/>
          <p:cNvSpPr txBox="1"/>
          <p:nvPr/>
        </p:nvSpPr>
        <p:spPr>
          <a:xfrm>
            <a:off x="8732520" y="2852928"/>
            <a:ext cx="2286000" cy="292608"/>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Contact Us</a:t>
            </a:r>
            <a:endParaRPr lang="en-US" sz="1400" dirty="0"/>
          </a:p>
        </p:txBody>
      </p:sp>
      <p:sp>
        <p:nvSpPr>
          <p:cNvPr id="20" name="Text 18"/>
          <p:cNvSpPr txBox="1"/>
          <p:nvPr/>
        </p:nvSpPr>
        <p:spPr>
          <a:xfrm>
            <a:off x="8842248" y="3154680"/>
            <a:ext cx="2066544" cy="502920"/>
          </a:xfrm>
          <a:prstGeom prst="rect">
            <a:avLst/>
          </a:prstGeom>
          <a:noFill/>
          <a:ln/>
        </p:spPr>
        <p:txBody>
          <a:bodyPr wrap="square" lIns="0" tIns="0" rIns="0" bIns="0" rtlCol="0" anchor="t"/>
          <a:lstStyle/>
          <a:p>
            <a:pPr algn="ctr" indent="0" marL="0">
              <a:buNone/>
            </a:pPr>
            <a:r>
              <a:rPr lang="en-US" sz="1000" dirty="0">
                <a:solidFill>
                  <a:srgbClr val="5F6075"/>
                </a:solidFill>
                <a:latin typeface="Calibri" pitchFamily="34" charset="0"/>
                <a:ea typeface="Calibri" pitchFamily="34" charset="-122"/>
                <a:cs typeface="Calibri" pitchFamily="34" charset="-120"/>
              </a:rPr>
              <a:t>Enquiry form · Contact details</a:t>
            </a:r>
            <a:endParaRPr lang="en-US" sz="1000" dirty="0"/>
          </a:p>
        </p:txBody>
      </p:sp>
      <p:sp>
        <p:nvSpPr>
          <p:cNvPr id="21" name="Shape 19"/>
          <p:cNvSpPr/>
          <p:nvPr/>
        </p:nvSpPr>
        <p:spPr>
          <a:xfrm>
            <a:off x="6099048" y="3703320"/>
            <a:ext cx="914" cy="274320"/>
          </a:xfrm>
          <a:prstGeom prst="line">
            <a:avLst/>
          </a:prstGeom>
          <a:noFill/>
          <a:ln w="19050">
            <a:solidFill>
              <a:srgbClr val="B3A8FF"/>
            </a:solidFill>
            <a:prstDash val="solid"/>
          </a:ln>
        </p:spPr>
      </p:sp>
      <p:sp>
        <p:nvSpPr>
          <p:cNvPr id="22" name="Shape 20"/>
          <p:cNvSpPr/>
          <p:nvPr/>
        </p:nvSpPr>
        <p:spPr>
          <a:xfrm>
            <a:off x="4572000" y="3977640"/>
            <a:ext cx="3063240" cy="914"/>
          </a:xfrm>
          <a:prstGeom prst="line">
            <a:avLst/>
          </a:prstGeom>
          <a:noFill/>
          <a:ln w="19050">
            <a:solidFill>
              <a:srgbClr val="B3A8FF"/>
            </a:solidFill>
            <a:prstDash val="solid"/>
          </a:ln>
        </p:spPr>
      </p:sp>
      <p:sp>
        <p:nvSpPr>
          <p:cNvPr id="23" name="Shape 21"/>
          <p:cNvSpPr/>
          <p:nvPr/>
        </p:nvSpPr>
        <p:spPr>
          <a:xfrm>
            <a:off x="4572000" y="3977640"/>
            <a:ext cx="914" cy="228600"/>
          </a:xfrm>
          <a:prstGeom prst="line">
            <a:avLst/>
          </a:prstGeom>
          <a:noFill/>
          <a:ln w="19050">
            <a:solidFill>
              <a:srgbClr val="B3A8FF"/>
            </a:solidFill>
            <a:prstDash val="solid"/>
          </a:ln>
        </p:spPr>
      </p:sp>
      <p:sp>
        <p:nvSpPr>
          <p:cNvPr id="24" name="Shape 22"/>
          <p:cNvSpPr/>
          <p:nvPr/>
        </p:nvSpPr>
        <p:spPr>
          <a:xfrm>
            <a:off x="7635240" y="3977640"/>
            <a:ext cx="914" cy="228600"/>
          </a:xfrm>
          <a:prstGeom prst="line">
            <a:avLst/>
          </a:prstGeom>
          <a:noFill/>
          <a:ln w="19050">
            <a:solidFill>
              <a:srgbClr val="B3A8FF"/>
            </a:solidFill>
            <a:prstDash val="solid"/>
          </a:ln>
        </p:spPr>
      </p:sp>
      <p:sp>
        <p:nvSpPr>
          <p:cNvPr id="25" name="Shape 23"/>
          <p:cNvSpPr/>
          <p:nvPr/>
        </p:nvSpPr>
        <p:spPr>
          <a:xfrm>
            <a:off x="3429000" y="4206240"/>
            <a:ext cx="2286000" cy="960120"/>
          </a:xfrm>
          <a:prstGeom prst="roundRect">
            <a:avLst>
              <a:gd name="adj" fmla="val 13333"/>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26" name="Text 24"/>
          <p:cNvSpPr txBox="1"/>
          <p:nvPr/>
        </p:nvSpPr>
        <p:spPr>
          <a:xfrm>
            <a:off x="3429000" y="4315968"/>
            <a:ext cx="2286000" cy="292608"/>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VoIP &amp; Voice</a:t>
            </a:r>
            <a:endParaRPr lang="en-US" sz="1400" dirty="0"/>
          </a:p>
        </p:txBody>
      </p:sp>
      <p:sp>
        <p:nvSpPr>
          <p:cNvPr id="27" name="Text 25"/>
          <p:cNvSpPr txBox="1"/>
          <p:nvPr/>
        </p:nvSpPr>
        <p:spPr>
          <a:xfrm>
            <a:off x="3538728" y="4617720"/>
            <a:ext cx="2066544" cy="502920"/>
          </a:xfrm>
          <a:prstGeom prst="rect">
            <a:avLst/>
          </a:prstGeom>
          <a:noFill/>
          <a:ln/>
        </p:spPr>
        <p:txBody>
          <a:bodyPr wrap="square" lIns="0" tIns="0" rIns="0" bIns="0" rtlCol="0" anchor="t"/>
          <a:lstStyle/>
          <a:p>
            <a:pPr algn="ctr" indent="0" marL="0">
              <a:buNone/>
            </a:pPr>
            <a:r>
              <a:rPr lang="en-US" sz="1000" dirty="0">
                <a:solidFill>
                  <a:srgbClr val="5F6075"/>
                </a:solidFill>
                <a:latin typeface="Calibri" pitchFamily="34" charset="0"/>
                <a:ea typeface="Calibri" pitchFamily="34" charset="-122"/>
                <a:cs typeface="Calibri" pitchFamily="34" charset="-120"/>
              </a:rPr>
              <a:t>International voice termination page</a:t>
            </a:r>
            <a:endParaRPr lang="en-US" sz="1000" dirty="0"/>
          </a:p>
        </p:txBody>
      </p:sp>
      <p:sp>
        <p:nvSpPr>
          <p:cNvPr id="28" name="Shape 26"/>
          <p:cNvSpPr/>
          <p:nvPr/>
        </p:nvSpPr>
        <p:spPr>
          <a:xfrm>
            <a:off x="6492240" y="4206240"/>
            <a:ext cx="2286000" cy="960120"/>
          </a:xfrm>
          <a:prstGeom prst="roundRect">
            <a:avLst>
              <a:gd name="adj" fmla="val 13333"/>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29" name="Text 27"/>
          <p:cNvSpPr txBox="1"/>
          <p:nvPr/>
        </p:nvSpPr>
        <p:spPr>
          <a:xfrm>
            <a:off x="6492240" y="4315968"/>
            <a:ext cx="2286000" cy="292608"/>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SMS Connectivity</a:t>
            </a:r>
            <a:endParaRPr lang="en-US" sz="1400" dirty="0"/>
          </a:p>
        </p:txBody>
      </p:sp>
      <p:sp>
        <p:nvSpPr>
          <p:cNvPr id="30" name="Text 28"/>
          <p:cNvSpPr txBox="1"/>
          <p:nvPr/>
        </p:nvSpPr>
        <p:spPr>
          <a:xfrm>
            <a:off x="6601968" y="4617720"/>
            <a:ext cx="2066544" cy="502920"/>
          </a:xfrm>
          <a:prstGeom prst="rect">
            <a:avLst/>
          </a:prstGeom>
          <a:noFill/>
          <a:ln/>
        </p:spPr>
        <p:txBody>
          <a:bodyPr wrap="square" lIns="0" tIns="0" rIns="0" bIns="0" rtlCol="0" anchor="t"/>
          <a:lstStyle/>
          <a:p>
            <a:pPr algn="ctr" indent="0" marL="0">
              <a:buNone/>
            </a:pPr>
            <a:r>
              <a:rPr lang="en-US" sz="1000" dirty="0">
                <a:solidFill>
                  <a:srgbClr val="5F6075"/>
                </a:solidFill>
                <a:latin typeface="Calibri" pitchFamily="34" charset="0"/>
                <a:ea typeface="Calibri" pitchFamily="34" charset="-122"/>
                <a:cs typeface="Calibri" pitchFamily="34" charset="-120"/>
              </a:rPr>
              <a:t>A2P messaging page</a:t>
            </a:r>
            <a:endParaRPr lang="en-US" sz="1000" dirty="0"/>
          </a:p>
        </p:txBody>
      </p:sp>
      <p:sp>
        <p:nvSpPr>
          <p:cNvPr id="31" name="Shape 29"/>
          <p:cNvSpPr/>
          <p:nvPr/>
        </p:nvSpPr>
        <p:spPr>
          <a:xfrm>
            <a:off x="548640" y="5440680"/>
            <a:ext cx="11109960" cy="777240"/>
          </a:xfrm>
          <a:prstGeom prst="roundRect">
            <a:avLst>
              <a:gd name="adj" fmla="val 14118"/>
            </a:avLst>
          </a:prstGeom>
          <a:solidFill>
            <a:srgbClr val="F3F2FA"/>
          </a:solidFill>
          <a:ln/>
        </p:spPr>
      </p:sp>
      <p:sp>
        <p:nvSpPr>
          <p:cNvPr id="32" name="Text 30"/>
          <p:cNvSpPr txBox="1"/>
          <p:nvPr/>
        </p:nvSpPr>
        <p:spPr>
          <a:xfrm>
            <a:off x="777240" y="5440680"/>
            <a:ext cx="10698480" cy="77724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Footer / utility pages:  </a:t>
            </a:r>
            <a:pPr indent="0" marL="0">
              <a:buNone/>
            </a:pPr>
            <a:r>
              <a:rPr lang="en-US" sz="1200" dirty="0">
                <a:solidFill>
                  <a:srgbClr val="5F6075"/>
                </a:solidFill>
                <a:latin typeface="Calibri" pitchFamily="34" charset="0"/>
                <a:ea typeface="Calibri" pitchFamily="34" charset="-122"/>
                <a:cs typeface="Calibri" pitchFamily="34" charset="-120"/>
              </a:rPr>
              <a:t>Privacy Policy · Terms of Use (content TBC).  </a:t>
            </a:r>
            <a:pPr indent="0" marL="0">
              <a:buNone/>
            </a:pPr>
            <a:r>
              <a:rPr lang="en-US" sz="1200" b="1" dirty="0">
                <a:solidFill>
                  <a:srgbClr val="16161F"/>
                </a:solidFill>
                <a:latin typeface="Calibri" pitchFamily="34" charset="0"/>
                <a:ea typeface="Calibri" pitchFamily="34" charset="-122"/>
                <a:cs typeface="Calibri" pitchFamily="34" charset="-120"/>
              </a:rPr>
              <a:t>Main menu: </a:t>
            </a:r>
            <a:pPr indent="0" marL="0">
              <a:buNone/>
            </a:pPr>
            <a:r>
              <a:rPr lang="en-US" sz="1200" dirty="0">
                <a:solidFill>
                  <a:srgbClr val="5F6075"/>
                </a:solidFill>
                <a:latin typeface="Calibri" pitchFamily="34" charset="0"/>
                <a:ea typeface="Calibri" pitchFamily="34" charset="-122"/>
                <a:cs typeface="Calibri" pitchFamily="34" charset="-120"/>
              </a:rPr>
              <a:t>Home · About Us · Services ▾ (VoIP &amp; Voice, SMS) · Contact Us + Partner with Us ✱</a:t>
            </a:r>
            <a:endParaRPr lang="en-US" sz="1200" dirty="0"/>
          </a:p>
        </p:txBody>
      </p:sp>
      <p:sp>
        <p:nvSpPr>
          <p:cNvPr id="33" name="Text 31"/>
          <p:cNvSpPr txBox="1"/>
          <p:nvPr/>
        </p:nvSpPr>
        <p:spPr>
          <a:xfrm>
            <a:off x="548640" y="1325880"/>
            <a:ext cx="4114800" cy="100584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The client document provides separate content for VoIP and SMS, so each gets its own page; the remaining three services sit on the Services overview.</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Same modern look, re-themed for global voice &amp; messaging</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VISUAL DIRECTION</a:t>
            </a:r>
            <a:endParaRPr lang="en-US" sz="1050" dirty="0"/>
          </a:p>
        </p:txBody>
      </p:sp>
      <p:sp>
        <p:nvSpPr>
          <p:cNvPr id="4" name="Shape 2"/>
          <p:cNvSpPr/>
          <p:nvPr/>
        </p:nvSpPr>
        <p:spPr>
          <a:xfrm>
            <a:off x="548640" y="1325880"/>
            <a:ext cx="3566160" cy="2331720"/>
          </a:xfrm>
          <a:prstGeom prst="roundRect">
            <a:avLst>
              <a:gd name="adj" fmla="val 7059"/>
            </a:avLst>
          </a:prstGeom>
          <a:solidFill>
            <a:srgbClr val="F3F2FA"/>
          </a:solidFill>
          <a:ln/>
        </p:spPr>
      </p:sp>
      <p:sp>
        <p:nvSpPr>
          <p:cNvPr id="5" name="Shape 3"/>
          <p:cNvSpPr/>
          <p:nvPr/>
        </p:nvSpPr>
        <p:spPr>
          <a:xfrm>
            <a:off x="822960" y="1600200"/>
            <a:ext cx="457200" cy="45720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41832" y="1719072"/>
            <a:ext cx="219456" cy="219456"/>
          </a:xfrm>
          <a:prstGeom prst="rect">
            <a:avLst/>
          </a:prstGeom>
        </p:spPr>
      </p:pic>
      <p:sp>
        <p:nvSpPr>
          <p:cNvPr id="7" name="Text 4"/>
          <p:cNvSpPr txBox="1"/>
          <p:nvPr/>
        </p:nvSpPr>
        <p:spPr>
          <a:xfrm>
            <a:off x="1417320" y="1600200"/>
            <a:ext cx="2560320" cy="457200"/>
          </a:xfrm>
          <a:prstGeom prst="rect">
            <a:avLst/>
          </a:prstGeom>
          <a:noFill/>
          <a:ln/>
        </p:spPr>
        <p:txBody>
          <a:bodyPr wrap="square" lIns="0" tIns="0" rIns="0" bIns="0" rtlCol="0" anchor="ctr"/>
          <a:lstStyle/>
          <a:p>
            <a:pPr indent="0" marL="0">
              <a:buNone/>
            </a:pPr>
            <a:r>
              <a:rPr lang="en-US" sz="1500" b="1" dirty="0">
                <a:solidFill>
                  <a:srgbClr val="16161F"/>
                </a:solidFill>
                <a:latin typeface="Calibri" pitchFamily="34" charset="0"/>
                <a:ea typeface="Calibri" pitchFamily="34" charset="-122"/>
                <a:cs typeface="Calibri" pitchFamily="34" charset="-120"/>
              </a:rPr>
              <a:t>Colour</a:t>
            </a:r>
            <a:endParaRPr lang="en-US" sz="1500" dirty="0"/>
          </a:p>
        </p:txBody>
      </p:sp>
      <p:sp>
        <p:nvSpPr>
          <p:cNvPr id="8" name="Text 5"/>
          <p:cNvSpPr txBox="1"/>
          <p:nvPr/>
        </p:nvSpPr>
        <p:spPr>
          <a:xfrm>
            <a:off x="822960" y="2194560"/>
            <a:ext cx="3063240" cy="137160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Keep the sample's ink + purple palette with mint and peach accents. If Omaginfo LLC has brand colours, the purple accent is swapped for the brand colour across the whole site (one token).</a:t>
            </a:r>
            <a:endParaRPr lang="en-US" sz="1200" dirty="0"/>
          </a:p>
        </p:txBody>
      </p:sp>
      <p:sp>
        <p:nvSpPr>
          <p:cNvPr id="9" name="Shape 6"/>
          <p:cNvSpPr/>
          <p:nvPr/>
        </p:nvSpPr>
        <p:spPr>
          <a:xfrm>
            <a:off x="4297680" y="1325880"/>
            <a:ext cx="3566160" cy="2331720"/>
          </a:xfrm>
          <a:prstGeom prst="roundRect">
            <a:avLst>
              <a:gd name="adj" fmla="val 7059"/>
            </a:avLst>
          </a:prstGeom>
          <a:solidFill>
            <a:srgbClr val="F3F2FA"/>
          </a:solidFill>
          <a:ln/>
        </p:spPr>
      </p:sp>
      <p:sp>
        <p:nvSpPr>
          <p:cNvPr id="10" name="Shape 7"/>
          <p:cNvSpPr/>
          <p:nvPr/>
        </p:nvSpPr>
        <p:spPr>
          <a:xfrm>
            <a:off x="4572000" y="1600200"/>
            <a:ext cx="457200" cy="45720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690872" y="1719072"/>
            <a:ext cx="219456" cy="219456"/>
          </a:xfrm>
          <a:prstGeom prst="rect">
            <a:avLst/>
          </a:prstGeom>
        </p:spPr>
      </p:pic>
      <p:sp>
        <p:nvSpPr>
          <p:cNvPr id="12" name="Text 8"/>
          <p:cNvSpPr txBox="1"/>
          <p:nvPr/>
        </p:nvSpPr>
        <p:spPr>
          <a:xfrm>
            <a:off x="5166360" y="1600200"/>
            <a:ext cx="2560320" cy="457200"/>
          </a:xfrm>
          <a:prstGeom prst="rect">
            <a:avLst/>
          </a:prstGeom>
          <a:noFill/>
          <a:ln/>
        </p:spPr>
        <p:txBody>
          <a:bodyPr wrap="square" lIns="0" tIns="0" rIns="0" bIns="0" rtlCol="0" anchor="ctr"/>
          <a:lstStyle/>
          <a:p>
            <a:pPr indent="0" marL="0">
              <a:buNone/>
            </a:pPr>
            <a:r>
              <a:rPr lang="en-US" sz="1500" b="1" dirty="0">
                <a:solidFill>
                  <a:srgbClr val="16161F"/>
                </a:solidFill>
                <a:latin typeface="Calibri" pitchFamily="34" charset="0"/>
                <a:ea typeface="Calibri" pitchFamily="34" charset="-122"/>
                <a:cs typeface="Calibri" pitchFamily="34" charset="-120"/>
              </a:rPr>
              <a:t>Typography</a:t>
            </a:r>
            <a:endParaRPr lang="en-US" sz="1500" dirty="0"/>
          </a:p>
        </p:txBody>
      </p:sp>
      <p:sp>
        <p:nvSpPr>
          <p:cNvPr id="13" name="Text 9"/>
          <p:cNvSpPr txBox="1"/>
          <p:nvPr/>
        </p:nvSpPr>
        <p:spPr>
          <a:xfrm>
            <a:off x="4572000" y="2194560"/>
            <a:ext cx="3063240" cy="137160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Plus Jakarta Sans (free Google Font): semibold headings, regular body. Clear, technical and easy to read for an international B2B audience.</a:t>
            </a:r>
            <a:endParaRPr lang="en-US" sz="1200" dirty="0"/>
          </a:p>
        </p:txBody>
      </p:sp>
      <p:sp>
        <p:nvSpPr>
          <p:cNvPr id="14" name="Shape 10"/>
          <p:cNvSpPr/>
          <p:nvPr/>
        </p:nvSpPr>
        <p:spPr>
          <a:xfrm>
            <a:off x="8046720" y="1325880"/>
            <a:ext cx="3566160" cy="2331720"/>
          </a:xfrm>
          <a:prstGeom prst="roundRect">
            <a:avLst>
              <a:gd name="adj" fmla="val 7059"/>
            </a:avLst>
          </a:prstGeom>
          <a:solidFill>
            <a:srgbClr val="1B1B28"/>
          </a:solidFill>
          <a:ln/>
        </p:spPr>
      </p:sp>
      <p:sp>
        <p:nvSpPr>
          <p:cNvPr id="15" name="Shape 11"/>
          <p:cNvSpPr/>
          <p:nvPr/>
        </p:nvSpPr>
        <p:spPr>
          <a:xfrm>
            <a:off x="8321040" y="1600200"/>
            <a:ext cx="457200" cy="457200"/>
          </a:xfrm>
          <a:prstGeom prst="ellipse">
            <a:avLst/>
          </a:prstGeom>
          <a:solidFill>
            <a:srgbClr val="3A3360"/>
          </a:solidFill>
          <a:ln/>
        </p:spPr>
      </p:sp>
      <p:pic>
        <p:nvPicPr>
          <p:cNvPr id="16" name="Image 2" descr="preencoded.png">    </p:cNvPr>
          <p:cNvPicPr>
            <a:picLocks noChangeAspect="1"/>
          </p:cNvPicPr>
          <p:nvPr/>
        </p:nvPicPr>
        <p:blipFill>
          <a:blip r:embed="rId3"/>
          <a:stretch>
            <a:fillRect/>
          </a:stretch>
        </p:blipFill>
        <p:spPr>
          <a:xfrm>
            <a:off x="8439912" y="1719072"/>
            <a:ext cx="219456" cy="219456"/>
          </a:xfrm>
          <a:prstGeom prst="rect">
            <a:avLst/>
          </a:prstGeom>
        </p:spPr>
      </p:pic>
      <p:sp>
        <p:nvSpPr>
          <p:cNvPr id="17" name="Text 12"/>
          <p:cNvSpPr txBox="1"/>
          <p:nvPr/>
        </p:nvSpPr>
        <p:spPr>
          <a:xfrm>
            <a:off x="8915400" y="1600200"/>
            <a:ext cx="25603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Illustration</a:t>
            </a:r>
            <a:endParaRPr lang="en-US" sz="1500" dirty="0"/>
          </a:p>
        </p:txBody>
      </p:sp>
      <p:sp>
        <p:nvSpPr>
          <p:cNvPr id="18" name="Text 13"/>
          <p:cNvSpPr txBox="1"/>
          <p:nvPr/>
        </p:nvSpPr>
        <p:spPr>
          <a:xfrm>
            <a:off x="8321040" y="2194560"/>
            <a:ext cx="3063240" cy="137160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Custom isometric SVG illustrations in the sample style: globe with route arcs (Home), phone handset + voice waves (VoIP), message bubbles crossing regions (SMS). No 5G/fibre imagery.</a:t>
            </a:r>
            <a:endParaRPr lang="en-US" sz="1200" dirty="0"/>
          </a:p>
        </p:txBody>
      </p:sp>
      <p:sp>
        <p:nvSpPr>
          <p:cNvPr id="19" name="Shape 14"/>
          <p:cNvSpPr/>
          <p:nvPr/>
        </p:nvSpPr>
        <p:spPr>
          <a:xfrm>
            <a:off x="548640" y="3840480"/>
            <a:ext cx="3566160" cy="2331720"/>
          </a:xfrm>
          <a:prstGeom prst="roundRect">
            <a:avLst>
              <a:gd name="adj" fmla="val 7059"/>
            </a:avLst>
          </a:prstGeom>
          <a:solidFill>
            <a:srgbClr val="F3F2FA"/>
          </a:solidFill>
          <a:ln/>
        </p:spPr>
      </p:sp>
      <p:sp>
        <p:nvSpPr>
          <p:cNvPr id="20" name="Shape 15"/>
          <p:cNvSpPr/>
          <p:nvPr/>
        </p:nvSpPr>
        <p:spPr>
          <a:xfrm>
            <a:off x="822960" y="4114800"/>
            <a:ext cx="457200" cy="45720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941832" y="4233672"/>
            <a:ext cx="219456" cy="219456"/>
          </a:xfrm>
          <a:prstGeom prst="rect">
            <a:avLst/>
          </a:prstGeom>
        </p:spPr>
      </p:pic>
      <p:sp>
        <p:nvSpPr>
          <p:cNvPr id="22" name="Text 16"/>
          <p:cNvSpPr txBox="1"/>
          <p:nvPr/>
        </p:nvSpPr>
        <p:spPr>
          <a:xfrm>
            <a:off x="1417320" y="4114800"/>
            <a:ext cx="2560320" cy="457200"/>
          </a:xfrm>
          <a:prstGeom prst="rect">
            <a:avLst/>
          </a:prstGeom>
          <a:noFill/>
          <a:ln/>
        </p:spPr>
        <p:txBody>
          <a:bodyPr wrap="square" lIns="0" tIns="0" rIns="0" bIns="0" rtlCol="0" anchor="ctr"/>
          <a:lstStyle/>
          <a:p>
            <a:pPr indent="0" marL="0">
              <a:buNone/>
            </a:pPr>
            <a:r>
              <a:rPr lang="en-US" sz="1500" b="1" dirty="0">
                <a:solidFill>
                  <a:srgbClr val="16161F"/>
                </a:solidFill>
                <a:latin typeface="Calibri" pitchFamily="34" charset="0"/>
                <a:ea typeface="Calibri" pitchFamily="34" charset="-122"/>
                <a:cs typeface="Calibri" pitchFamily="34" charset="-120"/>
              </a:rPr>
              <a:t>Photography</a:t>
            </a:r>
            <a:endParaRPr lang="en-US" sz="1500" dirty="0"/>
          </a:p>
        </p:txBody>
      </p:sp>
      <p:sp>
        <p:nvSpPr>
          <p:cNvPr id="23" name="Text 17"/>
          <p:cNvSpPr txBox="1"/>
          <p:nvPr/>
        </p:nvSpPr>
        <p:spPr>
          <a:xfrm>
            <a:off x="822960" y="4709160"/>
            <a:ext cx="3063240" cy="137160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Professional headshots of both founders (to be supplied). Avoid generic stock people; illustrations carry the rest of the site.</a:t>
            </a:r>
            <a:endParaRPr lang="en-US" sz="1200" dirty="0"/>
          </a:p>
        </p:txBody>
      </p:sp>
      <p:sp>
        <p:nvSpPr>
          <p:cNvPr id="24" name="Shape 18"/>
          <p:cNvSpPr/>
          <p:nvPr/>
        </p:nvSpPr>
        <p:spPr>
          <a:xfrm>
            <a:off x="4297680" y="3840480"/>
            <a:ext cx="3566160" cy="2331720"/>
          </a:xfrm>
          <a:prstGeom prst="roundRect">
            <a:avLst>
              <a:gd name="adj" fmla="val 7059"/>
            </a:avLst>
          </a:prstGeom>
          <a:solidFill>
            <a:srgbClr val="F3F2FA"/>
          </a:solidFill>
          <a:ln/>
        </p:spPr>
      </p:sp>
      <p:sp>
        <p:nvSpPr>
          <p:cNvPr id="25" name="Shape 19"/>
          <p:cNvSpPr/>
          <p:nvPr/>
        </p:nvSpPr>
        <p:spPr>
          <a:xfrm>
            <a:off x="4572000" y="4114800"/>
            <a:ext cx="457200" cy="457200"/>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4690872" y="4233672"/>
            <a:ext cx="219456" cy="219456"/>
          </a:xfrm>
          <a:prstGeom prst="rect">
            <a:avLst/>
          </a:prstGeom>
        </p:spPr>
      </p:pic>
      <p:sp>
        <p:nvSpPr>
          <p:cNvPr id="27" name="Text 20"/>
          <p:cNvSpPr txBox="1"/>
          <p:nvPr/>
        </p:nvSpPr>
        <p:spPr>
          <a:xfrm>
            <a:off x="5166360" y="4114800"/>
            <a:ext cx="2560320" cy="457200"/>
          </a:xfrm>
          <a:prstGeom prst="rect">
            <a:avLst/>
          </a:prstGeom>
          <a:noFill/>
          <a:ln/>
        </p:spPr>
        <p:txBody>
          <a:bodyPr wrap="square" lIns="0" tIns="0" rIns="0" bIns="0" rtlCol="0" anchor="ctr"/>
          <a:lstStyle/>
          <a:p>
            <a:pPr indent="0" marL="0">
              <a:buNone/>
            </a:pPr>
            <a:r>
              <a:rPr lang="en-US" sz="1500" b="1" dirty="0">
                <a:solidFill>
                  <a:srgbClr val="16161F"/>
                </a:solidFill>
                <a:latin typeface="Calibri" pitchFamily="34" charset="0"/>
                <a:ea typeface="Calibri" pitchFamily="34" charset="-122"/>
                <a:cs typeface="Calibri" pitchFamily="34" charset="-120"/>
              </a:rPr>
              <a:t>Icons</a:t>
            </a:r>
            <a:endParaRPr lang="en-US" sz="1500" dirty="0"/>
          </a:p>
        </p:txBody>
      </p:sp>
      <p:sp>
        <p:nvSpPr>
          <p:cNvPr id="28" name="Text 21"/>
          <p:cNvSpPr txBox="1"/>
          <p:nvPr/>
        </p:nvSpPr>
        <p:spPr>
          <a:xfrm>
            <a:off x="4572000" y="4709160"/>
            <a:ext cx="3063240" cy="137160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One line-icon set (e.g. Lucide or Phosphor) in purple on soft-purple circles: voice, route, message, handshake, sliders, headset.</a:t>
            </a:r>
            <a:endParaRPr lang="en-US" sz="1200" dirty="0"/>
          </a:p>
        </p:txBody>
      </p:sp>
      <p:sp>
        <p:nvSpPr>
          <p:cNvPr id="29" name="Shape 22"/>
          <p:cNvSpPr/>
          <p:nvPr/>
        </p:nvSpPr>
        <p:spPr>
          <a:xfrm>
            <a:off x="8046720" y="3840480"/>
            <a:ext cx="3566160" cy="2331720"/>
          </a:xfrm>
          <a:prstGeom prst="roundRect">
            <a:avLst>
              <a:gd name="adj" fmla="val 7059"/>
            </a:avLst>
          </a:prstGeom>
          <a:solidFill>
            <a:srgbClr val="F3F2FA"/>
          </a:solidFill>
          <a:ln/>
        </p:spPr>
      </p:sp>
      <p:sp>
        <p:nvSpPr>
          <p:cNvPr id="30" name="Shape 23"/>
          <p:cNvSpPr/>
          <p:nvPr/>
        </p:nvSpPr>
        <p:spPr>
          <a:xfrm>
            <a:off x="8321040" y="4114800"/>
            <a:ext cx="457200" cy="457200"/>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8439912" y="4233672"/>
            <a:ext cx="219456" cy="219456"/>
          </a:xfrm>
          <a:prstGeom prst="rect">
            <a:avLst/>
          </a:prstGeom>
        </p:spPr>
      </p:pic>
      <p:sp>
        <p:nvSpPr>
          <p:cNvPr id="32" name="Text 24"/>
          <p:cNvSpPr txBox="1"/>
          <p:nvPr/>
        </p:nvSpPr>
        <p:spPr>
          <a:xfrm>
            <a:off x="8915400" y="4114800"/>
            <a:ext cx="2560320" cy="457200"/>
          </a:xfrm>
          <a:prstGeom prst="rect">
            <a:avLst/>
          </a:prstGeom>
          <a:noFill/>
          <a:ln/>
        </p:spPr>
        <p:txBody>
          <a:bodyPr wrap="square" lIns="0" tIns="0" rIns="0" bIns="0" rtlCol="0" anchor="ctr"/>
          <a:lstStyle/>
          <a:p>
            <a:pPr indent="0" marL="0">
              <a:buNone/>
            </a:pPr>
            <a:r>
              <a:rPr lang="en-US" sz="1500" b="1" dirty="0">
                <a:solidFill>
                  <a:srgbClr val="16161F"/>
                </a:solidFill>
                <a:latin typeface="Calibri" pitchFamily="34" charset="0"/>
                <a:ea typeface="Calibri" pitchFamily="34" charset="-122"/>
                <a:cs typeface="Calibri" pitchFamily="34" charset="-120"/>
              </a:rPr>
              <a:t>Data &amp; claims</a:t>
            </a:r>
            <a:endParaRPr lang="en-US" sz="1500" dirty="0"/>
          </a:p>
        </p:txBody>
      </p:sp>
      <p:sp>
        <p:nvSpPr>
          <p:cNvPr id="33" name="Text 25"/>
          <p:cNvSpPr txBox="1"/>
          <p:nvPr/>
        </p:nvSpPr>
        <p:spPr>
          <a:xfrm>
            <a:off x="8321040" y="4709160"/>
            <a:ext cx="3063240" cy="1371600"/>
          </a:xfrm>
          <a:prstGeom prst="rect">
            <a:avLst/>
          </a:prstGeom>
          <a:noFill/>
          <a:ln/>
        </p:spPr>
        <p:txBody>
          <a:bodyPr wrap="square" lIns="0" tIns="0" rIns="0" bIns="0" rtlCol="0" anchor="t"/>
          <a:lstStyle/>
          <a:p>
            <a:pPr indent="0" marL="0">
              <a:buNone/>
            </a:pPr>
            <a:r>
              <a:rPr lang="en-US" sz="1200" dirty="0">
                <a:solidFill>
                  <a:srgbClr val="5F6075"/>
                </a:solidFill>
                <a:latin typeface="Calibri" pitchFamily="34" charset="0"/>
                <a:ea typeface="Calibri" pitchFamily="34" charset="-122"/>
                <a:cs typeface="Calibri" pitchFamily="34" charset="-120"/>
              </a:rPr>
              <a:t>No metrics, coverage counts or quality claims are shown unless the client supplies and approves them.</a:t>
            </a:r>
            <a:endParaRPr lang="en-US" sz="1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02</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Global elements</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Components shared by every page: navigation bar, footer and the call-to-action band.</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724355" y="1188720"/>
            <a:ext cx="3113609" cy="448056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Navigation bar</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GLOBAL · NAVIGATION BAR</a:t>
            </a:r>
            <a:endParaRPr lang="en-US" sz="1050" dirty="0"/>
          </a:p>
        </p:txBody>
      </p:sp>
      <p:sp>
        <p:nvSpPr>
          <p:cNvPr id="4" name="Shape 2"/>
          <p:cNvSpPr/>
          <p:nvPr/>
        </p:nvSpPr>
        <p:spPr>
          <a:xfrm>
            <a:off x="548640" y="1325880"/>
            <a:ext cx="6537960" cy="1828800"/>
          </a:xfrm>
          <a:prstGeom prst="roundRect">
            <a:avLst>
              <a:gd name="adj" fmla="val 6000"/>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749808" y="1783080"/>
            <a:ext cx="1234440" cy="329184"/>
          </a:xfrm>
          <a:prstGeom prst="roundRect">
            <a:avLst>
              <a:gd name="adj" fmla="val 16667"/>
            </a:avLst>
          </a:prstGeom>
          <a:solidFill>
            <a:srgbClr val="ECEBFF"/>
          </a:solidFill>
          <a:ln w="9525">
            <a:solidFill>
              <a:srgbClr val="B3A8FF"/>
            </a:solidFill>
            <a:prstDash val="dash"/>
          </a:ln>
        </p:spPr>
      </p:sp>
      <p:sp>
        <p:nvSpPr>
          <p:cNvPr id="13" name="Text 11"/>
          <p:cNvSpPr txBox="1"/>
          <p:nvPr/>
        </p:nvSpPr>
        <p:spPr>
          <a:xfrm>
            <a:off x="749808" y="1783080"/>
            <a:ext cx="1234440" cy="329184"/>
          </a:xfrm>
          <a:prstGeom prst="rect">
            <a:avLst/>
          </a:prstGeom>
          <a:noFill/>
          <a:ln/>
        </p:spPr>
        <p:txBody>
          <a:bodyPr wrap="square" lIns="0" tIns="0" rIns="0" bIns="0" rtlCol="0" anchor="ctr"/>
          <a:lstStyle/>
          <a:p>
            <a:pPr algn="ctr" indent="0" marL="0">
              <a:buNone/>
            </a:pPr>
            <a:r>
              <a:rPr lang="en-US" sz="800" i="1" dirty="0">
                <a:solidFill>
                  <a:srgbClr val="7B6CF6"/>
                </a:solidFill>
                <a:latin typeface="Calibri" pitchFamily="34" charset="0"/>
                <a:ea typeface="Calibri" pitchFamily="34" charset="-122"/>
                <a:cs typeface="Calibri" pitchFamily="34" charset="-120"/>
              </a:rPr>
              <a:t>Omaginfo LLC logo</a:t>
            </a:r>
            <a:endParaRPr lang="en-US" sz="800" dirty="0"/>
          </a:p>
        </p:txBody>
      </p:sp>
      <p:sp>
        <p:nvSpPr>
          <p:cNvPr id="14" name="Shape 12"/>
          <p:cNvSpPr/>
          <p:nvPr/>
        </p:nvSpPr>
        <p:spPr>
          <a:xfrm>
            <a:off x="2048256" y="1856232"/>
            <a:ext cx="345186" cy="182880"/>
          </a:xfrm>
          <a:prstGeom prst="roundRect">
            <a:avLst>
              <a:gd name="adj" fmla="val 50000"/>
            </a:avLst>
          </a:prstGeom>
          <a:solidFill>
            <a:srgbClr val="FDE9D3"/>
          </a:solidFill>
          <a:ln/>
        </p:spPr>
      </p:sp>
      <p:sp>
        <p:nvSpPr>
          <p:cNvPr id="15" name="Text 13"/>
          <p:cNvSpPr txBox="1"/>
          <p:nvPr/>
        </p:nvSpPr>
        <p:spPr>
          <a:xfrm>
            <a:off x="2048256" y="1856232"/>
            <a:ext cx="345186"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16" name="Text 14"/>
          <p:cNvSpPr txBox="1"/>
          <p:nvPr/>
        </p:nvSpPr>
        <p:spPr>
          <a:xfrm>
            <a:off x="2761488" y="1847088"/>
            <a:ext cx="777240" cy="201168"/>
          </a:xfrm>
          <a:prstGeom prst="rect">
            <a:avLst/>
          </a:prstGeom>
          <a:noFill/>
          <a:ln/>
        </p:spPr>
        <p:txBody>
          <a:bodyPr wrap="square" lIns="0" tIns="0" rIns="0" bIns="0" rtlCol="0" anchor="t"/>
          <a:lstStyle/>
          <a:p>
            <a:pPr indent="0" marL="0">
              <a:buNone/>
            </a:pPr>
            <a:r>
              <a:rPr lang="en-US" sz="900" b="1" dirty="0">
                <a:solidFill>
                  <a:srgbClr val="16161F"/>
                </a:solidFill>
                <a:latin typeface="Calibri" pitchFamily="34" charset="0"/>
                <a:ea typeface="Calibri" pitchFamily="34" charset="-122"/>
                <a:cs typeface="Calibri" pitchFamily="34" charset="-120"/>
              </a:rPr>
              <a:t>Home</a:t>
            </a:r>
            <a:endParaRPr lang="en-US" sz="900" dirty="0"/>
          </a:p>
        </p:txBody>
      </p:sp>
      <p:sp>
        <p:nvSpPr>
          <p:cNvPr id="17" name="Shape 15"/>
          <p:cNvSpPr/>
          <p:nvPr/>
        </p:nvSpPr>
        <p:spPr>
          <a:xfrm>
            <a:off x="2871216" y="2075688"/>
            <a:ext cx="54864" cy="54864"/>
          </a:xfrm>
          <a:prstGeom prst="ellipse">
            <a:avLst/>
          </a:prstGeom>
          <a:solidFill>
            <a:srgbClr val="7B6CF6"/>
          </a:solidFill>
          <a:ln/>
        </p:spPr>
      </p:sp>
      <p:sp>
        <p:nvSpPr>
          <p:cNvPr id="18" name="Text 16"/>
          <p:cNvSpPr txBox="1"/>
          <p:nvPr/>
        </p:nvSpPr>
        <p:spPr>
          <a:xfrm>
            <a:off x="3319272" y="1847088"/>
            <a:ext cx="777240" cy="201168"/>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About Us</a:t>
            </a:r>
            <a:endParaRPr lang="en-US" sz="900" dirty="0"/>
          </a:p>
        </p:txBody>
      </p:sp>
      <p:sp>
        <p:nvSpPr>
          <p:cNvPr id="19" name="Text 17"/>
          <p:cNvSpPr txBox="1"/>
          <p:nvPr/>
        </p:nvSpPr>
        <p:spPr>
          <a:xfrm>
            <a:off x="4114800" y="1847088"/>
            <a:ext cx="777240" cy="201168"/>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Services ▾</a:t>
            </a:r>
            <a:endParaRPr lang="en-US" sz="900" dirty="0"/>
          </a:p>
        </p:txBody>
      </p:sp>
      <p:sp>
        <p:nvSpPr>
          <p:cNvPr id="20" name="Text 18"/>
          <p:cNvSpPr txBox="1"/>
          <p:nvPr/>
        </p:nvSpPr>
        <p:spPr>
          <a:xfrm>
            <a:off x="5029200" y="1847088"/>
            <a:ext cx="777240" cy="201168"/>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Contact Us</a:t>
            </a:r>
            <a:endParaRPr lang="en-US" sz="900" dirty="0"/>
          </a:p>
        </p:txBody>
      </p:sp>
      <p:sp>
        <p:nvSpPr>
          <p:cNvPr id="21" name="Shape 19"/>
          <p:cNvSpPr/>
          <p:nvPr/>
        </p:nvSpPr>
        <p:spPr>
          <a:xfrm>
            <a:off x="5833872" y="1810512"/>
            <a:ext cx="1132027" cy="256032"/>
          </a:xfrm>
          <a:prstGeom prst="roundRect">
            <a:avLst>
              <a:gd name="adj" fmla="val 50000"/>
            </a:avLst>
          </a:prstGeom>
          <a:solidFill>
            <a:srgbClr val="16161F"/>
          </a:solidFill>
          <a:ln/>
        </p:spPr>
      </p:sp>
      <p:sp>
        <p:nvSpPr>
          <p:cNvPr id="22" name="Text 20"/>
          <p:cNvSpPr txBox="1"/>
          <p:nvPr/>
        </p:nvSpPr>
        <p:spPr>
          <a:xfrm>
            <a:off x="5833872" y="1810512"/>
            <a:ext cx="113202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Partner with Us</a:t>
            </a:r>
            <a:endParaRPr lang="en-US" sz="850" dirty="0"/>
          </a:p>
        </p:txBody>
      </p:sp>
      <p:sp>
        <p:nvSpPr>
          <p:cNvPr id="23" name="Text 21"/>
          <p:cNvSpPr txBox="1"/>
          <p:nvPr/>
        </p:nvSpPr>
        <p:spPr>
          <a:xfrm>
            <a:off x="6947611" y="176479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4" name="Shape 22"/>
          <p:cNvSpPr/>
          <p:nvPr/>
        </p:nvSpPr>
        <p:spPr>
          <a:xfrm>
            <a:off x="3995928" y="2176272"/>
            <a:ext cx="2011680" cy="868680"/>
          </a:xfrm>
          <a:prstGeom prst="roundRect">
            <a:avLst>
              <a:gd name="adj" fmla="val 10526"/>
            </a:avLst>
          </a:prstGeom>
          <a:solidFill>
            <a:srgbClr val="FFFF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25" name="Text 23"/>
          <p:cNvSpPr txBox="1"/>
          <p:nvPr/>
        </p:nvSpPr>
        <p:spPr>
          <a:xfrm>
            <a:off x="4133088" y="2267712"/>
            <a:ext cx="1828800" cy="201168"/>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VoIP &amp; Voice Termination</a:t>
            </a:r>
            <a:endParaRPr lang="en-US" sz="850" dirty="0"/>
          </a:p>
        </p:txBody>
      </p:sp>
      <p:sp>
        <p:nvSpPr>
          <p:cNvPr id="26" name="Text 24"/>
          <p:cNvSpPr txBox="1"/>
          <p:nvPr/>
        </p:nvSpPr>
        <p:spPr>
          <a:xfrm>
            <a:off x="4133088" y="2496312"/>
            <a:ext cx="1828800" cy="201168"/>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SMS Connectivity</a:t>
            </a:r>
            <a:endParaRPr lang="en-US" sz="850" dirty="0"/>
          </a:p>
        </p:txBody>
      </p:sp>
      <p:sp>
        <p:nvSpPr>
          <p:cNvPr id="27" name="Text 25"/>
          <p:cNvSpPr txBox="1"/>
          <p:nvPr/>
        </p:nvSpPr>
        <p:spPr>
          <a:xfrm>
            <a:off x="4133088" y="2724912"/>
            <a:ext cx="1828800" cy="201168"/>
          </a:xfrm>
          <a:prstGeom prst="rect">
            <a:avLst/>
          </a:prstGeom>
          <a:noFill/>
          <a:ln/>
        </p:spPr>
        <p:txBody>
          <a:bodyPr wrap="square" lIns="0" tIns="0" rIns="0" bIns="0" rtlCol="0" anchor="t"/>
          <a:lstStyle/>
          <a:p>
            <a:pPr indent="0" marL="0">
              <a:buNone/>
            </a:pPr>
            <a:r>
              <a:rPr lang="en-US" sz="850" dirty="0">
                <a:solidFill>
                  <a:srgbClr val="7B6CF6"/>
                </a:solidFill>
                <a:latin typeface="Calibri" pitchFamily="34" charset="0"/>
                <a:ea typeface="Calibri" pitchFamily="34" charset="-122"/>
                <a:cs typeface="Calibri" pitchFamily="34" charset="-120"/>
              </a:rPr>
              <a:t>All services →</a:t>
            </a:r>
            <a:endParaRPr lang="en-US" sz="850" dirty="0"/>
          </a:p>
        </p:txBody>
      </p:sp>
      <p:sp>
        <p:nvSpPr>
          <p:cNvPr id="28" name="Shape 26"/>
          <p:cNvSpPr/>
          <p:nvPr/>
        </p:nvSpPr>
        <p:spPr>
          <a:xfrm>
            <a:off x="1005840" y="3337560"/>
            <a:ext cx="1600200" cy="2926080"/>
          </a:xfrm>
          <a:prstGeom prst="roundRect">
            <a:avLst>
              <a:gd name="adj" fmla="val 16000"/>
            </a:avLst>
          </a:prstGeom>
          <a:solidFill>
            <a:srgbClr val="16161F"/>
          </a:solidFill>
          <a:ln/>
          <a:effectLst>
            <a:outerShdw sx="100000" sy="100000" kx="0" ky="0" algn="bl" rotWithShape="0" blurRad="101600" dist="25400" dir="5400000">
              <a:srgbClr val="28207A">
                <a:alpha val="12000"/>
              </a:srgbClr>
            </a:outerShdw>
          </a:effectLst>
        </p:spPr>
      </p:sp>
      <p:sp>
        <p:nvSpPr>
          <p:cNvPr id="29" name="Shape 27"/>
          <p:cNvSpPr/>
          <p:nvPr/>
        </p:nvSpPr>
        <p:spPr>
          <a:xfrm>
            <a:off x="1069848" y="3401568"/>
            <a:ext cx="1472184" cy="2798064"/>
          </a:xfrm>
          <a:prstGeom prst="roundRect">
            <a:avLst>
              <a:gd name="adj" fmla="val 13665"/>
            </a:avLst>
          </a:prstGeom>
          <a:solidFill>
            <a:srgbClr val="FBFBFF"/>
          </a:solidFill>
          <a:ln/>
        </p:spPr>
      </p:sp>
      <p:sp>
        <p:nvSpPr>
          <p:cNvPr id="30" name="Shape 28"/>
          <p:cNvSpPr/>
          <p:nvPr/>
        </p:nvSpPr>
        <p:spPr>
          <a:xfrm>
            <a:off x="1531620" y="3447288"/>
            <a:ext cx="548640" cy="73152"/>
          </a:xfrm>
          <a:prstGeom prst="roundRect">
            <a:avLst>
              <a:gd name="adj" fmla="val 50000"/>
            </a:avLst>
          </a:prstGeom>
          <a:solidFill>
            <a:srgbClr val="16161F"/>
          </a:solidFill>
          <a:ln/>
        </p:spPr>
      </p:sp>
      <p:sp>
        <p:nvSpPr>
          <p:cNvPr id="31" name="Shape 29"/>
          <p:cNvSpPr/>
          <p:nvPr/>
        </p:nvSpPr>
        <p:spPr>
          <a:xfrm>
            <a:off x="1143000" y="3611880"/>
            <a:ext cx="548640" cy="146304"/>
          </a:xfrm>
          <a:prstGeom prst="roundRect">
            <a:avLst>
              <a:gd name="adj" fmla="val 18750"/>
            </a:avLst>
          </a:prstGeom>
          <a:solidFill>
            <a:srgbClr val="ECEBFF"/>
          </a:solidFill>
          <a:ln w="9525">
            <a:solidFill>
              <a:srgbClr val="B3A8FF"/>
            </a:solidFill>
            <a:prstDash val="dash"/>
          </a:ln>
        </p:spPr>
      </p:sp>
      <p:sp>
        <p:nvSpPr>
          <p:cNvPr id="32" name="Shape 30"/>
          <p:cNvSpPr/>
          <p:nvPr/>
        </p:nvSpPr>
        <p:spPr>
          <a:xfrm>
            <a:off x="2240280" y="3630168"/>
            <a:ext cx="201168" cy="22860"/>
          </a:xfrm>
          <a:prstGeom prst="rect">
            <a:avLst/>
          </a:prstGeom>
          <a:solidFill>
            <a:srgbClr val="16161F"/>
          </a:solidFill>
          <a:ln/>
        </p:spPr>
      </p:sp>
      <p:sp>
        <p:nvSpPr>
          <p:cNvPr id="33" name="Shape 31"/>
          <p:cNvSpPr/>
          <p:nvPr/>
        </p:nvSpPr>
        <p:spPr>
          <a:xfrm>
            <a:off x="2240280" y="3685032"/>
            <a:ext cx="201168" cy="22860"/>
          </a:xfrm>
          <a:prstGeom prst="rect">
            <a:avLst/>
          </a:prstGeom>
          <a:solidFill>
            <a:srgbClr val="16161F"/>
          </a:solidFill>
          <a:ln/>
        </p:spPr>
      </p:sp>
      <p:sp>
        <p:nvSpPr>
          <p:cNvPr id="34" name="Shape 32"/>
          <p:cNvSpPr/>
          <p:nvPr/>
        </p:nvSpPr>
        <p:spPr>
          <a:xfrm>
            <a:off x="2240280" y="3739896"/>
            <a:ext cx="201168" cy="22860"/>
          </a:xfrm>
          <a:prstGeom prst="rect">
            <a:avLst/>
          </a:prstGeom>
          <a:solidFill>
            <a:srgbClr val="16161F"/>
          </a:solidFill>
          <a:ln/>
        </p:spPr>
      </p:sp>
      <p:sp>
        <p:nvSpPr>
          <p:cNvPr id="35" name="Shape 33"/>
          <p:cNvSpPr/>
          <p:nvPr/>
        </p:nvSpPr>
        <p:spPr>
          <a:xfrm>
            <a:off x="1143000" y="3886200"/>
            <a:ext cx="1325880" cy="822960"/>
          </a:xfrm>
          <a:prstGeom prst="roundRect">
            <a:avLst>
              <a:gd name="adj" fmla="val 6667"/>
            </a:avLst>
          </a:prstGeom>
          <a:solidFill>
            <a:srgbClr val="F3F2FA"/>
          </a:solidFill>
          <a:ln/>
        </p:spPr>
      </p:sp>
      <p:sp>
        <p:nvSpPr>
          <p:cNvPr id="36" name="Shape 34"/>
          <p:cNvSpPr/>
          <p:nvPr/>
        </p:nvSpPr>
        <p:spPr>
          <a:xfrm>
            <a:off x="1143000" y="4800600"/>
            <a:ext cx="1325880" cy="1097280"/>
          </a:xfrm>
          <a:prstGeom prst="roundRect">
            <a:avLst>
              <a:gd name="adj" fmla="val 5000"/>
            </a:avLst>
          </a:prstGeom>
          <a:solidFill>
            <a:srgbClr val="F3F2FA"/>
          </a:solidFill>
          <a:ln/>
        </p:spPr>
      </p:sp>
      <p:sp>
        <p:nvSpPr>
          <p:cNvPr id="37" name="Shape 35"/>
          <p:cNvSpPr/>
          <p:nvPr/>
        </p:nvSpPr>
        <p:spPr>
          <a:xfrm>
            <a:off x="2926080" y="3337560"/>
            <a:ext cx="1600200" cy="2926080"/>
          </a:xfrm>
          <a:prstGeom prst="roundRect">
            <a:avLst>
              <a:gd name="adj" fmla="val 16000"/>
            </a:avLst>
          </a:prstGeom>
          <a:solidFill>
            <a:srgbClr val="16161F"/>
          </a:solidFill>
          <a:ln/>
          <a:effectLst>
            <a:outerShdw sx="100000" sy="100000" kx="0" ky="0" algn="bl" rotWithShape="0" blurRad="101600" dist="25400" dir="5400000">
              <a:srgbClr val="28207A">
                <a:alpha val="12000"/>
              </a:srgbClr>
            </a:outerShdw>
          </a:effectLst>
        </p:spPr>
      </p:sp>
      <p:sp>
        <p:nvSpPr>
          <p:cNvPr id="38" name="Shape 36"/>
          <p:cNvSpPr/>
          <p:nvPr/>
        </p:nvSpPr>
        <p:spPr>
          <a:xfrm>
            <a:off x="2990088" y="3401568"/>
            <a:ext cx="1472184" cy="2798064"/>
          </a:xfrm>
          <a:prstGeom prst="roundRect">
            <a:avLst>
              <a:gd name="adj" fmla="val 13665"/>
            </a:avLst>
          </a:prstGeom>
          <a:solidFill>
            <a:srgbClr val="FBFBFF"/>
          </a:solidFill>
          <a:ln/>
        </p:spPr>
      </p:sp>
      <p:sp>
        <p:nvSpPr>
          <p:cNvPr id="39" name="Shape 37"/>
          <p:cNvSpPr/>
          <p:nvPr/>
        </p:nvSpPr>
        <p:spPr>
          <a:xfrm>
            <a:off x="3451860" y="3447288"/>
            <a:ext cx="548640" cy="73152"/>
          </a:xfrm>
          <a:prstGeom prst="roundRect">
            <a:avLst>
              <a:gd name="adj" fmla="val 50000"/>
            </a:avLst>
          </a:prstGeom>
          <a:solidFill>
            <a:srgbClr val="16161F"/>
          </a:solidFill>
          <a:ln/>
        </p:spPr>
      </p:sp>
      <p:sp>
        <p:nvSpPr>
          <p:cNvPr id="40" name="Shape 38"/>
          <p:cNvSpPr/>
          <p:nvPr/>
        </p:nvSpPr>
        <p:spPr>
          <a:xfrm>
            <a:off x="3383280" y="3474720"/>
            <a:ext cx="1078992" cy="2697480"/>
          </a:xfrm>
          <a:prstGeom prst="roundRect">
            <a:avLst>
              <a:gd name="adj" fmla="val 4237"/>
            </a:avLst>
          </a:prstGeom>
          <a:solidFill>
            <a:srgbClr val="FFFFFF"/>
          </a:solidFill>
          <a:ln/>
          <a:effectLst>
            <a:outerShdw sx="100000" sy="100000" kx="0" ky="0" algn="bl" rotWithShape="0" blurRad="101600" dist="25400" dir="5400000">
              <a:srgbClr val="28207A">
                <a:alpha val="12000"/>
              </a:srgbClr>
            </a:outerShdw>
          </a:effectLst>
        </p:spPr>
      </p:sp>
      <p:sp>
        <p:nvSpPr>
          <p:cNvPr id="41" name="Text 39"/>
          <p:cNvSpPr txBox="1"/>
          <p:nvPr/>
        </p:nvSpPr>
        <p:spPr>
          <a:xfrm>
            <a:off x="4206240" y="3566160"/>
            <a:ext cx="182880" cy="182880"/>
          </a:xfrm>
          <a:prstGeom prst="rect">
            <a:avLst/>
          </a:prstGeom>
          <a:noFill/>
          <a:ln/>
        </p:spPr>
        <p:txBody>
          <a:bodyPr wrap="square" lIns="0" tIns="0" rIns="0" bIns="0" rtlCol="0" anchor="t"/>
          <a:lstStyle/>
          <a:p>
            <a:pPr indent="0" marL="0">
              <a:buNone/>
            </a:pPr>
            <a:r>
              <a:rPr lang="en-US" sz="1000" b="1" dirty="0">
                <a:solidFill>
                  <a:srgbClr val="16161F"/>
                </a:solidFill>
                <a:latin typeface="Calibri" pitchFamily="34" charset="0"/>
                <a:ea typeface="Calibri" pitchFamily="34" charset="-122"/>
                <a:cs typeface="Calibri" pitchFamily="34" charset="-120"/>
              </a:rPr>
              <a:t>✕</a:t>
            </a:r>
            <a:endParaRPr lang="en-US" sz="1000" dirty="0"/>
          </a:p>
        </p:txBody>
      </p:sp>
      <p:sp>
        <p:nvSpPr>
          <p:cNvPr id="42" name="Text 40"/>
          <p:cNvSpPr txBox="1"/>
          <p:nvPr/>
        </p:nvSpPr>
        <p:spPr>
          <a:xfrm>
            <a:off x="3520440" y="4069080"/>
            <a:ext cx="914400" cy="228600"/>
          </a:xfrm>
          <a:prstGeom prst="rect">
            <a:avLst/>
          </a:prstGeom>
          <a:noFill/>
          <a:ln/>
        </p:spPr>
        <p:txBody>
          <a:bodyPr wrap="square" lIns="0" tIns="0" rIns="0" bIns="0" rtlCol="0" anchor="t"/>
          <a:lstStyle/>
          <a:p>
            <a:pPr indent="0" marL="0">
              <a:buNone/>
            </a:pPr>
            <a:r>
              <a:rPr lang="en-US" sz="950" b="1" dirty="0">
                <a:solidFill>
                  <a:srgbClr val="16161F"/>
                </a:solidFill>
                <a:latin typeface="Calibri" pitchFamily="34" charset="0"/>
                <a:ea typeface="Calibri" pitchFamily="34" charset="-122"/>
                <a:cs typeface="Calibri" pitchFamily="34" charset="-120"/>
              </a:rPr>
              <a:t>Home</a:t>
            </a:r>
            <a:endParaRPr lang="en-US" sz="950" dirty="0"/>
          </a:p>
        </p:txBody>
      </p:sp>
      <p:sp>
        <p:nvSpPr>
          <p:cNvPr id="43" name="Text 41"/>
          <p:cNvSpPr txBox="1"/>
          <p:nvPr/>
        </p:nvSpPr>
        <p:spPr>
          <a:xfrm>
            <a:off x="3520440" y="4361688"/>
            <a:ext cx="914400" cy="228600"/>
          </a:xfrm>
          <a:prstGeom prst="rect">
            <a:avLst/>
          </a:prstGeom>
          <a:noFill/>
          <a:ln/>
        </p:spPr>
        <p:txBody>
          <a:bodyPr wrap="square" lIns="0" tIns="0" rIns="0" bIns="0" rtlCol="0" anchor="t"/>
          <a:lstStyle/>
          <a:p>
            <a:pPr indent="0" marL="0">
              <a:buNone/>
            </a:pPr>
            <a:r>
              <a:rPr lang="en-US" sz="950" dirty="0">
                <a:solidFill>
                  <a:srgbClr val="5F6075"/>
                </a:solidFill>
                <a:latin typeface="Calibri" pitchFamily="34" charset="0"/>
                <a:ea typeface="Calibri" pitchFamily="34" charset="-122"/>
                <a:cs typeface="Calibri" pitchFamily="34" charset="-120"/>
              </a:rPr>
              <a:t>About Us</a:t>
            </a:r>
            <a:endParaRPr lang="en-US" sz="950" dirty="0"/>
          </a:p>
        </p:txBody>
      </p:sp>
      <p:sp>
        <p:nvSpPr>
          <p:cNvPr id="44" name="Text 42"/>
          <p:cNvSpPr txBox="1"/>
          <p:nvPr/>
        </p:nvSpPr>
        <p:spPr>
          <a:xfrm>
            <a:off x="3520440" y="4654296"/>
            <a:ext cx="914400" cy="228600"/>
          </a:xfrm>
          <a:prstGeom prst="rect">
            <a:avLst/>
          </a:prstGeom>
          <a:noFill/>
          <a:ln/>
        </p:spPr>
        <p:txBody>
          <a:bodyPr wrap="square" lIns="0" tIns="0" rIns="0" bIns="0" rtlCol="0" anchor="t"/>
          <a:lstStyle/>
          <a:p>
            <a:pPr indent="0" marL="0">
              <a:buNone/>
            </a:pPr>
            <a:r>
              <a:rPr lang="en-US" sz="950" dirty="0">
                <a:solidFill>
                  <a:srgbClr val="5F6075"/>
                </a:solidFill>
                <a:latin typeface="Calibri" pitchFamily="34" charset="0"/>
                <a:ea typeface="Calibri" pitchFamily="34" charset="-122"/>
                <a:cs typeface="Calibri" pitchFamily="34" charset="-120"/>
              </a:rPr>
              <a:t>Services +</a:t>
            </a:r>
            <a:endParaRPr lang="en-US" sz="950" dirty="0"/>
          </a:p>
        </p:txBody>
      </p:sp>
      <p:sp>
        <p:nvSpPr>
          <p:cNvPr id="45" name="Text 43"/>
          <p:cNvSpPr txBox="1"/>
          <p:nvPr/>
        </p:nvSpPr>
        <p:spPr>
          <a:xfrm>
            <a:off x="3520440" y="4946904"/>
            <a:ext cx="914400" cy="228600"/>
          </a:xfrm>
          <a:prstGeom prst="rect">
            <a:avLst/>
          </a:prstGeom>
          <a:noFill/>
          <a:ln/>
        </p:spPr>
        <p:txBody>
          <a:bodyPr wrap="square" lIns="0" tIns="0" rIns="0" bIns="0" rtlCol="0" anchor="t"/>
          <a:lstStyle/>
          <a:p>
            <a:pPr indent="0" marL="0">
              <a:buNone/>
            </a:pPr>
            <a:r>
              <a:rPr lang="en-US" sz="950" dirty="0">
                <a:solidFill>
                  <a:srgbClr val="5F6075"/>
                </a:solidFill>
                <a:latin typeface="Calibri" pitchFamily="34" charset="0"/>
                <a:ea typeface="Calibri" pitchFamily="34" charset="-122"/>
                <a:cs typeface="Calibri" pitchFamily="34" charset="-120"/>
              </a:rPr>
              <a:t>Contact Us</a:t>
            </a:r>
            <a:endParaRPr lang="en-US" sz="950" dirty="0"/>
          </a:p>
        </p:txBody>
      </p:sp>
      <p:sp>
        <p:nvSpPr>
          <p:cNvPr id="46" name="Shape 44"/>
          <p:cNvSpPr/>
          <p:nvPr/>
        </p:nvSpPr>
        <p:spPr>
          <a:xfrm>
            <a:off x="3474720" y="5394960"/>
            <a:ext cx="934517" cy="219456"/>
          </a:xfrm>
          <a:prstGeom prst="roundRect">
            <a:avLst>
              <a:gd name="adj" fmla="val 50000"/>
            </a:avLst>
          </a:prstGeom>
          <a:solidFill>
            <a:srgbClr val="16161F"/>
          </a:solidFill>
          <a:ln/>
        </p:spPr>
      </p:sp>
      <p:sp>
        <p:nvSpPr>
          <p:cNvPr id="47" name="Text 45"/>
          <p:cNvSpPr txBox="1"/>
          <p:nvPr/>
        </p:nvSpPr>
        <p:spPr>
          <a:xfrm>
            <a:off x="3474720" y="5394960"/>
            <a:ext cx="934517" cy="219456"/>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Partner with Us</a:t>
            </a:r>
            <a:endParaRPr lang="en-US" sz="650" dirty="0"/>
          </a:p>
        </p:txBody>
      </p:sp>
      <p:sp>
        <p:nvSpPr>
          <p:cNvPr id="48" name="Text 46"/>
          <p:cNvSpPr txBox="1"/>
          <p:nvPr/>
        </p:nvSpPr>
        <p:spPr>
          <a:xfrm>
            <a:off x="1005840" y="6291072"/>
            <a:ext cx="1600200" cy="182880"/>
          </a:xfrm>
          <a:prstGeom prst="rect">
            <a:avLst/>
          </a:prstGeom>
          <a:noFill/>
          <a:ln/>
        </p:spPr>
        <p:txBody>
          <a:bodyPr wrap="square" lIns="0" tIns="0" rIns="0" bIns="0" rtlCol="0" anchor="t"/>
          <a:lstStyle/>
          <a:p>
            <a:pPr algn="ctr" indent="0" marL="0">
              <a:buNone/>
            </a:pPr>
            <a:r>
              <a:rPr lang="en-US" sz="850" dirty="0">
                <a:solidFill>
                  <a:srgbClr val="8B8BA3"/>
                </a:solidFill>
                <a:latin typeface="Calibri" pitchFamily="34" charset="0"/>
                <a:ea typeface="Calibri" pitchFamily="34" charset="-122"/>
                <a:cs typeface="Calibri" pitchFamily="34" charset="-120"/>
              </a:rPr>
              <a:t>Mobile · closed</a:t>
            </a:r>
            <a:endParaRPr lang="en-US" sz="850" dirty="0"/>
          </a:p>
        </p:txBody>
      </p:sp>
      <p:sp>
        <p:nvSpPr>
          <p:cNvPr id="49" name="Text 47"/>
          <p:cNvSpPr txBox="1"/>
          <p:nvPr/>
        </p:nvSpPr>
        <p:spPr>
          <a:xfrm>
            <a:off x="2926080" y="6291072"/>
            <a:ext cx="1600200" cy="182880"/>
          </a:xfrm>
          <a:prstGeom prst="rect">
            <a:avLst/>
          </a:prstGeom>
          <a:noFill/>
          <a:ln/>
        </p:spPr>
        <p:txBody>
          <a:bodyPr wrap="square" lIns="0" tIns="0" rIns="0" bIns="0" rtlCol="0" anchor="t"/>
          <a:lstStyle/>
          <a:p>
            <a:pPr algn="ctr" indent="0" marL="0">
              <a:buNone/>
            </a:pPr>
            <a:r>
              <a:rPr lang="en-US" sz="850" dirty="0">
                <a:solidFill>
                  <a:srgbClr val="8B8BA3"/>
                </a:solidFill>
                <a:latin typeface="Calibri" pitchFamily="34" charset="0"/>
                <a:ea typeface="Calibri" pitchFamily="34" charset="-122"/>
                <a:cs typeface="Calibri" pitchFamily="34" charset="-120"/>
              </a:rPr>
              <a:t>Mobile · menu open</a:t>
            </a:r>
            <a:endParaRPr lang="en-US" sz="850" dirty="0"/>
          </a:p>
        </p:txBody>
      </p:sp>
      <p:sp>
        <p:nvSpPr>
          <p:cNvPr id="50" name="Text 48"/>
          <p:cNvSpPr txBox="1"/>
          <p:nvPr/>
        </p:nvSpPr>
        <p:spPr>
          <a:xfrm>
            <a:off x="4754880" y="3429000"/>
            <a:ext cx="2286000" cy="274320"/>
          </a:xfrm>
          <a:prstGeom prst="rect">
            <a:avLst/>
          </a:prstGeom>
          <a:noFill/>
          <a:ln/>
        </p:spPr>
        <p:txBody>
          <a:bodyPr wrap="square" lIns="0" tIns="0" rIns="0" bIns="0" rtlCol="0" anchor="t"/>
          <a:lstStyle/>
          <a:p>
            <a:pPr indent="0" marL="0">
              <a:buNone/>
            </a:pPr>
            <a:r>
              <a:rPr lang="en-US" sz="900" i="1" dirty="0">
                <a:solidFill>
                  <a:srgbClr val="8B8BA3"/>
                </a:solidFill>
                <a:latin typeface="Calibri" pitchFamily="34" charset="0"/>
                <a:ea typeface="Calibri" pitchFamily="34" charset="-122"/>
                <a:cs typeface="Calibri" pitchFamily="34" charset="-120"/>
              </a:rPr>
              <a:t>Desktop (≥ 900px) shown above</a:t>
            </a:r>
            <a:endParaRPr lang="en-US" sz="900" dirty="0"/>
          </a:p>
        </p:txBody>
      </p:sp>
      <p:sp>
        <p:nvSpPr>
          <p:cNvPr id="51" name="Text 49"/>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52" name="Shape 50"/>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53" name="Image 0" descr="preencoded.png">    </p:cNvPr>
          <p:cNvPicPr>
            <a:picLocks noChangeAspect="1"/>
          </p:cNvPicPr>
          <p:nvPr/>
        </p:nvPicPr>
        <p:blipFill>
          <a:blip r:embed="rId1"/>
          <a:stretch>
            <a:fillRect/>
          </a:stretch>
        </p:blipFill>
        <p:spPr>
          <a:xfrm>
            <a:off x="7415784" y="1887173"/>
            <a:ext cx="4187952" cy="230725"/>
          </a:xfrm>
          <a:prstGeom prst="rect">
            <a:avLst/>
          </a:prstGeom>
        </p:spPr>
      </p:pic>
      <p:sp>
        <p:nvSpPr>
          <p:cNvPr id="54" name="Shape 51"/>
          <p:cNvSpPr/>
          <p:nvPr/>
        </p:nvSpPr>
        <p:spPr>
          <a:xfrm>
            <a:off x="7360920" y="2587752"/>
            <a:ext cx="274320" cy="274320"/>
          </a:xfrm>
          <a:prstGeom prst="ellipse">
            <a:avLst/>
          </a:prstGeom>
          <a:solidFill>
            <a:srgbClr val="ECEBFF"/>
          </a:solidFill>
          <a:ln/>
        </p:spPr>
      </p:sp>
      <p:pic>
        <p:nvPicPr>
          <p:cNvPr id="55" name="Image 1" descr="preencoded.png">    </p:cNvPr>
          <p:cNvPicPr>
            <a:picLocks noChangeAspect="1"/>
          </p:cNvPicPr>
          <p:nvPr/>
        </p:nvPicPr>
        <p:blipFill>
          <a:blip r:embed="rId2"/>
          <a:stretch>
            <a:fillRect/>
          </a:stretch>
        </p:blipFill>
        <p:spPr>
          <a:xfrm>
            <a:off x="7429500" y="2656332"/>
            <a:ext cx="137160" cy="137160"/>
          </a:xfrm>
          <a:prstGeom prst="rect">
            <a:avLst/>
          </a:prstGeom>
        </p:spPr>
      </p:pic>
      <p:sp>
        <p:nvSpPr>
          <p:cNvPr id="56" name="Text 52"/>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57" name="Text 53"/>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Logo left, 4 links centred, one CTA pill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Sticky; frosted white background + shadow after 20px scroll</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Below 900px: hamburger opens a 280px slide-in panel</a:t>
            </a:r>
            <a:endParaRPr lang="en-US" sz="1100" dirty="0"/>
          </a:p>
        </p:txBody>
      </p:sp>
      <p:sp>
        <p:nvSpPr>
          <p:cNvPr id="58" name="Shape 54"/>
          <p:cNvSpPr/>
          <p:nvPr/>
        </p:nvSpPr>
        <p:spPr>
          <a:xfrm>
            <a:off x="7360920" y="3534156"/>
            <a:ext cx="274320" cy="274320"/>
          </a:xfrm>
          <a:prstGeom prst="ellipse">
            <a:avLst/>
          </a:prstGeom>
          <a:solidFill>
            <a:srgbClr val="ECEBFF"/>
          </a:solidFill>
          <a:ln/>
        </p:spPr>
      </p:sp>
      <p:pic>
        <p:nvPicPr>
          <p:cNvPr id="59" name="Image 2" descr="preencoded.png">    </p:cNvPr>
          <p:cNvPicPr>
            <a:picLocks noChangeAspect="1"/>
          </p:cNvPicPr>
          <p:nvPr/>
        </p:nvPicPr>
        <p:blipFill>
          <a:blip r:embed="rId3"/>
          <a:stretch>
            <a:fillRect/>
          </a:stretch>
        </p:blipFill>
        <p:spPr>
          <a:xfrm>
            <a:off x="7429500" y="3602736"/>
            <a:ext cx="137160" cy="137160"/>
          </a:xfrm>
          <a:prstGeom prst="rect">
            <a:avLst/>
          </a:prstGeom>
        </p:spPr>
      </p:pic>
      <p:sp>
        <p:nvSpPr>
          <p:cNvPr id="60" name="Text 55"/>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1" name="Text 56"/>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Links: Home · About Us · Services ▾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Services dropdown: VoIP &amp; Voice Termination, SMS Connectivity</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CTA: 'Partner with Us' ✱ (sample's Login removed)</a:t>
            </a:r>
            <a:endParaRPr lang="en-US" sz="1100" dirty="0"/>
          </a:p>
        </p:txBody>
      </p:sp>
      <p:sp>
        <p:nvSpPr>
          <p:cNvPr id="62" name="Shape 57"/>
          <p:cNvSpPr/>
          <p:nvPr/>
        </p:nvSpPr>
        <p:spPr>
          <a:xfrm>
            <a:off x="7360920" y="4480560"/>
            <a:ext cx="274320" cy="274320"/>
          </a:xfrm>
          <a:prstGeom prst="ellipse">
            <a:avLst/>
          </a:prstGeom>
          <a:solidFill>
            <a:srgbClr val="ECEBFF"/>
          </a:solidFill>
          <a:ln/>
        </p:spPr>
      </p:sp>
      <p:pic>
        <p:nvPicPr>
          <p:cNvPr id="63" name="Image 3" descr="preencoded.png">    </p:cNvPr>
          <p:cNvPicPr>
            <a:picLocks noChangeAspect="1"/>
          </p:cNvPicPr>
          <p:nvPr/>
        </p:nvPicPr>
        <p:blipFill>
          <a:blip r:embed="rId4"/>
          <a:stretch>
            <a:fillRect/>
          </a:stretch>
        </p:blipFill>
        <p:spPr>
          <a:xfrm>
            <a:off x="7429500" y="4549140"/>
            <a:ext cx="137160" cy="137160"/>
          </a:xfrm>
          <a:prstGeom prst="rect">
            <a:avLst/>
          </a:prstGeom>
        </p:spPr>
      </p:pic>
      <p:sp>
        <p:nvSpPr>
          <p:cNvPr id="64" name="Text 58"/>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5" name="Text 59"/>
          <p:cNvSpPr txBox="1"/>
          <p:nvPr/>
        </p:nvSpPr>
        <p:spPr>
          <a:xfrm>
            <a:off x="7726680" y="477316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Omaginfo LLC logo (SVG) — not supplied, TBC</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Purple dot under the active page link</a:t>
            </a:r>
            <a:endParaRPr lang="en-US" sz="1100" dirty="0"/>
          </a:p>
        </p:txBody>
      </p:sp>
      <p:sp>
        <p:nvSpPr>
          <p:cNvPr id="66" name="Shape 60"/>
          <p:cNvSpPr/>
          <p:nvPr/>
        </p:nvSpPr>
        <p:spPr>
          <a:xfrm>
            <a:off x="7360920" y="5257800"/>
            <a:ext cx="274320" cy="274320"/>
          </a:xfrm>
          <a:prstGeom prst="ellipse">
            <a:avLst/>
          </a:prstGeom>
          <a:solidFill>
            <a:srgbClr val="ECEBFF"/>
          </a:solidFill>
          <a:ln/>
        </p:spPr>
      </p:sp>
      <p:pic>
        <p:nvPicPr>
          <p:cNvPr id="67" name="Image 4" descr="preencoded.png">    </p:cNvPr>
          <p:cNvPicPr>
            <a:picLocks noChangeAspect="1"/>
          </p:cNvPicPr>
          <p:nvPr/>
        </p:nvPicPr>
        <p:blipFill>
          <a:blip r:embed="rId5"/>
          <a:stretch>
            <a:fillRect/>
          </a:stretch>
        </p:blipFill>
        <p:spPr>
          <a:xfrm>
            <a:off x="7429500" y="5326380"/>
            <a:ext cx="137160" cy="137160"/>
          </a:xfrm>
          <a:prstGeom prst="rect">
            <a:avLst/>
          </a:prstGeom>
        </p:spPr>
      </p:pic>
      <p:sp>
        <p:nvSpPr>
          <p:cNvPr id="68" name="Text 61"/>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9" name="Text 62"/>
          <p:cNvSpPr txBox="1"/>
          <p:nvPr/>
        </p:nvSpPr>
        <p:spPr>
          <a:xfrm>
            <a:off x="7726680" y="555040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Links go to their pages; CTA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Dropdown opens on hover/focus (desktop), expands inline on mobile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Keyboard accessible; menu closes after a tap</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Footer</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GLOBAL · FOOTER</a:t>
            </a:r>
            <a:endParaRPr lang="en-US" sz="1050" dirty="0"/>
          </a:p>
        </p:txBody>
      </p:sp>
      <p:sp>
        <p:nvSpPr>
          <p:cNvPr id="4" name="Shape 2"/>
          <p:cNvSpPr/>
          <p:nvPr/>
        </p:nvSpPr>
        <p:spPr>
          <a:xfrm>
            <a:off x="548640" y="1325880"/>
            <a:ext cx="6537960" cy="3017520"/>
          </a:xfrm>
          <a:prstGeom prst="roundRect">
            <a:avLst>
              <a:gd name="adj" fmla="val 3636"/>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548640" y="1600200"/>
            <a:ext cx="6537960" cy="2743200"/>
          </a:xfrm>
          <a:prstGeom prst="roundRect">
            <a:avLst>
              <a:gd name="adj" fmla="val 4000"/>
            </a:avLst>
          </a:prstGeom>
          <a:solidFill>
            <a:srgbClr val="1B1B28"/>
          </a:solidFill>
          <a:ln/>
        </p:spPr>
      </p:sp>
      <p:sp>
        <p:nvSpPr>
          <p:cNvPr id="13" name="Shape 11"/>
          <p:cNvSpPr/>
          <p:nvPr/>
        </p:nvSpPr>
        <p:spPr>
          <a:xfrm>
            <a:off x="749808" y="1828800"/>
            <a:ext cx="1234440" cy="292608"/>
          </a:xfrm>
          <a:prstGeom prst="roundRect">
            <a:avLst>
              <a:gd name="adj" fmla="val 18750"/>
            </a:avLst>
          </a:prstGeom>
          <a:solidFill>
            <a:srgbClr val="2A2A3C"/>
          </a:solidFill>
          <a:ln w="9525">
            <a:solidFill>
              <a:srgbClr val="5A4FD0"/>
            </a:solidFill>
            <a:prstDash val="dash"/>
          </a:ln>
        </p:spPr>
      </p:sp>
      <p:sp>
        <p:nvSpPr>
          <p:cNvPr id="14" name="Text 12"/>
          <p:cNvSpPr txBox="1"/>
          <p:nvPr/>
        </p:nvSpPr>
        <p:spPr>
          <a:xfrm>
            <a:off x="749808" y="1828800"/>
            <a:ext cx="1234440" cy="292608"/>
          </a:xfrm>
          <a:prstGeom prst="rect">
            <a:avLst/>
          </a:prstGeom>
          <a:noFill/>
          <a:ln/>
        </p:spPr>
        <p:txBody>
          <a:bodyPr wrap="square" lIns="0" tIns="0" rIns="0" bIns="0" rtlCol="0" anchor="ctr"/>
          <a:lstStyle/>
          <a:p>
            <a:pPr algn="ctr" indent="0" marL="0">
              <a:buNone/>
            </a:pPr>
            <a:r>
              <a:rPr lang="en-US" sz="750" i="1" dirty="0">
                <a:solidFill>
                  <a:srgbClr val="C9C1FF"/>
                </a:solidFill>
                <a:latin typeface="Calibri" pitchFamily="34" charset="0"/>
                <a:ea typeface="Calibri" pitchFamily="34" charset="-122"/>
                <a:cs typeface="Calibri" pitchFamily="34" charset="-120"/>
              </a:rPr>
              <a:t>Logo (light version)</a:t>
            </a:r>
            <a:endParaRPr lang="en-US" sz="750" dirty="0"/>
          </a:p>
        </p:txBody>
      </p:sp>
      <p:sp>
        <p:nvSpPr>
          <p:cNvPr id="15" name="Text 13"/>
          <p:cNvSpPr txBox="1"/>
          <p:nvPr/>
        </p:nvSpPr>
        <p:spPr>
          <a:xfrm>
            <a:off x="749808" y="2240280"/>
            <a:ext cx="1645920" cy="411480"/>
          </a:xfrm>
          <a:prstGeom prst="rect">
            <a:avLst/>
          </a:prstGeom>
          <a:noFill/>
          <a:ln/>
        </p:spPr>
        <p:txBody>
          <a:bodyPr wrap="square" lIns="0" tIns="0" rIns="0" bIns="0" rtlCol="0" anchor="t"/>
          <a:lstStyle/>
          <a:p>
            <a:pPr indent="0" marL="0">
              <a:buNone/>
            </a:pPr>
            <a:r>
              <a:rPr lang="en-US" sz="850" dirty="0">
                <a:solidFill>
                  <a:srgbClr val="A9A9C0"/>
                </a:solidFill>
                <a:latin typeface="Calibri" pitchFamily="34" charset="0"/>
                <a:ea typeface="Calibri" pitchFamily="34" charset="-122"/>
                <a:cs typeface="Calibri" pitchFamily="34" charset="-120"/>
              </a:rPr>
              <a:t>Global Connectivity. Trusted Partnerships.</a:t>
            </a:r>
            <a:endParaRPr lang="en-US" sz="850" dirty="0"/>
          </a:p>
        </p:txBody>
      </p:sp>
      <p:sp>
        <p:nvSpPr>
          <p:cNvPr id="16" name="Shape 14"/>
          <p:cNvSpPr/>
          <p:nvPr/>
        </p:nvSpPr>
        <p:spPr>
          <a:xfrm>
            <a:off x="749808" y="2743200"/>
            <a:ext cx="274320" cy="274320"/>
          </a:xfrm>
          <a:prstGeom prst="roundRect">
            <a:avLst>
              <a:gd name="adj" fmla="val 50000"/>
            </a:avLst>
          </a:prstGeom>
          <a:solidFill>
            <a:srgbClr val="2A2A3C"/>
          </a:solidFill>
          <a:ln/>
        </p:spPr>
      </p:sp>
      <p:sp>
        <p:nvSpPr>
          <p:cNvPr id="17" name="Text 15"/>
          <p:cNvSpPr txBox="1"/>
          <p:nvPr/>
        </p:nvSpPr>
        <p:spPr>
          <a:xfrm>
            <a:off x="749808" y="274320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a:t>
            </a:r>
            <a:endParaRPr lang="en-US" sz="900" dirty="0"/>
          </a:p>
        </p:txBody>
      </p:sp>
      <p:sp>
        <p:nvSpPr>
          <p:cNvPr id="18" name="Text 16"/>
          <p:cNvSpPr txBox="1"/>
          <p:nvPr/>
        </p:nvSpPr>
        <p:spPr>
          <a:xfrm>
            <a:off x="2578608" y="1828800"/>
            <a:ext cx="1463040" cy="20116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19" name="Text 17"/>
          <p:cNvSpPr txBox="1"/>
          <p:nvPr/>
        </p:nvSpPr>
        <p:spPr>
          <a:xfrm>
            <a:off x="2578608" y="21214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About Us</a:t>
            </a:r>
            <a:endParaRPr lang="en-US" sz="800" dirty="0"/>
          </a:p>
        </p:txBody>
      </p:sp>
      <p:sp>
        <p:nvSpPr>
          <p:cNvPr id="20" name="Text 18"/>
          <p:cNvSpPr txBox="1"/>
          <p:nvPr/>
        </p:nvSpPr>
        <p:spPr>
          <a:xfrm>
            <a:off x="2578608" y="23500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Leadership</a:t>
            </a:r>
            <a:endParaRPr lang="en-US" sz="800" dirty="0"/>
          </a:p>
        </p:txBody>
      </p:sp>
      <p:sp>
        <p:nvSpPr>
          <p:cNvPr id="21" name="Text 19"/>
          <p:cNvSpPr txBox="1"/>
          <p:nvPr/>
        </p:nvSpPr>
        <p:spPr>
          <a:xfrm>
            <a:off x="2578608" y="25786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Contact Us</a:t>
            </a:r>
            <a:endParaRPr lang="en-US" sz="800" dirty="0"/>
          </a:p>
        </p:txBody>
      </p:sp>
      <p:sp>
        <p:nvSpPr>
          <p:cNvPr id="22" name="Text 20"/>
          <p:cNvSpPr txBox="1"/>
          <p:nvPr/>
        </p:nvSpPr>
        <p:spPr>
          <a:xfrm>
            <a:off x="4041648" y="1828800"/>
            <a:ext cx="1463040" cy="20116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Services</a:t>
            </a:r>
            <a:endParaRPr lang="en-US" sz="900" dirty="0"/>
          </a:p>
        </p:txBody>
      </p:sp>
      <p:sp>
        <p:nvSpPr>
          <p:cNvPr id="23" name="Text 21"/>
          <p:cNvSpPr txBox="1"/>
          <p:nvPr/>
        </p:nvSpPr>
        <p:spPr>
          <a:xfrm>
            <a:off x="4041648" y="21214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VoIP &amp; Voice Termination</a:t>
            </a:r>
            <a:endParaRPr lang="en-US" sz="800" dirty="0"/>
          </a:p>
        </p:txBody>
      </p:sp>
      <p:sp>
        <p:nvSpPr>
          <p:cNvPr id="24" name="Text 22"/>
          <p:cNvSpPr txBox="1"/>
          <p:nvPr/>
        </p:nvSpPr>
        <p:spPr>
          <a:xfrm>
            <a:off x="4041648" y="23500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SMS Connectivity</a:t>
            </a:r>
            <a:endParaRPr lang="en-US" sz="800" dirty="0"/>
          </a:p>
        </p:txBody>
      </p:sp>
      <p:sp>
        <p:nvSpPr>
          <p:cNvPr id="25" name="Text 23"/>
          <p:cNvSpPr txBox="1"/>
          <p:nvPr/>
        </p:nvSpPr>
        <p:spPr>
          <a:xfrm>
            <a:off x="4041648" y="25786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Direct Route Solutions</a:t>
            </a:r>
            <a:endParaRPr lang="en-US" sz="800" dirty="0"/>
          </a:p>
        </p:txBody>
      </p:sp>
      <p:sp>
        <p:nvSpPr>
          <p:cNvPr id="26" name="Text 24"/>
          <p:cNvSpPr txBox="1"/>
          <p:nvPr/>
        </p:nvSpPr>
        <p:spPr>
          <a:xfrm>
            <a:off x="4041648" y="2807208"/>
            <a:ext cx="141732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All Services</a:t>
            </a:r>
            <a:endParaRPr lang="en-US" sz="800" dirty="0"/>
          </a:p>
        </p:txBody>
      </p:sp>
      <p:sp>
        <p:nvSpPr>
          <p:cNvPr id="27" name="Text 25"/>
          <p:cNvSpPr txBox="1"/>
          <p:nvPr/>
        </p:nvSpPr>
        <p:spPr>
          <a:xfrm>
            <a:off x="5504688" y="1828800"/>
            <a:ext cx="1463040" cy="20116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Contact</a:t>
            </a:r>
            <a:endParaRPr lang="en-US" sz="900" dirty="0"/>
          </a:p>
        </p:txBody>
      </p:sp>
      <p:sp>
        <p:nvSpPr>
          <p:cNvPr id="28" name="Text 26"/>
          <p:cNvSpPr txBox="1"/>
          <p:nvPr/>
        </p:nvSpPr>
        <p:spPr>
          <a:xfrm>
            <a:off x="5504688" y="2121408"/>
            <a:ext cx="160020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info@omaginfo.com</a:t>
            </a:r>
            <a:endParaRPr lang="en-US" sz="800" dirty="0"/>
          </a:p>
        </p:txBody>
      </p:sp>
      <p:sp>
        <p:nvSpPr>
          <p:cNvPr id="29" name="Text 27"/>
          <p:cNvSpPr txBox="1"/>
          <p:nvPr/>
        </p:nvSpPr>
        <p:spPr>
          <a:xfrm>
            <a:off x="5504688" y="2350008"/>
            <a:ext cx="160020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+1 (725) 465-8316</a:t>
            </a:r>
            <a:endParaRPr lang="en-US" sz="800" dirty="0"/>
          </a:p>
        </p:txBody>
      </p:sp>
      <p:sp>
        <p:nvSpPr>
          <p:cNvPr id="30" name="Text 28"/>
          <p:cNvSpPr txBox="1"/>
          <p:nvPr/>
        </p:nvSpPr>
        <p:spPr>
          <a:xfrm>
            <a:off x="5504688" y="2578608"/>
            <a:ext cx="160020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1309 Coffeen Avenue, STE 1200,</a:t>
            </a:r>
            <a:endParaRPr lang="en-US" sz="800" dirty="0"/>
          </a:p>
        </p:txBody>
      </p:sp>
      <p:sp>
        <p:nvSpPr>
          <p:cNvPr id="31" name="Text 29"/>
          <p:cNvSpPr txBox="1"/>
          <p:nvPr/>
        </p:nvSpPr>
        <p:spPr>
          <a:xfrm>
            <a:off x="5504688" y="2807208"/>
            <a:ext cx="1600200" cy="201168"/>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Sheridan, Wyoming, USA 8280</a:t>
            </a:r>
            <a:endParaRPr lang="en-US" sz="800" dirty="0"/>
          </a:p>
        </p:txBody>
      </p:sp>
      <p:sp>
        <p:nvSpPr>
          <p:cNvPr id="32" name="Shape 30"/>
          <p:cNvSpPr/>
          <p:nvPr/>
        </p:nvSpPr>
        <p:spPr>
          <a:xfrm>
            <a:off x="5870448" y="3063240"/>
            <a:ext cx="537210" cy="182880"/>
          </a:xfrm>
          <a:prstGeom prst="roundRect">
            <a:avLst>
              <a:gd name="adj" fmla="val 50000"/>
            </a:avLst>
          </a:prstGeom>
          <a:solidFill>
            <a:srgbClr val="FDE9D3"/>
          </a:solidFill>
          <a:ln/>
        </p:spPr>
      </p:sp>
      <p:sp>
        <p:nvSpPr>
          <p:cNvPr id="33" name="Text 31"/>
          <p:cNvSpPr txBox="1"/>
          <p:nvPr/>
        </p:nvSpPr>
        <p:spPr>
          <a:xfrm>
            <a:off x="5870448" y="3063240"/>
            <a:ext cx="537210"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34" name="Shape 32"/>
          <p:cNvSpPr/>
          <p:nvPr/>
        </p:nvSpPr>
        <p:spPr>
          <a:xfrm>
            <a:off x="749808" y="3566160"/>
            <a:ext cx="6135624" cy="0"/>
          </a:xfrm>
          <a:prstGeom prst="line">
            <a:avLst/>
          </a:prstGeom>
          <a:noFill/>
          <a:ln w="12700">
            <a:solidFill>
              <a:srgbClr val="2E2E40"/>
            </a:solidFill>
            <a:prstDash val="solid"/>
          </a:ln>
        </p:spPr>
      </p:sp>
      <p:sp>
        <p:nvSpPr>
          <p:cNvPr id="35" name="Text 33"/>
          <p:cNvSpPr txBox="1"/>
          <p:nvPr/>
        </p:nvSpPr>
        <p:spPr>
          <a:xfrm>
            <a:off x="749808" y="3703320"/>
            <a:ext cx="2743200" cy="201168"/>
          </a:xfrm>
          <a:prstGeom prst="rect">
            <a:avLst/>
          </a:prstGeom>
          <a:noFill/>
          <a:ln/>
        </p:spPr>
        <p:txBody>
          <a:bodyPr wrap="square" lIns="0" tIns="0" rIns="0" bIns="0" rtlCol="0" anchor="t"/>
          <a:lstStyle/>
          <a:p>
            <a:pPr indent="0" marL="0">
              <a:buNone/>
            </a:pPr>
            <a:r>
              <a:rPr lang="en-US" sz="800" dirty="0">
                <a:solidFill>
                  <a:srgbClr val="8B8BA3"/>
                </a:solidFill>
                <a:latin typeface="Calibri" pitchFamily="34" charset="0"/>
                <a:ea typeface="Calibri" pitchFamily="34" charset="-122"/>
                <a:cs typeface="Calibri" pitchFamily="34" charset="-120"/>
              </a:rPr>
              <a:t>© 2026 Omaginfo LLC. All rights reserved.</a:t>
            </a:r>
            <a:endParaRPr lang="en-US" sz="800" dirty="0"/>
          </a:p>
        </p:txBody>
      </p:sp>
      <p:sp>
        <p:nvSpPr>
          <p:cNvPr id="36" name="Text 34"/>
          <p:cNvSpPr txBox="1"/>
          <p:nvPr/>
        </p:nvSpPr>
        <p:spPr>
          <a:xfrm>
            <a:off x="5056632" y="3703320"/>
            <a:ext cx="1828800" cy="201168"/>
          </a:xfrm>
          <a:prstGeom prst="rect">
            <a:avLst/>
          </a:prstGeom>
          <a:noFill/>
          <a:ln/>
        </p:spPr>
        <p:txBody>
          <a:bodyPr wrap="square" lIns="0" tIns="0" rIns="0" bIns="0" rtlCol="0" anchor="t"/>
          <a:lstStyle/>
          <a:p>
            <a:pPr algn="r" indent="0" marL="0">
              <a:buNone/>
            </a:pPr>
            <a:r>
              <a:rPr lang="en-US" sz="800" dirty="0">
                <a:solidFill>
                  <a:srgbClr val="8B8BA3"/>
                </a:solidFill>
                <a:latin typeface="Calibri" pitchFamily="34" charset="0"/>
                <a:ea typeface="Calibri" pitchFamily="34" charset="-122"/>
                <a:cs typeface="Calibri" pitchFamily="34" charset="-120"/>
              </a:rPr>
              <a:t>Privacy Policy     Terms of Use</a:t>
            </a:r>
            <a:endParaRPr lang="en-US" sz="800" dirty="0"/>
          </a:p>
        </p:txBody>
      </p:sp>
      <p:sp>
        <p:nvSpPr>
          <p:cNvPr id="37" name="Text 35"/>
          <p:cNvSpPr txBox="1"/>
          <p:nvPr/>
        </p:nvSpPr>
        <p:spPr>
          <a:xfrm>
            <a:off x="548640" y="4526280"/>
            <a:ext cx="6537960" cy="45720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Year updates automatically. Newsletter column from the sample is replaced by the Contact column (no newsletter in the brief).</a:t>
            </a:r>
            <a:endParaRPr lang="en-US" sz="1100" dirty="0"/>
          </a:p>
        </p:txBody>
      </p:sp>
      <p:sp>
        <p:nvSpPr>
          <p:cNvPr id="38" name="Shape 36"/>
          <p:cNvSpPr/>
          <p:nvPr/>
        </p:nvSpPr>
        <p:spPr>
          <a:xfrm>
            <a:off x="548640" y="5074920"/>
            <a:ext cx="6537960" cy="1188720"/>
          </a:xfrm>
          <a:prstGeom prst="roundRect">
            <a:avLst>
              <a:gd name="adj" fmla="val 9231"/>
            </a:avLst>
          </a:prstGeom>
          <a:solidFill>
            <a:srgbClr val="F3F2FA"/>
          </a:solidFill>
          <a:ln/>
        </p:spPr>
      </p:sp>
      <p:sp>
        <p:nvSpPr>
          <p:cNvPr id="39" name="Text 37"/>
          <p:cNvSpPr txBox="1"/>
          <p:nvPr/>
        </p:nvSpPr>
        <p:spPr>
          <a:xfrm>
            <a:off x="777240" y="5074920"/>
            <a:ext cx="6080760" cy="1188720"/>
          </a:xfrm>
          <a:prstGeom prst="rect">
            <a:avLst/>
          </a:prstGeom>
          <a:noFill/>
          <a:ln/>
        </p:spPr>
        <p:txBody>
          <a:bodyPr wrap="square" lIns="0" tIns="0" rIns="0" bIns="0" rtlCol="0" anchor="ctr"/>
          <a:lstStyle/>
          <a:p>
            <a:pPr indent="0" marL="0">
              <a:buNone/>
            </a:pPr>
            <a:r>
              <a:rPr lang="en-US" sz="1200" dirty="0">
                <a:solidFill>
                  <a:srgbClr val="16161F"/>
                </a:solidFill>
                <a:latin typeface="Calibri" pitchFamily="34" charset="0"/>
                <a:ea typeface="Calibri" pitchFamily="34" charset="-122"/>
                <a:cs typeface="Calibri" pitchFamily="34" charset="-120"/>
              </a:rPr>
              <a:t>Mobile: columns stack to 2 (tablet) and 1 (phone); contact items become tap-to-email / tap-to-call links.</a:t>
            </a:r>
            <a:endParaRPr lang="en-US" sz="1200" dirty="0"/>
          </a:p>
        </p:txBody>
      </p:sp>
      <p:sp>
        <p:nvSpPr>
          <p:cNvPr id="40" name="Text 38"/>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41" name="Shape 39"/>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42" name="Image 0" descr="preencoded.png">    </p:cNvPr>
          <p:cNvPicPr>
            <a:picLocks noChangeAspect="1"/>
          </p:cNvPicPr>
          <p:nvPr/>
        </p:nvPicPr>
        <p:blipFill>
          <a:blip r:embed="rId1"/>
          <a:stretch>
            <a:fillRect/>
          </a:stretch>
        </p:blipFill>
        <p:spPr>
          <a:xfrm>
            <a:off x="7415784" y="1598282"/>
            <a:ext cx="4187952" cy="808507"/>
          </a:xfrm>
          <a:prstGeom prst="rect">
            <a:avLst/>
          </a:prstGeom>
        </p:spPr>
      </p:pic>
      <p:sp>
        <p:nvSpPr>
          <p:cNvPr id="43" name="Shape 40"/>
          <p:cNvSpPr/>
          <p:nvPr/>
        </p:nvSpPr>
        <p:spPr>
          <a:xfrm>
            <a:off x="7360920" y="2587752"/>
            <a:ext cx="274320" cy="274320"/>
          </a:xfrm>
          <a:prstGeom prst="ellipse">
            <a:avLst/>
          </a:prstGeom>
          <a:solidFill>
            <a:srgbClr val="ECEBFF"/>
          </a:solidFill>
          <a:ln/>
        </p:spPr>
      </p:sp>
      <p:pic>
        <p:nvPicPr>
          <p:cNvPr id="44" name="Image 1" descr="preencoded.png">    </p:cNvPr>
          <p:cNvPicPr>
            <a:picLocks noChangeAspect="1"/>
          </p:cNvPicPr>
          <p:nvPr/>
        </p:nvPicPr>
        <p:blipFill>
          <a:blip r:embed="rId2"/>
          <a:stretch>
            <a:fillRect/>
          </a:stretch>
        </p:blipFill>
        <p:spPr>
          <a:xfrm>
            <a:off x="7429500" y="2656332"/>
            <a:ext cx="137160" cy="137160"/>
          </a:xfrm>
          <a:prstGeom prst="rect">
            <a:avLst/>
          </a:prstGeom>
        </p:spPr>
      </p:pic>
      <p:sp>
        <p:nvSpPr>
          <p:cNvPr id="45" name="Text 41"/>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6" name="Text 42"/>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Full-width dark band; 4 columns (brand, Company, Services, Contact)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Bottom bar: copyright left, legal links right</a:t>
            </a:r>
            <a:endParaRPr lang="en-US" sz="1100" dirty="0"/>
          </a:p>
        </p:txBody>
      </p:sp>
      <p:sp>
        <p:nvSpPr>
          <p:cNvPr id="47" name="Shape 43"/>
          <p:cNvSpPr/>
          <p:nvPr/>
        </p:nvSpPr>
        <p:spPr>
          <a:xfrm>
            <a:off x="7360920" y="3534156"/>
            <a:ext cx="274320" cy="274320"/>
          </a:xfrm>
          <a:prstGeom prst="ellipse">
            <a:avLst/>
          </a:prstGeom>
          <a:solidFill>
            <a:srgbClr val="ECEBFF"/>
          </a:solidFill>
          <a:ln/>
        </p:spPr>
      </p:sp>
      <p:pic>
        <p:nvPicPr>
          <p:cNvPr id="48" name="Image 2" descr="preencoded.png">    </p:cNvPr>
          <p:cNvPicPr>
            <a:picLocks noChangeAspect="1"/>
          </p:cNvPicPr>
          <p:nvPr/>
        </p:nvPicPr>
        <p:blipFill>
          <a:blip r:embed="rId3"/>
          <a:stretch>
            <a:fillRect/>
          </a:stretch>
        </p:blipFill>
        <p:spPr>
          <a:xfrm>
            <a:off x="7429500" y="3602736"/>
            <a:ext cx="137160" cy="137160"/>
          </a:xfrm>
          <a:prstGeom prst="rect">
            <a:avLst/>
          </a:prstGeom>
        </p:spPr>
      </p:pic>
      <p:sp>
        <p:nvSpPr>
          <p:cNvPr id="49" name="Text 44"/>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0" name="Text 45"/>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Tagline: Global Connectivity. Trusted Partnerships.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phone and address exactly as supplied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LinkedIn: linkedin.com/company/omaginfo-llc</a:t>
            </a:r>
            <a:endParaRPr lang="en-US" sz="1100" dirty="0"/>
          </a:p>
        </p:txBody>
      </p:sp>
      <p:sp>
        <p:nvSpPr>
          <p:cNvPr id="51" name="Shape 46"/>
          <p:cNvSpPr/>
          <p:nvPr/>
        </p:nvSpPr>
        <p:spPr>
          <a:xfrm>
            <a:off x="7360920" y="4480560"/>
            <a:ext cx="274320" cy="274320"/>
          </a:xfrm>
          <a:prstGeom prst="ellipse">
            <a:avLst/>
          </a:prstGeom>
          <a:solidFill>
            <a:srgbClr val="ECEBFF"/>
          </a:solidFill>
          <a:ln/>
        </p:spPr>
      </p:sp>
      <p:pic>
        <p:nvPicPr>
          <p:cNvPr id="52" name="Image 3" descr="preencoded.png">    </p:cNvPr>
          <p:cNvPicPr>
            <a:picLocks noChangeAspect="1"/>
          </p:cNvPicPr>
          <p:nvPr/>
        </p:nvPicPr>
        <p:blipFill>
          <a:blip r:embed="rId4"/>
          <a:stretch>
            <a:fillRect/>
          </a:stretch>
        </p:blipFill>
        <p:spPr>
          <a:xfrm>
            <a:off x="7429500" y="4549140"/>
            <a:ext cx="137160" cy="137160"/>
          </a:xfrm>
          <a:prstGeom prst="rect">
            <a:avLst/>
          </a:prstGeom>
        </p:spPr>
      </p:pic>
      <p:sp>
        <p:nvSpPr>
          <p:cNvPr id="53" name="Text 47"/>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4" name="Text 48"/>
          <p:cNvSpPr txBox="1"/>
          <p:nvPr/>
        </p:nvSpPr>
        <p:spPr>
          <a:xfrm>
            <a:off x="7726680" y="477316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Light/white version of logo (TBC)</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LinkedIn icon in a dark circle, hover turns white</a:t>
            </a:r>
            <a:endParaRPr lang="en-US" sz="1100" dirty="0"/>
          </a:p>
        </p:txBody>
      </p:sp>
      <p:sp>
        <p:nvSpPr>
          <p:cNvPr id="55" name="Shape 49"/>
          <p:cNvSpPr/>
          <p:nvPr/>
        </p:nvSpPr>
        <p:spPr>
          <a:xfrm>
            <a:off x="7360920" y="5257800"/>
            <a:ext cx="274320" cy="274320"/>
          </a:xfrm>
          <a:prstGeom prst="ellipse">
            <a:avLst/>
          </a:prstGeom>
          <a:solidFill>
            <a:srgbClr val="ECEBFF"/>
          </a:solidFill>
          <a:ln/>
        </p:spPr>
      </p:sp>
      <p:pic>
        <p:nvPicPr>
          <p:cNvPr id="56" name="Image 4" descr="preencoded.png">    </p:cNvPr>
          <p:cNvPicPr>
            <a:picLocks noChangeAspect="1"/>
          </p:cNvPicPr>
          <p:nvPr/>
        </p:nvPicPr>
        <p:blipFill>
          <a:blip r:embed="rId5"/>
          <a:stretch>
            <a:fillRect/>
          </a:stretch>
        </p:blipFill>
        <p:spPr>
          <a:xfrm>
            <a:off x="7429500" y="5326380"/>
            <a:ext cx="137160" cy="137160"/>
          </a:xfrm>
          <a:prstGeom prst="rect">
            <a:avLst/>
          </a:prstGeom>
        </p:spPr>
      </p:pic>
      <p:sp>
        <p:nvSpPr>
          <p:cNvPr id="57" name="Text 50"/>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8" name="Text 51"/>
          <p:cNvSpPr txBox="1"/>
          <p:nvPr/>
        </p:nvSpPr>
        <p:spPr>
          <a:xfrm>
            <a:off x="7726680" y="555040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mailto: and tel: links; LinkedIn opens in new tab</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Privacy / Terms pages need client-approved text</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Closing call-to-action band, reused on each page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GLOBAL · CALL-TO-ACTION BAND</a:t>
            </a:r>
            <a:endParaRPr lang="en-US" sz="1050" dirty="0"/>
          </a:p>
        </p:txBody>
      </p:sp>
      <p:sp>
        <p:nvSpPr>
          <p:cNvPr id="4" name="Shape 2"/>
          <p:cNvSpPr/>
          <p:nvPr/>
        </p:nvSpPr>
        <p:spPr>
          <a:xfrm>
            <a:off x="548640" y="1325880"/>
            <a:ext cx="6537960" cy="2103120"/>
          </a:xfrm>
          <a:prstGeom prst="roundRect">
            <a:avLst>
              <a:gd name="adj" fmla="val 5217"/>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749808" y="1737360"/>
            <a:ext cx="6135624" cy="1371600"/>
          </a:xfrm>
          <a:prstGeom prst="roundRect">
            <a:avLst>
              <a:gd name="adj" fmla="val 10667"/>
            </a:avLst>
          </a:prstGeom>
          <a:solidFill>
            <a:srgbClr val="FFFFFF"/>
          </a:solidFill>
          <a:ln w="9525">
            <a:solidFill>
              <a:srgbClr val="E4E3EF"/>
            </a:solidFill>
            <a:prstDash val="solid"/>
          </a:ln>
        </p:spPr>
      </p:sp>
      <p:sp>
        <p:nvSpPr>
          <p:cNvPr id="13" name="Text 11"/>
          <p:cNvSpPr txBox="1"/>
          <p:nvPr/>
        </p:nvSpPr>
        <p:spPr>
          <a:xfrm>
            <a:off x="1024128" y="1938528"/>
            <a:ext cx="3840480" cy="32004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Building connections. Enabling growth.</a:t>
            </a:r>
            <a:endParaRPr lang="en-US" sz="1500" dirty="0"/>
          </a:p>
        </p:txBody>
      </p:sp>
      <p:sp>
        <p:nvSpPr>
          <p:cNvPr id="14" name="Shape 12"/>
          <p:cNvSpPr/>
          <p:nvPr/>
        </p:nvSpPr>
        <p:spPr>
          <a:xfrm>
            <a:off x="1024128" y="2304288"/>
            <a:ext cx="502920" cy="36576"/>
          </a:xfrm>
          <a:prstGeom prst="rect">
            <a:avLst/>
          </a:prstGeom>
          <a:solidFill>
            <a:srgbClr val="7B6CF6"/>
          </a:solidFill>
          <a:ln/>
        </p:spPr>
      </p:sp>
      <p:sp>
        <p:nvSpPr>
          <p:cNvPr id="15" name="Text 13"/>
          <p:cNvSpPr txBox="1"/>
          <p:nvPr/>
        </p:nvSpPr>
        <p:spPr>
          <a:xfrm>
            <a:off x="1024128" y="2450592"/>
            <a:ext cx="3840480" cy="457200"/>
          </a:xfrm>
          <a:prstGeom prst="rect">
            <a:avLst/>
          </a:prstGeom>
          <a:noFill/>
          <a:ln/>
        </p:spPr>
        <p:txBody>
          <a:bodyPr wrap="square" lIns="0" tIns="0" rIns="0" bIns="0" rtlCol="0" anchor="t"/>
          <a:lstStyle/>
          <a:p>
            <a:pPr indent="0" marL="0">
              <a:buNone/>
            </a:pPr>
            <a:r>
              <a:rPr lang="en-US" sz="900" dirty="0">
                <a:solidFill>
                  <a:srgbClr val="5F6075"/>
                </a:solidFill>
                <a:latin typeface="Calibri" pitchFamily="34" charset="0"/>
                <a:ea typeface="Calibri" pitchFamily="34" charset="-122"/>
                <a:cs typeface="Calibri" pitchFamily="34" charset="-120"/>
              </a:rPr>
              <a:t>Connect with Omaginfo LLC to discuss your routing requirements and explore opportunities for collaboration.</a:t>
            </a:r>
            <a:endParaRPr lang="en-US" sz="900" dirty="0"/>
          </a:p>
        </p:txBody>
      </p:sp>
      <p:sp>
        <p:nvSpPr>
          <p:cNvPr id="16" name="Shape 14"/>
          <p:cNvSpPr/>
          <p:nvPr/>
        </p:nvSpPr>
        <p:spPr>
          <a:xfrm>
            <a:off x="5513832" y="2286000"/>
            <a:ext cx="1240658" cy="256032"/>
          </a:xfrm>
          <a:prstGeom prst="roundRect">
            <a:avLst>
              <a:gd name="adj" fmla="val 50000"/>
            </a:avLst>
          </a:prstGeom>
          <a:solidFill>
            <a:srgbClr val="16161F"/>
          </a:solidFill>
          <a:ln/>
        </p:spPr>
      </p:sp>
      <p:sp>
        <p:nvSpPr>
          <p:cNvPr id="17" name="Text 15"/>
          <p:cNvSpPr txBox="1"/>
          <p:nvPr/>
        </p:nvSpPr>
        <p:spPr>
          <a:xfrm>
            <a:off x="5513832" y="2286000"/>
            <a:ext cx="124065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Contact Our Team</a:t>
            </a:r>
            <a:endParaRPr lang="en-US" sz="900" dirty="0"/>
          </a:p>
        </p:txBody>
      </p:sp>
      <p:sp>
        <p:nvSpPr>
          <p:cNvPr id="18" name="Text 16"/>
          <p:cNvSpPr txBox="1"/>
          <p:nvPr/>
        </p:nvSpPr>
        <p:spPr>
          <a:xfrm>
            <a:off x="6736202" y="224028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19" name="Text 17"/>
          <p:cNvSpPr txBox="1"/>
          <p:nvPr/>
        </p:nvSpPr>
        <p:spPr>
          <a:xfrm>
            <a:off x="548640" y="3657600"/>
            <a:ext cx="65379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Copy per page (headings and text from the client document)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6537960" cy="914400"/>
        </p:xfrm>
        <a:graphic>
          <a:graphicData uri="http://schemas.openxmlformats.org/drawingml/2006/table">
            <a:tbl>
              <a:tblPr/>
              <a:tblGrid>
                <a:gridCol w="1737360"/>
                <a:gridCol w="3063240"/>
                <a:gridCol w="17373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Page</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Heading</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Button ✱ → Contact Us</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r>
              <a:tr h="365760">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Home / About / Services</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Building connections. Enabling growth.</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Contact Our Team</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VoIP</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Partner with Omaginfo LLC</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Discuss Voice Routes</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365760">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SMS</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Build Your Global Messaging Network with Omaginfo LLC</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00" dirty="0">
                          <a:solidFill>
                            <a:srgbClr val="16161F"/>
                          </a:solidFill>
                          <a:latin typeface="Calibri" pitchFamily="34" charset="0"/>
                          <a:ea typeface="Calibri" pitchFamily="34" charset="-122"/>
                          <a:cs typeface="Calibri" pitchFamily="34" charset="-120"/>
                        </a:rPr>
                        <a:t>Discuss SMS Routes</a:t>
                      </a:r>
                      <a:endParaRPr lang="en-US" sz="1100" dirty="0">
                        <a:latin typeface="Calibri" charset="0"/>
                        <a:ea typeface="Calibri" charset="0"/>
                        <a:cs typeface="Calibri" charset="0"/>
                      </a:endParaRPr>
                    </a:p>
                  </a:txBody>
                  <a:tcPr marL="73152" marR="73152" marT="73152" marB="73152">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bl>
          </a:graphicData>
        </a:graphic>
      </p:graphicFrame>
      <p:sp>
        <p:nvSpPr>
          <p:cNvPr id="21" name="Shape 18"/>
          <p:cNvSpPr/>
          <p:nvPr/>
        </p:nvSpPr>
        <p:spPr>
          <a:xfrm>
            <a:off x="7360920" y="1325880"/>
            <a:ext cx="274320" cy="274320"/>
          </a:xfrm>
          <a:prstGeom prst="ellipse">
            <a:avLst/>
          </a:prstGeom>
          <a:solidFill>
            <a:srgbClr val="ECEBFF"/>
          </a:solidFill>
          <a:ln/>
        </p:spPr>
      </p:sp>
      <p:pic>
        <p:nvPicPr>
          <p:cNvPr id="22" name="Image 0" descr="preencoded.png">    </p:cNvPr>
          <p:cNvPicPr>
            <a:picLocks noChangeAspect="1"/>
          </p:cNvPicPr>
          <p:nvPr/>
        </p:nvPicPr>
        <p:blipFill>
          <a:blip r:embed="rId1"/>
          <a:stretch>
            <a:fillRect/>
          </a:stretch>
        </p:blipFill>
        <p:spPr>
          <a:xfrm>
            <a:off x="7429500" y="1394460"/>
            <a:ext cx="137160" cy="137160"/>
          </a:xfrm>
          <a:prstGeom prst="rect">
            <a:avLst/>
          </a:prstGeom>
        </p:spPr>
      </p:pic>
      <p:sp>
        <p:nvSpPr>
          <p:cNvPr id="23" name="Text 19"/>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24" name="Text 20"/>
          <p:cNvSpPr txBox="1"/>
          <p:nvPr/>
        </p:nvSpPr>
        <p:spPr>
          <a:xfrm>
            <a:off x="7726680" y="1618488"/>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Full-width light card (sample's 'Managed Networks' banner)</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 short purple line + text left; button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Stacks with button below text on mobile</a:t>
            </a:r>
            <a:endParaRPr lang="en-US" sz="1100" dirty="0"/>
          </a:p>
        </p:txBody>
      </p:sp>
      <p:sp>
        <p:nvSpPr>
          <p:cNvPr id="25" name="Shape 21"/>
          <p:cNvSpPr/>
          <p:nvPr/>
        </p:nvSpPr>
        <p:spPr>
          <a:xfrm>
            <a:off x="7360920" y="2272284"/>
            <a:ext cx="274320" cy="274320"/>
          </a:xfrm>
          <a:prstGeom prst="ellipse">
            <a:avLst/>
          </a:prstGeom>
          <a:solidFill>
            <a:srgbClr val="ECEBFF"/>
          </a:solidFill>
          <a:ln/>
        </p:spPr>
      </p:sp>
      <p:pic>
        <p:nvPicPr>
          <p:cNvPr id="26" name="Image 1" descr="preencoded.png">    </p:cNvPr>
          <p:cNvPicPr>
            <a:picLocks noChangeAspect="1"/>
          </p:cNvPicPr>
          <p:nvPr/>
        </p:nvPicPr>
        <p:blipFill>
          <a:blip r:embed="rId2"/>
          <a:stretch>
            <a:fillRect/>
          </a:stretch>
        </p:blipFill>
        <p:spPr>
          <a:xfrm>
            <a:off x="7429500" y="2340864"/>
            <a:ext cx="137160" cy="137160"/>
          </a:xfrm>
          <a:prstGeom prst="rect">
            <a:avLst/>
          </a:prstGeom>
        </p:spPr>
      </p:pic>
      <p:sp>
        <p:nvSpPr>
          <p:cNvPr id="27" name="Text 22"/>
          <p:cNvSpPr txBox="1"/>
          <p:nvPr/>
        </p:nvSpPr>
        <p:spPr>
          <a:xfrm>
            <a:off x="7726680" y="229057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28" name="Text 23"/>
          <p:cNvSpPr txBox="1"/>
          <p:nvPr/>
        </p:nvSpPr>
        <p:spPr>
          <a:xfrm>
            <a:off x="7726680" y="2564892"/>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White card, 1px border, 22px radius on the page tint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Optional faint globe line-art in the right corner</a:t>
            </a:r>
            <a:endParaRPr lang="en-US" sz="1100" dirty="0"/>
          </a:p>
        </p:txBody>
      </p:sp>
      <p:sp>
        <p:nvSpPr>
          <p:cNvPr id="29" name="Shape 24"/>
          <p:cNvSpPr/>
          <p:nvPr/>
        </p:nvSpPr>
        <p:spPr>
          <a:xfrm>
            <a:off x="7360920" y="3049524"/>
            <a:ext cx="274320" cy="274320"/>
          </a:xfrm>
          <a:prstGeom prst="ellipse">
            <a:avLst/>
          </a:prstGeom>
          <a:solidFill>
            <a:srgbClr val="ECEBFF"/>
          </a:solidFill>
          <a:ln/>
        </p:spPr>
      </p:sp>
      <p:pic>
        <p:nvPicPr>
          <p:cNvPr id="30" name="Image 2" descr="preencoded.png">    </p:cNvPr>
          <p:cNvPicPr>
            <a:picLocks noChangeAspect="1"/>
          </p:cNvPicPr>
          <p:nvPr/>
        </p:nvPicPr>
        <p:blipFill>
          <a:blip r:embed="rId3"/>
          <a:stretch>
            <a:fillRect/>
          </a:stretch>
        </p:blipFill>
        <p:spPr>
          <a:xfrm>
            <a:off x="7429500" y="3118104"/>
            <a:ext cx="137160" cy="137160"/>
          </a:xfrm>
          <a:prstGeom prst="rect">
            <a:avLst/>
          </a:prstGeom>
        </p:spPr>
      </p:pic>
      <p:sp>
        <p:nvSpPr>
          <p:cNvPr id="31" name="Text 25"/>
          <p:cNvSpPr txBox="1"/>
          <p:nvPr/>
        </p:nvSpPr>
        <p:spPr>
          <a:xfrm>
            <a:off x="7726680" y="306781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32" name="Text 26"/>
          <p:cNvSpPr txBox="1"/>
          <p:nvPr/>
        </p:nvSpPr>
        <p:spPr>
          <a:xfrm>
            <a:off x="7726680" y="3342132"/>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 opens Contact Us with the enquiry type pre-selected (Voice on VoIP page, SMS on SMS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Implemented via a URL parameter, e.g. /contact?type=sms</a:t>
            </a:r>
            <a:endParaRPr lang="en-US" sz="1100" dirty="0"/>
          </a:p>
        </p:txBody>
      </p:sp>
      <p:sp>
        <p:nvSpPr>
          <p:cNvPr id="33" name="Shape 27"/>
          <p:cNvSpPr/>
          <p:nvPr/>
        </p:nvSpPr>
        <p:spPr>
          <a:xfrm>
            <a:off x="7360920" y="3995928"/>
            <a:ext cx="274320" cy="274320"/>
          </a:xfrm>
          <a:prstGeom prst="ellipse">
            <a:avLst/>
          </a:prstGeom>
          <a:solidFill>
            <a:srgbClr val="ECEBFF"/>
          </a:solidFill>
          <a:ln/>
        </p:spPr>
      </p:sp>
      <p:pic>
        <p:nvPicPr>
          <p:cNvPr id="34" name="Image 3" descr="preencoded.png">    </p:cNvPr>
          <p:cNvPicPr>
            <a:picLocks noChangeAspect="1"/>
          </p:cNvPicPr>
          <p:nvPr/>
        </p:nvPicPr>
        <p:blipFill>
          <a:blip r:embed="rId4"/>
          <a:stretch>
            <a:fillRect/>
          </a:stretch>
        </p:blipFill>
        <p:spPr>
          <a:xfrm>
            <a:off x="7429500" y="4064508"/>
            <a:ext cx="137160" cy="137160"/>
          </a:xfrm>
          <a:prstGeom prst="rect">
            <a:avLst/>
          </a:prstGeom>
        </p:spPr>
      </p:pic>
      <p:sp>
        <p:nvSpPr>
          <p:cNvPr id="35" name="Text 28"/>
          <p:cNvSpPr txBox="1"/>
          <p:nvPr/>
        </p:nvSpPr>
        <p:spPr>
          <a:xfrm>
            <a:off x="7726680" y="401421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Notes</a:t>
            </a:r>
            <a:endParaRPr lang="en-US" sz="1200" dirty="0"/>
          </a:p>
        </p:txBody>
      </p:sp>
      <p:sp>
        <p:nvSpPr>
          <p:cNvPr id="36" name="Text 29"/>
          <p:cNvSpPr txBox="1"/>
          <p:nvPr/>
        </p:nvSpPr>
        <p:spPr>
          <a:xfrm>
            <a:off x="7726680" y="428853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 labels are proposed (✱); doc says 'Connect with Omaginfo LLC' / 'Contact our team'</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03</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Home page</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Introduces Omaginfo LLC, its five services and routes visitors to the VoIP, SMS and Contact pages.</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086600" y="2295596"/>
            <a:ext cx="4389120" cy="2266809"/>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Home page at a glance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HOME · PAGE STRUCTURE</a:t>
            </a:r>
            <a:endParaRPr lang="en-US" sz="1050" dirty="0"/>
          </a:p>
        </p:txBody>
      </p:sp>
      <p:sp>
        <p:nvSpPr>
          <p:cNvPr id="4" name="Shape 2"/>
          <p:cNvSpPr/>
          <p:nvPr/>
        </p:nvSpPr>
        <p:spPr>
          <a:xfrm>
            <a:off x="548640" y="1325880"/>
            <a:ext cx="1600200" cy="4983480"/>
          </a:xfrm>
          <a:prstGeom prst="roundRect">
            <a:avLst>
              <a:gd name="adj" fmla="val 5714"/>
            </a:avLst>
          </a:prstGeom>
          <a:solidFill>
            <a:srgbClr val="F3F2FA"/>
          </a:solidFill>
          <a:ln w="9525">
            <a:solidFill>
              <a:srgbClr val="E4E3EF"/>
            </a:solidFill>
            <a:prstDash val="solid"/>
          </a:ln>
        </p:spPr>
      </p:sp>
      <p:pic>
        <p:nvPicPr>
          <p:cNvPr id="5" name="Image 0" descr="preencoded.png">    </p:cNvPr>
          <p:cNvPicPr>
            <a:picLocks noChangeAspect="1"/>
          </p:cNvPicPr>
          <p:nvPr/>
        </p:nvPicPr>
        <p:blipFill>
          <a:blip r:embed="rId1"/>
          <a:stretch>
            <a:fillRect/>
          </a:stretch>
        </p:blipFill>
        <p:spPr>
          <a:xfrm>
            <a:off x="621792" y="1415119"/>
            <a:ext cx="1463040" cy="4805003"/>
          </a:xfrm>
          <a:prstGeom prst="rect">
            <a:avLst/>
          </a:prstGeom>
        </p:spPr>
      </p:pic>
      <p:sp>
        <p:nvSpPr>
          <p:cNvPr id="6" name="Text 3"/>
          <p:cNvSpPr txBox="1"/>
          <p:nvPr/>
        </p:nvSpPr>
        <p:spPr>
          <a:xfrm>
            <a:off x="548640" y="6327648"/>
            <a:ext cx="1600200" cy="182880"/>
          </a:xfrm>
          <a:prstGeom prst="rect">
            <a:avLst/>
          </a:prstGeom>
          <a:noFill/>
          <a:ln/>
        </p:spPr>
        <p:txBody>
          <a:bodyPr wrap="square" lIns="0" tIns="0" rIns="0" bIns="0" rtlCol="0" anchor="t"/>
          <a:lstStyle/>
          <a:p>
            <a:pPr algn="ctr" indent="0" marL="0">
              <a:buNone/>
            </a:pPr>
            <a:r>
              <a:rPr lang="en-US" sz="900" dirty="0">
                <a:solidFill>
                  <a:srgbClr val="8B8BA3"/>
                </a:solidFill>
                <a:latin typeface="Calibri" pitchFamily="34" charset="0"/>
                <a:ea typeface="Calibri" pitchFamily="34" charset="-122"/>
                <a:cs typeface="Calibri" pitchFamily="34" charset="-120"/>
              </a:rPr>
              <a:t>Sample</a:t>
            </a:r>
            <a:endParaRPr lang="en-US" sz="900" dirty="0"/>
          </a:p>
        </p:txBody>
      </p:sp>
      <p:sp>
        <p:nvSpPr>
          <p:cNvPr id="7" name="Text 4"/>
          <p:cNvSpPr txBox="1"/>
          <p:nvPr/>
        </p:nvSpPr>
        <p:spPr>
          <a:xfrm>
            <a:off x="2468880" y="1325880"/>
            <a:ext cx="2194560" cy="228600"/>
          </a:xfrm>
          <a:prstGeom prst="rect">
            <a:avLst/>
          </a:prstGeom>
          <a:noFill/>
          <a:ln/>
        </p:spPr>
        <p:txBody>
          <a:bodyPr wrap="square" lIns="0" tIns="0" rIns="0" bIns="0" rtlCol="0" anchor="t"/>
          <a:lstStyle/>
          <a:p>
            <a:pPr indent="0" marL="0">
              <a:buNone/>
            </a:pPr>
            <a:r>
              <a:rPr lang="en-US" sz="900" b="1" spc="100" kern="0" dirty="0">
                <a:solidFill>
                  <a:srgbClr val="8B8BA3"/>
                </a:solidFill>
                <a:latin typeface="Calibri" pitchFamily="34" charset="0"/>
                <a:ea typeface="Calibri" pitchFamily="34" charset="-122"/>
                <a:cs typeface="Calibri" pitchFamily="34" charset="-120"/>
              </a:rPr>
              <a:t>SAMPLE SECTION</a:t>
            </a:r>
            <a:endParaRPr lang="en-US" sz="900" dirty="0"/>
          </a:p>
        </p:txBody>
      </p:sp>
      <p:sp>
        <p:nvSpPr>
          <p:cNvPr id="8" name="Text 5"/>
          <p:cNvSpPr txBox="1"/>
          <p:nvPr/>
        </p:nvSpPr>
        <p:spPr>
          <a:xfrm>
            <a:off x="5257800" y="1325880"/>
            <a:ext cx="3657600" cy="228600"/>
          </a:xfrm>
          <a:prstGeom prst="rect">
            <a:avLst/>
          </a:prstGeom>
          <a:noFill/>
          <a:ln/>
        </p:spPr>
        <p:txBody>
          <a:bodyPr wrap="square" lIns="0" tIns="0" rIns="0" bIns="0" rtlCol="0" anchor="t"/>
          <a:lstStyle/>
          <a:p>
            <a:pPr indent="0" marL="0">
              <a:buNone/>
            </a:pPr>
            <a:r>
              <a:rPr lang="en-US" sz="900" b="1" spc="100" kern="0" dirty="0">
                <a:solidFill>
                  <a:srgbClr val="7B6CF6"/>
                </a:solidFill>
                <a:latin typeface="Calibri" pitchFamily="34" charset="0"/>
                <a:ea typeface="Calibri" pitchFamily="34" charset="-122"/>
                <a:cs typeface="Calibri" pitchFamily="34" charset="-120"/>
              </a:rPr>
              <a:t>PROPOSED HOME SECTION</a:t>
            </a:r>
            <a:endParaRPr lang="en-US" sz="900" dirty="0"/>
          </a:p>
        </p:txBody>
      </p:sp>
      <p:sp>
        <p:nvSpPr>
          <p:cNvPr id="9" name="Shape 6"/>
          <p:cNvSpPr/>
          <p:nvPr/>
        </p:nvSpPr>
        <p:spPr>
          <a:xfrm>
            <a:off x="2468880" y="1645920"/>
            <a:ext cx="2377440" cy="411480"/>
          </a:xfrm>
          <a:prstGeom prst="roundRect">
            <a:avLst>
              <a:gd name="adj" fmla="val 17778"/>
            </a:avLst>
          </a:prstGeom>
          <a:solidFill>
            <a:srgbClr val="F3F2FA"/>
          </a:solidFill>
          <a:ln/>
        </p:spPr>
      </p:sp>
      <p:sp>
        <p:nvSpPr>
          <p:cNvPr id="10" name="Text 7"/>
          <p:cNvSpPr txBox="1"/>
          <p:nvPr/>
        </p:nvSpPr>
        <p:spPr>
          <a:xfrm>
            <a:off x="2606040" y="1645920"/>
            <a:ext cx="2194560" cy="41148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Navbar</a:t>
            </a:r>
            <a:endParaRPr lang="en-US" sz="1150" dirty="0"/>
          </a:p>
        </p:txBody>
      </p:sp>
      <p:pic>
        <p:nvPicPr>
          <p:cNvPr id="11" name="Image 1" descr="preencoded.png">    </p:cNvPr>
          <p:cNvPicPr>
            <a:picLocks noChangeAspect="1"/>
          </p:cNvPicPr>
          <p:nvPr/>
        </p:nvPicPr>
        <p:blipFill>
          <a:blip r:embed="rId2"/>
          <a:stretch>
            <a:fillRect/>
          </a:stretch>
        </p:blipFill>
        <p:spPr>
          <a:xfrm>
            <a:off x="4937760" y="1760220"/>
            <a:ext cx="182880" cy="182880"/>
          </a:xfrm>
          <a:prstGeom prst="rect">
            <a:avLst/>
          </a:prstGeom>
        </p:spPr>
      </p:pic>
      <p:sp>
        <p:nvSpPr>
          <p:cNvPr id="12" name="Shape 8"/>
          <p:cNvSpPr/>
          <p:nvPr/>
        </p:nvSpPr>
        <p:spPr>
          <a:xfrm>
            <a:off x="5257800" y="1645920"/>
            <a:ext cx="6400800" cy="411480"/>
          </a:xfrm>
          <a:prstGeom prst="roundRect">
            <a:avLst>
              <a:gd name="adj" fmla="val 17778"/>
            </a:avLst>
          </a:prstGeom>
          <a:solidFill>
            <a:srgbClr val="16161F"/>
          </a:solidFill>
          <a:ln w="9525">
            <a:solidFill>
              <a:srgbClr val="E4E3EF"/>
            </a:solidFill>
            <a:prstDash val="solid"/>
          </a:ln>
        </p:spPr>
      </p:sp>
      <p:sp>
        <p:nvSpPr>
          <p:cNvPr id="13" name="Text 9"/>
          <p:cNvSpPr txBox="1"/>
          <p:nvPr/>
        </p:nvSpPr>
        <p:spPr>
          <a:xfrm>
            <a:off x="5440680" y="1645920"/>
            <a:ext cx="61264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Navigation bar   </a:t>
            </a:r>
            <a:pPr indent="0" marL="0">
              <a:buNone/>
            </a:pPr>
            <a:r>
              <a:rPr lang="en-US" sz="1200" dirty="0">
                <a:solidFill>
                  <a:srgbClr val="C9C9DA"/>
                </a:solidFill>
                <a:latin typeface="Calibri" pitchFamily="34" charset="0"/>
                <a:ea typeface="Calibri" pitchFamily="34" charset="-122"/>
                <a:cs typeface="Calibri" pitchFamily="34" charset="-120"/>
              </a:rPr>
              <a:t>Global component</a:t>
            </a:r>
            <a:endParaRPr lang="en-US" sz="1200" dirty="0"/>
          </a:p>
        </p:txBody>
      </p:sp>
      <p:sp>
        <p:nvSpPr>
          <p:cNvPr id="14" name="Shape 10"/>
          <p:cNvSpPr/>
          <p:nvPr/>
        </p:nvSpPr>
        <p:spPr>
          <a:xfrm>
            <a:off x="2468880" y="2148840"/>
            <a:ext cx="2377440" cy="685800"/>
          </a:xfrm>
          <a:prstGeom prst="roundRect">
            <a:avLst>
              <a:gd name="adj" fmla="val 10667"/>
            </a:avLst>
          </a:prstGeom>
          <a:solidFill>
            <a:srgbClr val="F3F2FA"/>
          </a:solidFill>
          <a:ln/>
        </p:spPr>
      </p:sp>
      <p:sp>
        <p:nvSpPr>
          <p:cNvPr id="15" name="Text 11"/>
          <p:cNvSpPr txBox="1"/>
          <p:nvPr/>
        </p:nvSpPr>
        <p:spPr>
          <a:xfrm>
            <a:off x="2606040" y="2148840"/>
            <a:ext cx="2194560" cy="68580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Hero</a:t>
            </a:r>
            <a:endParaRPr lang="en-US" sz="1150" dirty="0"/>
          </a:p>
        </p:txBody>
      </p:sp>
      <p:pic>
        <p:nvPicPr>
          <p:cNvPr id="16" name="Image 2" descr="preencoded.png">    </p:cNvPr>
          <p:cNvPicPr>
            <a:picLocks noChangeAspect="1"/>
          </p:cNvPicPr>
          <p:nvPr/>
        </p:nvPicPr>
        <p:blipFill>
          <a:blip r:embed="rId3"/>
          <a:stretch>
            <a:fillRect/>
          </a:stretch>
        </p:blipFill>
        <p:spPr>
          <a:xfrm>
            <a:off x="4937760" y="2400300"/>
            <a:ext cx="182880" cy="182880"/>
          </a:xfrm>
          <a:prstGeom prst="rect">
            <a:avLst/>
          </a:prstGeom>
        </p:spPr>
      </p:pic>
      <p:sp>
        <p:nvSpPr>
          <p:cNvPr id="17" name="Shape 12"/>
          <p:cNvSpPr/>
          <p:nvPr/>
        </p:nvSpPr>
        <p:spPr>
          <a:xfrm>
            <a:off x="5257800" y="2148840"/>
            <a:ext cx="6400800" cy="685800"/>
          </a:xfrm>
          <a:prstGeom prst="roundRect">
            <a:avLst>
              <a:gd name="adj" fmla="val 10667"/>
            </a:avLst>
          </a:prstGeom>
          <a:solidFill>
            <a:srgbClr val="FFFFFF"/>
          </a:solidFill>
          <a:ln w="9525">
            <a:solidFill>
              <a:srgbClr val="E4E3EF"/>
            </a:solidFill>
            <a:prstDash val="solid"/>
          </a:ln>
        </p:spPr>
      </p:sp>
      <p:sp>
        <p:nvSpPr>
          <p:cNvPr id="18" name="Text 13"/>
          <p:cNvSpPr txBox="1"/>
          <p:nvPr/>
        </p:nvSpPr>
        <p:spPr>
          <a:xfrm>
            <a:off x="5440680" y="2148840"/>
            <a:ext cx="6126480" cy="68580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Hero   </a:t>
            </a:r>
            <a:pPr indent="0" marL="0">
              <a:buNone/>
            </a:pPr>
            <a:r>
              <a:rPr lang="en-US" sz="1200" dirty="0">
                <a:solidFill>
                  <a:srgbClr val="5F6075"/>
                </a:solidFill>
                <a:latin typeface="Calibri" pitchFamily="34" charset="0"/>
                <a:ea typeface="Calibri" pitchFamily="34" charset="-122"/>
                <a:cs typeface="Calibri" pitchFamily="34" charset="-120"/>
              </a:rPr>
              <a:t>Connecting Businesses Through Global Voice &amp; Messaging</a:t>
            </a:r>
            <a:endParaRPr lang="en-US" sz="1200" dirty="0"/>
          </a:p>
        </p:txBody>
      </p:sp>
      <p:sp>
        <p:nvSpPr>
          <p:cNvPr id="19" name="Shape 14"/>
          <p:cNvSpPr/>
          <p:nvPr/>
        </p:nvSpPr>
        <p:spPr>
          <a:xfrm>
            <a:off x="2468880" y="2926080"/>
            <a:ext cx="2377440" cy="548640"/>
          </a:xfrm>
          <a:prstGeom prst="roundRect">
            <a:avLst>
              <a:gd name="adj" fmla="val 13333"/>
            </a:avLst>
          </a:prstGeom>
          <a:solidFill>
            <a:srgbClr val="F3F2FA"/>
          </a:solidFill>
          <a:ln/>
        </p:spPr>
      </p:sp>
      <p:sp>
        <p:nvSpPr>
          <p:cNvPr id="20" name="Text 15"/>
          <p:cNvSpPr txBox="1"/>
          <p:nvPr/>
        </p:nvSpPr>
        <p:spPr>
          <a:xfrm>
            <a:off x="2606040" y="2926080"/>
            <a:ext cx="2194560" cy="54864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Highlight strip</a:t>
            </a:r>
            <a:endParaRPr lang="en-US" sz="1150" dirty="0"/>
          </a:p>
        </p:txBody>
      </p:sp>
      <p:pic>
        <p:nvPicPr>
          <p:cNvPr id="21" name="Image 3" descr="preencoded.png">    </p:cNvPr>
          <p:cNvPicPr>
            <a:picLocks noChangeAspect="1"/>
          </p:cNvPicPr>
          <p:nvPr/>
        </p:nvPicPr>
        <p:blipFill>
          <a:blip r:embed="rId4"/>
          <a:stretch>
            <a:fillRect/>
          </a:stretch>
        </p:blipFill>
        <p:spPr>
          <a:xfrm>
            <a:off x="4937760" y="3108960"/>
            <a:ext cx="182880" cy="182880"/>
          </a:xfrm>
          <a:prstGeom prst="rect">
            <a:avLst/>
          </a:prstGeom>
        </p:spPr>
      </p:pic>
      <p:sp>
        <p:nvSpPr>
          <p:cNvPr id="22" name="Shape 16"/>
          <p:cNvSpPr/>
          <p:nvPr/>
        </p:nvSpPr>
        <p:spPr>
          <a:xfrm>
            <a:off x="5257800" y="2926080"/>
            <a:ext cx="6400800" cy="548640"/>
          </a:xfrm>
          <a:prstGeom prst="roundRect">
            <a:avLst>
              <a:gd name="adj" fmla="val 13333"/>
            </a:avLst>
          </a:prstGeom>
          <a:solidFill>
            <a:srgbClr val="FFFFFF"/>
          </a:solidFill>
          <a:ln w="9525">
            <a:solidFill>
              <a:srgbClr val="E4E3EF"/>
            </a:solidFill>
            <a:prstDash val="solid"/>
          </a:ln>
        </p:spPr>
      </p:sp>
      <p:sp>
        <p:nvSpPr>
          <p:cNvPr id="23" name="Text 17"/>
          <p:cNvSpPr txBox="1"/>
          <p:nvPr/>
        </p:nvSpPr>
        <p:spPr>
          <a:xfrm>
            <a:off x="5440680" y="2926080"/>
            <a:ext cx="6126480" cy="54864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Featured solutions   </a:t>
            </a:r>
            <a:pPr indent="0" marL="0">
              <a:buNone/>
            </a:pPr>
            <a:r>
              <a:rPr lang="en-US" sz="1200" dirty="0">
                <a:solidFill>
                  <a:srgbClr val="5F6075"/>
                </a:solidFill>
                <a:latin typeface="Calibri" pitchFamily="34" charset="0"/>
                <a:ea typeface="Calibri" pitchFamily="34" charset="-122"/>
                <a:cs typeface="Calibri" pitchFamily="34" charset="-120"/>
              </a:rPr>
              <a:t>Two cards → VoIP page and SMS page</a:t>
            </a:r>
            <a:endParaRPr lang="en-US" sz="1200" dirty="0"/>
          </a:p>
        </p:txBody>
      </p:sp>
      <p:sp>
        <p:nvSpPr>
          <p:cNvPr id="24" name="Shape 18"/>
          <p:cNvSpPr/>
          <p:nvPr/>
        </p:nvSpPr>
        <p:spPr>
          <a:xfrm>
            <a:off x="2468880" y="3566160"/>
            <a:ext cx="2377440" cy="685800"/>
          </a:xfrm>
          <a:prstGeom prst="roundRect">
            <a:avLst>
              <a:gd name="adj" fmla="val 10667"/>
            </a:avLst>
          </a:prstGeom>
          <a:solidFill>
            <a:srgbClr val="F3F2FA"/>
          </a:solidFill>
          <a:ln/>
        </p:spPr>
      </p:sp>
      <p:sp>
        <p:nvSpPr>
          <p:cNvPr id="25" name="Text 19"/>
          <p:cNvSpPr txBox="1"/>
          <p:nvPr/>
        </p:nvSpPr>
        <p:spPr>
          <a:xfrm>
            <a:off x="2606040" y="3566160"/>
            <a:ext cx="2194560" cy="68580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About + founders + timeline</a:t>
            </a:r>
            <a:endParaRPr lang="en-US" sz="1150" dirty="0"/>
          </a:p>
        </p:txBody>
      </p:sp>
      <p:pic>
        <p:nvPicPr>
          <p:cNvPr id="26" name="Image 4" descr="preencoded.png">    </p:cNvPr>
          <p:cNvPicPr>
            <a:picLocks noChangeAspect="1"/>
          </p:cNvPicPr>
          <p:nvPr/>
        </p:nvPicPr>
        <p:blipFill>
          <a:blip r:embed="rId5"/>
          <a:stretch>
            <a:fillRect/>
          </a:stretch>
        </p:blipFill>
        <p:spPr>
          <a:xfrm>
            <a:off x="4937760" y="3817620"/>
            <a:ext cx="182880" cy="182880"/>
          </a:xfrm>
          <a:prstGeom prst="rect">
            <a:avLst/>
          </a:prstGeom>
        </p:spPr>
      </p:pic>
      <p:sp>
        <p:nvSpPr>
          <p:cNvPr id="27" name="Shape 20"/>
          <p:cNvSpPr/>
          <p:nvPr/>
        </p:nvSpPr>
        <p:spPr>
          <a:xfrm>
            <a:off x="5257800" y="3566160"/>
            <a:ext cx="6400800" cy="685800"/>
          </a:xfrm>
          <a:prstGeom prst="roundRect">
            <a:avLst>
              <a:gd name="adj" fmla="val 10667"/>
            </a:avLst>
          </a:prstGeom>
          <a:solidFill>
            <a:srgbClr val="FFFFFF"/>
          </a:solidFill>
          <a:ln w="9525">
            <a:solidFill>
              <a:srgbClr val="E4E3EF"/>
            </a:solidFill>
            <a:prstDash val="solid"/>
          </a:ln>
        </p:spPr>
      </p:sp>
      <p:sp>
        <p:nvSpPr>
          <p:cNvPr id="28" name="Text 21"/>
          <p:cNvSpPr txBox="1"/>
          <p:nvPr/>
        </p:nvSpPr>
        <p:spPr>
          <a:xfrm>
            <a:off x="5440680" y="3566160"/>
            <a:ext cx="6126480" cy="68580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About preview   </a:t>
            </a:r>
            <a:pPr indent="0" marL="0">
              <a:buNone/>
            </a:pPr>
            <a:r>
              <a:rPr lang="en-US" sz="1200" dirty="0">
                <a:solidFill>
                  <a:srgbClr val="5F6075"/>
                </a:solidFill>
                <a:latin typeface="Calibri" pitchFamily="34" charset="0"/>
                <a:ea typeface="Calibri" pitchFamily="34" charset="-122"/>
                <a:cs typeface="Calibri" pitchFamily="34" charset="-120"/>
              </a:rPr>
              <a:t>About Omaginfo LLC + company values (founders move to About page)</a:t>
            </a:r>
            <a:endParaRPr lang="en-US" sz="1200" dirty="0"/>
          </a:p>
        </p:txBody>
      </p:sp>
      <p:sp>
        <p:nvSpPr>
          <p:cNvPr id="29" name="Shape 22"/>
          <p:cNvSpPr/>
          <p:nvPr/>
        </p:nvSpPr>
        <p:spPr>
          <a:xfrm>
            <a:off x="2468880" y="4343400"/>
            <a:ext cx="2377440" cy="685800"/>
          </a:xfrm>
          <a:prstGeom prst="roundRect">
            <a:avLst>
              <a:gd name="adj" fmla="val 10667"/>
            </a:avLst>
          </a:prstGeom>
          <a:solidFill>
            <a:srgbClr val="F3F2FA"/>
          </a:solidFill>
          <a:ln/>
        </p:spPr>
      </p:sp>
      <p:sp>
        <p:nvSpPr>
          <p:cNvPr id="30" name="Text 23"/>
          <p:cNvSpPr txBox="1"/>
          <p:nvPr/>
        </p:nvSpPr>
        <p:spPr>
          <a:xfrm>
            <a:off x="2606040" y="4343400"/>
            <a:ext cx="2194560" cy="68580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Services bento</a:t>
            </a:r>
            <a:endParaRPr lang="en-US" sz="1150" dirty="0"/>
          </a:p>
        </p:txBody>
      </p:sp>
      <p:pic>
        <p:nvPicPr>
          <p:cNvPr id="31" name="Image 5" descr="preencoded.png">    </p:cNvPr>
          <p:cNvPicPr>
            <a:picLocks noChangeAspect="1"/>
          </p:cNvPicPr>
          <p:nvPr/>
        </p:nvPicPr>
        <p:blipFill>
          <a:blip r:embed="rId6"/>
          <a:stretch>
            <a:fillRect/>
          </a:stretch>
        </p:blipFill>
        <p:spPr>
          <a:xfrm>
            <a:off x="4937760" y="4594860"/>
            <a:ext cx="182880" cy="182880"/>
          </a:xfrm>
          <a:prstGeom prst="rect">
            <a:avLst/>
          </a:prstGeom>
        </p:spPr>
      </p:pic>
      <p:sp>
        <p:nvSpPr>
          <p:cNvPr id="32" name="Shape 24"/>
          <p:cNvSpPr/>
          <p:nvPr/>
        </p:nvSpPr>
        <p:spPr>
          <a:xfrm>
            <a:off x="5257800" y="4343400"/>
            <a:ext cx="6400800" cy="685800"/>
          </a:xfrm>
          <a:prstGeom prst="roundRect">
            <a:avLst>
              <a:gd name="adj" fmla="val 10667"/>
            </a:avLst>
          </a:prstGeom>
          <a:solidFill>
            <a:srgbClr val="FFFFFF"/>
          </a:solidFill>
          <a:ln w="9525">
            <a:solidFill>
              <a:srgbClr val="E4E3EF"/>
            </a:solidFill>
            <a:prstDash val="solid"/>
          </a:ln>
        </p:spPr>
      </p:sp>
      <p:sp>
        <p:nvSpPr>
          <p:cNvPr id="33" name="Text 25"/>
          <p:cNvSpPr txBox="1"/>
          <p:nvPr/>
        </p:nvSpPr>
        <p:spPr>
          <a:xfrm>
            <a:off x="5440680" y="4343400"/>
            <a:ext cx="6126480" cy="68580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Our Services   </a:t>
            </a:r>
            <a:pPr indent="0" marL="0">
              <a:buNone/>
            </a:pPr>
            <a:r>
              <a:rPr lang="en-US" sz="1200" dirty="0">
                <a:solidFill>
                  <a:srgbClr val="5F6075"/>
                </a:solidFill>
                <a:latin typeface="Calibri" pitchFamily="34" charset="0"/>
                <a:ea typeface="Calibri" pitchFamily="34" charset="-122"/>
                <a:cs typeface="Calibri" pitchFamily="34" charset="-120"/>
              </a:rPr>
              <a:t>Five service cards from the document</a:t>
            </a:r>
            <a:endParaRPr lang="en-US" sz="1200" dirty="0"/>
          </a:p>
        </p:txBody>
      </p:sp>
      <p:sp>
        <p:nvSpPr>
          <p:cNvPr id="34" name="Shape 26"/>
          <p:cNvSpPr/>
          <p:nvPr/>
        </p:nvSpPr>
        <p:spPr>
          <a:xfrm>
            <a:off x="2468880" y="5120640"/>
            <a:ext cx="2377440" cy="685800"/>
          </a:xfrm>
          <a:prstGeom prst="roundRect">
            <a:avLst>
              <a:gd name="adj" fmla="val 10667"/>
            </a:avLst>
          </a:prstGeom>
          <a:solidFill>
            <a:srgbClr val="F3F2FA"/>
          </a:solidFill>
          <a:ln/>
        </p:spPr>
      </p:sp>
      <p:sp>
        <p:nvSpPr>
          <p:cNvPr id="35" name="Text 27"/>
          <p:cNvSpPr txBox="1"/>
          <p:nvPr/>
        </p:nvSpPr>
        <p:spPr>
          <a:xfrm>
            <a:off x="2606040" y="5120640"/>
            <a:ext cx="2194560" cy="68580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Contact section</a:t>
            </a:r>
            <a:endParaRPr lang="en-US" sz="1150" dirty="0"/>
          </a:p>
        </p:txBody>
      </p:sp>
      <p:pic>
        <p:nvPicPr>
          <p:cNvPr id="36" name="Image 6" descr="preencoded.png">    </p:cNvPr>
          <p:cNvPicPr>
            <a:picLocks noChangeAspect="1"/>
          </p:cNvPicPr>
          <p:nvPr/>
        </p:nvPicPr>
        <p:blipFill>
          <a:blip r:embed="rId7"/>
          <a:stretch>
            <a:fillRect/>
          </a:stretch>
        </p:blipFill>
        <p:spPr>
          <a:xfrm>
            <a:off x="4937760" y="5372100"/>
            <a:ext cx="182880" cy="182880"/>
          </a:xfrm>
          <a:prstGeom prst="rect">
            <a:avLst/>
          </a:prstGeom>
        </p:spPr>
      </p:pic>
      <p:sp>
        <p:nvSpPr>
          <p:cNvPr id="37" name="Shape 28"/>
          <p:cNvSpPr/>
          <p:nvPr/>
        </p:nvSpPr>
        <p:spPr>
          <a:xfrm>
            <a:off x="5257800" y="5120640"/>
            <a:ext cx="6400800" cy="685800"/>
          </a:xfrm>
          <a:prstGeom prst="roundRect">
            <a:avLst>
              <a:gd name="adj" fmla="val 10667"/>
            </a:avLst>
          </a:prstGeom>
          <a:solidFill>
            <a:srgbClr val="FFFFFF"/>
          </a:solidFill>
          <a:ln w="9525">
            <a:solidFill>
              <a:srgbClr val="E4E3EF"/>
            </a:solidFill>
            <a:prstDash val="solid"/>
          </a:ln>
        </p:spPr>
      </p:sp>
      <p:sp>
        <p:nvSpPr>
          <p:cNvPr id="38" name="Text 29"/>
          <p:cNvSpPr txBox="1"/>
          <p:nvPr/>
        </p:nvSpPr>
        <p:spPr>
          <a:xfrm>
            <a:off x="5440680" y="5120640"/>
            <a:ext cx="6126480" cy="685800"/>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CTA band   </a:t>
            </a:r>
            <a:pPr indent="0" marL="0">
              <a:buNone/>
            </a:pPr>
            <a:r>
              <a:rPr lang="en-US" sz="1200" dirty="0">
                <a:solidFill>
                  <a:srgbClr val="5F6075"/>
                </a:solidFill>
                <a:latin typeface="Calibri" pitchFamily="34" charset="0"/>
                <a:ea typeface="Calibri" pitchFamily="34" charset="-122"/>
                <a:cs typeface="Calibri" pitchFamily="34" charset="-120"/>
              </a:rPr>
              <a:t>Building connections. Enabling growth. (form lives on Contact page)</a:t>
            </a:r>
            <a:endParaRPr lang="en-US" sz="1200" dirty="0"/>
          </a:p>
        </p:txBody>
      </p:sp>
      <p:sp>
        <p:nvSpPr>
          <p:cNvPr id="39" name="Shape 30"/>
          <p:cNvSpPr/>
          <p:nvPr/>
        </p:nvSpPr>
        <p:spPr>
          <a:xfrm>
            <a:off x="2468880" y="5897880"/>
            <a:ext cx="2377440" cy="411480"/>
          </a:xfrm>
          <a:prstGeom prst="roundRect">
            <a:avLst>
              <a:gd name="adj" fmla="val 17778"/>
            </a:avLst>
          </a:prstGeom>
          <a:solidFill>
            <a:srgbClr val="F3F2FA"/>
          </a:solidFill>
          <a:ln/>
        </p:spPr>
      </p:sp>
      <p:sp>
        <p:nvSpPr>
          <p:cNvPr id="40" name="Text 31"/>
          <p:cNvSpPr txBox="1"/>
          <p:nvPr/>
        </p:nvSpPr>
        <p:spPr>
          <a:xfrm>
            <a:off x="2606040" y="5897880"/>
            <a:ext cx="2194560" cy="411480"/>
          </a:xfrm>
          <a:prstGeom prst="rect">
            <a:avLst/>
          </a:prstGeom>
          <a:noFill/>
          <a:ln/>
        </p:spPr>
        <p:txBody>
          <a:bodyPr wrap="square" lIns="0" tIns="0" rIns="0" bIns="0" rtlCol="0" anchor="ctr"/>
          <a:lstStyle/>
          <a:p>
            <a:pPr indent="0" marL="0">
              <a:buNone/>
            </a:pPr>
            <a:r>
              <a:rPr lang="en-US" sz="1150" dirty="0">
                <a:solidFill>
                  <a:srgbClr val="5F6075"/>
                </a:solidFill>
                <a:latin typeface="Calibri" pitchFamily="34" charset="0"/>
                <a:ea typeface="Calibri" pitchFamily="34" charset="-122"/>
                <a:cs typeface="Calibri" pitchFamily="34" charset="-120"/>
              </a:rPr>
              <a:t>Footer</a:t>
            </a:r>
            <a:endParaRPr lang="en-US" sz="1150" dirty="0"/>
          </a:p>
        </p:txBody>
      </p:sp>
      <p:pic>
        <p:nvPicPr>
          <p:cNvPr id="41" name="Image 7" descr="preencoded.png">    </p:cNvPr>
          <p:cNvPicPr>
            <a:picLocks noChangeAspect="1"/>
          </p:cNvPicPr>
          <p:nvPr/>
        </p:nvPicPr>
        <p:blipFill>
          <a:blip r:embed="rId8"/>
          <a:stretch>
            <a:fillRect/>
          </a:stretch>
        </p:blipFill>
        <p:spPr>
          <a:xfrm>
            <a:off x="4937760" y="6012180"/>
            <a:ext cx="182880" cy="182880"/>
          </a:xfrm>
          <a:prstGeom prst="rect">
            <a:avLst/>
          </a:prstGeom>
        </p:spPr>
      </p:pic>
      <p:sp>
        <p:nvSpPr>
          <p:cNvPr id="42" name="Shape 32"/>
          <p:cNvSpPr/>
          <p:nvPr/>
        </p:nvSpPr>
        <p:spPr>
          <a:xfrm>
            <a:off x="5257800" y="5897880"/>
            <a:ext cx="6400800" cy="411480"/>
          </a:xfrm>
          <a:prstGeom prst="roundRect">
            <a:avLst>
              <a:gd name="adj" fmla="val 17778"/>
            </a:avLst>
          </a:prstGeom>
          <a:solidFill>
            <a:srgbClr val="16161F"/>
          </a:solidFill>
          <a:ln w="9525">
            <a:solidFill>
              <a:srgbClr val="E4E3EF"/>
            </a:solidFill>
            <a:prstDash val="solid"/>
          </a:ln>
        </p:spPr>
      </p:sp>
      <p:sp>
        <p:nvSpPr>
          <p:cNvPr id="43" name="Text 33"/>
          <p:cNvSpPr txBox="1"/>
          <p:nvPr/>
        </p:nvSpPr>
        <p:spPr>
          <a:xfrm>
            <a:off x="5440680" y="5897880"/>
            <a:ext cx="61264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Footer   </a:t>
            </a:r>
            <a:pPr indent="0" marL="0">
              <a:buNone/>
            </a:pPr>
            <a:r>
              <a:rPr lang="en-US" sz="1200" dirty="0">
                <a:solidFill>
                  <a:srgbClr val="C9C9DA"/>
                </a:solidFill>
                <a:latin typeface="Calibri" pitchFamily="34" charset="0"/>
                <a:ea typeface="Calibri" pitchFamily="34" charset="-122"/>
                <a:cs typeface="Calibri" pitchFamily="34" charset="-120"/>
              </a:rPr>
              <a:t>Global component</a:t>
            </a:r>
            <a:endParaRPr lang="en-US" sz="1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Hero section</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HOME · SECTION 1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749808" y="1737360"/>
            <a:ext cx="1005840" cy="256032"/>
          </a:xfrm>
          <a:prstGeom prst="roundRect">
            <a:avLst>
              <a:gd name="adj" fmla="val 17857"/>
            </a:avLst>
          </a:prstGeom>
          <a:solidFill>
            <a:srgbClr val="ECEBFF"/>
          </a:solidFill>
          <a:ln w="9525">
            <a:solidFill>
              <a:srgbClr val="B3A8FF"/>
            </a:solidFill>
            <a:prstDash val="dash"/>
          </a:ln>
        </p:spPr>
      </p:sp>
      <p:sp>
        <p:nvSpPr>
          <p:cNvPr id="13" name="Text 11"/>
          <p:cNvSpPr txBox="1"/>
          <p:nvPr/>
        </p:nvSpPr>
        <p:spPr>
          <a:xfrm>
            <a:off x="749808" y="1737360"/>
            <a:ext cx="1005840" cy="256032"/>
          </a:xfrm>
          <a:prstGeom prst="rect">
            <a:avLst/>
          </a:prstGeom>
          <a:noFill/>
          <a:ln/>
        </p:spPr>
        <p:txBody>
          <a:bodyPr wrap="square" lIns="0" tIns="0" rIns="0" bIns="0" rtlCol="0" anchor="ctr"/>
          <a:lstStyle/>
          <a:p>
            <a:pPr algn="ctr" indent="0" marL="0">
              <a:buNone/>
            </a:pPr>
            <a:r>
              <a:rPr lang="en-US" sz="750" i="1" dirty="0">
                <a:solidFill>
                  <a:srgbClr val="7B6CF6"/>
                </a:solidFill>
                <a:latin typeface="Calibri" pitchFamily="34" charset="0"/>
                <a:ea typeface="Calibri" pitchFamily="34" charset="-122"/>
                <a:cs typeface="Calibri" pitchFamily="34" charset="-120"/>
              </a:rPr>
              <a:t>Logo</a:t>
            </a:r>
            <a:endParaRPr lang="en-US" sz="750" dirty="0"/>
          </a:p>
        </p:txBody>
      </p:sp>
      <p:sp>
        <p:nvSpPr>
          <p:cNvPr id="14" name="Text 12"/>
          <p:cNvSpPr txBox="1"/>
          <p:nvPr/>
        </p:nvSpPr>
        <p:spPr>
          <a:xfrm>
            <a:off x="2578608" y="1783080"/>
            <a:ext cx="731520" cy="182880"/>
          </a:xfrm>
          <a:prstGeom prst="rect">
            <a:avLst/>
          </a:prstGeom>
          <a:noFill/>
          <a:ln/>
        </p:spPr>
        <p:txBody>
          <a:bodyPr wrap="square" lIns="0" tIns="0" rIns="0" bIns="0" rtlCol="0" anchor="t"/>
          <a:lstStyle/>
          <a:p>
            <a:pPr indent="0" marL="0">
              <a:buNone/>
            </a:pPr>
            <a:r>
              <a:rPr lang="en-US" sz="800" b="1" dirty="0">
                <a:solidFill>
                  <a:srgbClr val="16161F"/>
                </a:solidFill>
                <a:latin typeface="Calibri" pitchFamily="34" charset="0"/>
                <a:ea typeface="Calibri" pitchFamily="34" charset="-122"/>
                <a:cs typeface="Calibri" pitchFamily="34" charset="-120"/>
              </a:rPr>
              <a:t>Home</a:t>
            </a:r>
            <a:endParaRPr lang="en-US" sz="800" dirty="0"/>
          </a:p>
        </p:txBody>
      </p:sp>
      <p:sp>
        <p:nvSpPr>
          <p:cNvPr id="15" name="Text 13"/>
          <p:cNvSpPr txBox="1"/>
          <p:nvPr/>
        </p:nvSpPr>
        <p:spPr>
          <a:xfrm>
            <a:off x="3065069" y="1783080"/>
            <a:ext cx="731520" cy="18288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About Us</a:t>
            </a:r>
            <a:endParaRPr lang="en-US" sz="800" dirty="0"/>
          </a:p>
        </p:txBody>
      </p:sp>
      <p:sp>
        <p:nvSpPr>
          <p:cNvPr id="16" name="Text 14"/>
          <p:cNvSpPr txBox="1"/>
          <p:nvPr/>
        </p:nvSpPr>
        <p:spPr>
          <a:xfrm>
            <a:off x="3763670" y="1783080"/>
            <a:ext cx="731520" cy="18288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Services ▾</a:t>
            </a:r>
            <a:endParaRPr lang="en-US" sz="800" dirty="0"/>
          </a:p>
        </p:txBody>
      </p:sp>
      <p:sp>
        <p:nvSpPr>
          <p:cNvPr id="17" name="Text 15"/>
          <p:cNvSpPr txBox="1"/>
          <p:nvPr/>
        </p:nvSpPr>
        <p:spPr>
          <a:xfrm>
            <a:off x="4568342" y="1783080"/>
            <a:ext cx="731520" cy="18288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Contact Us</a:t>
            </a:r>
            <a:endParaRPr lang="en-US" sz="800" dirty="0"/>
          </a:p>
        </p:txBody>
      </p:sp>
      <p:sp>
        <p:nvSpPr>
          <p:cNvPr id="18" name="Shape 16"/>
          <p:cNvSpPr/>
          <p:nvPr/>
        </p:nvSpPr>
        <p:spPr>
          <a:xfrm>
            <a:off x="5879592" y="1737360"/>
            <a:ext cx="1033272" cy="256032"/>
          </a:xfrm>
          <a:prstGeom prst="roundRect">
            <a:avLst>
              <a:gd name="adj" fmla="val 50000"/>
            </a:avLst>
          </a:prstGeom>
          <a:solidFill>
            <a:srgbClr val="16161F"/>
          </a:solidFill>
          <a:ln/>
        </p:spPr>
      </p:sp>
      <p:sp>
        <p:nvSpPr>
          <p:cNvPr id="19" name="Text 17"/>
          <p:cNvSpPr txBox="1"/>
          <p:nvPr/>
        </p:nvSpPr>
        <p:spPr>
          <a:xfrm>
            <a:off x="5879592" y="1737360"/>
            <a:ext cx="103327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Partner with Us</a:t>
            </a:r>
            <a:endParaRPr lang="en-US" sz="750" dirty="0"/>
          </a:p>
        </p:txBody>
      </p:sp>
      <p:sp>
        <p:nvSpPr>
          <p:cNvPr id="20" name="Text 18"/>
          <p:cNvSpPr txBox="1"/>
          <p:nvPr/>
        </p:nvSpPr>
        <p:spPr>
          <a:xfrm>
            <a:off x="6894576" y="169164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1" name="Shape 19"/>
          <p:cNvSpPr/>
          <p:nvPr/>
        </p:nvSpPr>
        <p:spPr>
          <a:xfrm>
            <a:off x="749808" y="2286000"/>
            <a:ext cx="2331720" cy="237744"/>
          </a:xfrm>
          <a:prstGeom prst="roundRect">
            <a:avLst>
              <a:gd name="adj" fmla="val 50000"/>
            </a:avLst>
          </a:prstGeom>
          <a:solidFill>
            <a:srgbClr val="FFFFFF"/>
          </a:solidFill>
          <a:ln w="9525">
            <a:solidFill>
              <a:srgbClr val="E4E3EF"/>
            </a:solidFill>
            <a:prstDash val="solid"/>
          </a:ln>
        </p:spPr>
      </p:sp>
      <p:sp>
        <p:nvSpPr>
          <p:cNvPr id="22" name="Shape 20"/>
          <p:cNvSpPr/>
          <p:nvPr/>
        </p:nvSpPr>
        <p:spPr>
          <a:xfrm>
            <a:off x="841248" y="2368296"/>
            <a:ext cx="73152" cy="73152"/>
          </a:xfrm>
          <a:prstGeom prst="ellipse">
            <a:avLst/>
          </a:prstGeom>
          <a:solidFill>
            <a:srgbClr val="2ECC8F"/>
          </a:solidFill>
          <a:ln/>
        </p:spPr>
      </p:sp>
      <p:sp>
        <p:nvSpPr>
          <p:cNvPr id="23" name="Text 21"/>
          <p:cNvSpPr txBox="1"/>
          <p:nvPr/>
        </p:nvSpPr>
        <p:spPr>
          <a:xfrm>
            <a:off x="969264" y="2286000"/>
            <a:ext cx="2103120" cy="237744"/>
          </a:xfrm>
          <a:prstGeom prst="rect">
            <a:avLst/>
          </a:prstGeom>
          <a:noFill/>
          <a:ln/>
        </p:spPr>
        <p:txBody>
          <a:bodyPr wrap="square" lIns="0" tIns="0" rIns="0" bIns="0" rtlCol="0" anchor="ctr"/>
          <a:lstStyle/>
          <a:p>
            <a:pPr indent="0" marL="0">
              <a:buNone/>
            </a:pPr>
            <a:r>
              <a:rPr lang="en-US" sz="750" b="1" dirty="0">
                <a:solidFill>
                  <a:srgbClr val="16161F"/>
                </a:solidFill>
                <a:latin typeface="Calibri" pitchFamily="34" charset="0"/>
                <a:ea typeface="Calibri" pitchFamily="34" charset="-122"/>
                <a:cs typeface="Calibri" pitchFamily="34" charset="-120"/>
              </a:rPr>
              <a:t>Global Connectivity. Trusted Partnerships.</a:t>
            </a:r>
            <a:endParaRPr lang="en-US" sz="750" dirty="0"/>
          </a:p>
        </p:txBody>
      </p:sp>
      <p:sp>
        <p:nvSpPr>
          <p:cNvPr id="24" name="Text 22"/>
          <p:cNvSpPr txBox="1"/>
          <p:nvPr/>
        </p:nvSpPr>
        <p:spPr>
          <a:xfrm>
            <a:off x="749808" y="2651760"/>
            <a:ext cx="3108960" cy="1143000"/>
          </a:xfrm>
          <a:prstGeom prst="rect">
            <a:avLst/>
          </a:prstGeom>
          <a:noFill/>
          <a:ln/>
        </p:spPr>
        <p:txBody>
          <a:bodyPr wrap="square" lIns="0" tIns="0" rIns="0" bIns="0" rtlCol="0" anchor="t"/>
          <a:lstStyle/>
          <a:p>
            <a:pPr indent="0" marL="0">
              <a:buNone/>
            </a:pPr>
            <a:r>
              <a:rPr lang="en-US" sz="2100" b="1" dirty="0">
                <a:solidFill>
                  <a:srgbClr val="16161F"/>
                </a:solidFill>
                <a:latin typeface="Calibri" pitchFamily="34" charset="0"/>
                <a:ea typeface="Calibri" pitchFamily="34" charset="-122"/>
                <a:cs typeface="Calibri" pitchFamily="34" charset="-120"/>
              </a:rPr>
              <a:t>Connecting Businesses Through Global Voice &amp; Messaging</a:t>
            </a:r>
            <a:endParaRPr lang="en-US" sz="2100" dirty="0"/>
          </a:p>
        </p:txBody>
      </p:sp>
      <p:sp>
        <p:nvSpPr>
          <p:cNvPr id="25" name="Text 23"/>
          <p:cNvSpPr txBox="1"/>
          <p:nvPr/>
        </p:nvSpPr>
        <p:spPr>
          <a:xfrm>
            <a:off x="749808" y="3886200"/>
            <a:ext cx="2971800" cy="868680"/>
          </a:xfrm>
          <a:prstGeom prst="rect">
            <a:avLst/>
          </a:prstGeom>
          <a:noFill/>
          <a:ln/>
        </p:spPr>
        <p:txBody>
          <a:bodyPr wrap="square" lIns="0" tIns="0" rIns="0" bIns="0" rtlCol="0" anchor="t"/>
          <a:lstStyle/>
          <a:p>
            <a:pPr indent="0" marL="0">
              <a:buNone/>
            </a:pPr>
            <a:r>
              <a:rPr lang="en-US" sz="850" dirty="0">
                <a:solidFill>
                  <a:srgbClr val="5F6075"/>
                </a:solidFill>
                <a:latin typeface="Calibri" pitchFamily="34" charset="0"/>
                <a:ea typeface="Calibri" pitchFamily="34" charset="-122"/>
                <a:cs typeface="Calibri" pitchFamily="34" charset="-120"/>
              </a:rPr>
              <a:t>Omaginfo LLC delivers international voice termination, VoIP, and SMS connectivity solutions designed to help telecom operators and business partners expand their reach through reliable connections and competitive commercial offerings.</a:t>
            </a:r>
            <a:endParaRPr lang="en-US" sz="850" dirty="0"/>
          </a:p>
        </p:txBody>
      </p:sp>
      <p:sp>
        <p:nvSpPr>
          <p:cNvPr id="26" name="Text 24"/>
          <p:cNvSpPr txBox="1"/>
          <p:nvPr/>
        </p:nvSpPr>
        <p:spPr>
          <a:xfrm>
            <a:off x="749808" y="4773168"/>
            <a:ext cx="3017520" cy="201168"/>
          </a:xfrm>
          <a:prstGeom prst="rect">
            <a:avLst/>
          </a:prstGeom>
          <a:noFill/>
          <a:ln/>
        </p:spPr>
        <p:txBody>
          <a:bodyPr wrap="square" lIns="0" tIns="0" rIns="0" bIns="0" rtlCol="0" anchor="t"/>
          <a:lstStyle/>
          <a:p>
            <a:pPr indent="0" marL="0">
              <a:buNone/>
            </a:pPr>
            <a:r>
              <a:rPr lang="en-US" sz="900" b="1" i="1" dirty="0">
                <a:solidFill>
                  <a:srgbClr val="7B6CF6"/>
                </a:solidFill>
                <a:latin typeface="Calibri" pitchFamily="34" charset="0"/>
                <a:ea typeface="Calibri" pitchFamily="34" charset="-122"/>
                <a:cs typeface="Calibri" pitchFamily="34" charset="-120"/>
              </a:rPr>
              <a:t>Building connections. Enabling growth.</a:t>
            </a:r>
            <a:endParaRPr lang="en-US" sz="900" dirty="0"/>
          </a:p>
        </p:txBody>
      </p:sp>
      <p:sp>
        <p:nvSpPr>
          <p:cNvPr id="27" name="Shape 25"/>
          <p:cNvSpPr/>
          <p:nvPr/>
        </p:nvSpPr>
        <p:spPr>
          <a:xfrm>
            <a:off x="749808" y="5120640"/>
            <a:ext cx="1411834" cy="256032"/>
          </a:xfrm>
          <a:prstGeom prst="roundRect">
            <a:avLst>
              <a:gd name="adj" fmla="val 50000"/>
            </a:avLst>
          </a:prstGeom>
          <a:solidFill>
            <a:srgbClr val="7B6CF6"/>
          </a:solidFill>
          <a:ln/>
        </p:spPr>
      </p:sp>
      <p:sp>
        <p:nvSpPr>
          <p:cNvPr id="28" name="Text 26"/>
          <p:cNvSpPr txBox="1"/>
          <p:nvPr/>
        </p:nvSpPr>
        <p:spPr>
          <a:xfrm>
            <a:off x="749808" y="5120640"/>
            <a:ext cx="141183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Explore Our Services</a:t>
            </a:r>
            <a:endParaRPr lang="en-US" sz="850" dirty="0"/>
          </a:p>
        </p:txBody>
      </p:sp>
      <p:sp>
        <p:nvSpPr>
          <p:cNvPr id="29" name="Text 27"/>
          <p:cNvSpPr txBox="1"/>
          <p:nvPr/>
        </p:nvSpPr>
        <p:spPr>
          <a:xfrm>
            <a:off x="2143354" y="50749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0" name="Shape 28"/>
          <p:cNvSpPr/>
          <p:nvPr/>
        </p:nvSpPr>
        <p:spPr>
          <a:xfrm>
            <a:off x="2298802" y="5120640"/>
            <a:ext cx="1132027" cy="256032"/>
          </a:xfrm>
          <a:prstGeom prst="roundRect">
            <a:avLst>
              <a:gd name="adj" fmla="val 50000"/>
            </a:avLst>
          </a:prstGeom>
          <a:solidFill>
            <a:srgbClr val="F3F2FA"/>
          </a:solidFill>
          <a:ln w="9525">
            <a:solidFill>
              <a:srgbClr val="E4E3EF"/>
            </a:solidFill>
            <a:prstDash val="solid"/>
          </a:ln>
        </p:spPr>
      </p:sp>
      <p:sp>
        <p:nvSpPr>
          <p:cNvPr id="31" name="Text 29"/>
          <p:cNvSpPr txBox="1"/>
          <p:nvPr/>
        </p:nvSpPr>
        <p:spPr>
          <a:xfrm>
            <a:off x="2298802" y="5120640"/>
            <a:ext cx="1132027" cy="256032"/>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Partner with Us</a:t>
            </a:r>
            <a:endParaRPr lang="en-US" sz="850" dirty="0"/>
          </a:p>
        </p:txBody>
      </p:sp>
      <p:sp>
        <p:nvSpPr>
          <p:cNvPr id="32" name="Text 30"/>
          <p:cNvSpPr txBox="1"/>
          <p:nvPr/>
        </p:nvSpPr>
        <p:spPr>
          <a:xfrm>
            <a:off x="3412541" y="50749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3" name="Shape 31"/>
          <p:cNvSpPr/>
          <p:nvPr/>
        </p:nvSpPr>
        <p:spPr>
          <a:xfrm>
            <a:off x="749808" y="5577840"/>
            <a:ext cx="3017520" cy="457200"/>
          </a:xfrm>
          <a:prstGeom prst="roundRect">
            <a:avLst>
              <a:gd name="adj" fmla="val 16000"/>
            </a:avLst>
          </a:prstGeom>
          <a:solidFill>
            <a:srgbClr val="FFFFFF"/>
          </a:solidFill>
          <a:ln w="9525">
            <a:solidFill>
              <a:srgbClr val="E8C49B"/>
            </a:solidFill>
            <a:prstDash val="dash"/>
          </a:ln>
        </p:spPr>
      </p:sp>
      <p:sp>
        <p:nvSpPr>
          <p:cNvPr id="34" name="Text 32"/>
          <p:cNvSpPr txBox="1"/>
          <p:nvPr/>
        </p:nvSpPr>
        <p:spPr>
          <a:xfrm>
            <a:off x="841248" y="5577840"/>
            <a:ext cx="2331720" cy="457200"/>
          </a:xfrm>
          <a:prstGeom prst="rect">
            <a:avLst/>
          </a:prstGeom>
          <a:noFill/>
          <a:ln/>
        </p:spPr>
        <p:txBody>
          <a:bodyPr wrap="square" lIns="0" tIns="0" rIns="0" bIns="0" rtlCol="0" anchor="ctr"/>
          <a:lstStyle/>
          <a:p>
            <a:pPr indent="0" marL="0">
              <a:buNone/>
            </a:pPr>
            <a:r>
              <a:rPr lang="en-US" sz="750" i="1" dirty="0">
                <a:solidFill>
                  <a:srgbClr val="5F6075"/>
                </a:solidFill>
                <a:latin typeface="Calibri" pitchFamily="34" charset="0"/>
                <a:ea typeface="Calibri" pitchFamily="34" charset="-122"/>
                <a:cs typeface="Calibri" pitchFamily="34" charset="-120"/>
              </a:rPr>
              <a:t>Optional stats row (e.g. destinations, partners) — only with client-verified figures</a:t>
            </a:r>
            <a:endParaRPr lang="en-US" sz="750" dirty="0"/>
          </a:p>
        </p:txBody>
      </p:sp>
      <p:sp>
        <p:nvSpPr>
          <p:cNvPr id="35" name="Shape 33"/>
          <p:cNvSpPr/>
          <p:nvPr/>
        </p:nvSpPr>
        <p:spPr>
          <a:xfrm>
            <a:off x="3264408" y="5715000"/>
            <a:ext cx="345186" cy="182880"/>
          </a:xfrm>
          <a:prstGeom prst="roundRect">
            <a:avLst>
              <a:gd name="adj" fmla="val 50000"/>
            </a:avLst>
          </a:prstGeom>
          <a:solidFill>
            <a:srgbClr val="FDE9D3"/>
          </a:solidFill>
          <a:ln/>
        </p:spPr>
      </p:sp>
      <p:sp>
        <p:nvSpPr>
          <p:cNvPr id="36" name="Text 34"/>
          <p:cNvSpPr txBox="1"/>
          <p:nvPr/>
        </p:nvSpPr>
        <p:spPr>
          <a:xfrm>
            <a:off x="3264408" y="5715000"/>
            <a:ext cx="345186"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37" name="Shape 35"/>
          <p:cNvSpPr/>
          <p:nvPr/>
        </p:nvSpPr>
        <p:spPr>
          <a:xfrm>
            <a:off x="3995928" y="2286000"/>
            <a:ext cx="2880360" cy="3749040"/>
          </a:xfrm>
          <a:prstGeom prst="roundRect">
            <a:avLst>
              <a:gd name="adj" fmla="val 3175"/>
            </a:avLst>
          </a:prstGeom>
          <a:solidFill>
            <a:srgbClr val="ECEBFF"/>
          </a:solidFill>
          <a:ln w="9525">
            <a:solidFill>
              <a:srgbClr val="B3A8FF"/>
            </a:solidFill>
            <a:prstDash val="dash"/>
          </a:ln>
        </p:spPr>
      </p:sp>
      <p:pic>
        <p:nvPicPr>
          <p:cNvPr id="38" name="Image 0" descr="preencoded.png">    </p:cNvPr>
          <p:cNvPicPr>
            <a:picLocks noChangeAspect="1"/>
          </p:cNvPicPr>
          <p:nvPr/>
        </p:nvPicPr>
        <p:blipFill>
          <a:blip r:embed="rId1"/>
          <a:stretch>
            <a:fillRect/>
          </a:stretch>
        </p:blipFill>
        <p:spPr>
          <a:xfrm>
            <a:off x="5244084" y="3849624"/>
            <a:ext cx="384048" cy="384048"/>
          </a:xfrm>
          <a:prstGeom prst="rect">
            <a:avLst/>
          </a:prstGeom>
        </p:spPr>
      </p:pic>
      <p:sp>
        <p:nvSpPr>
          <p:cNvPr id="39" name="Text 36"/>
          <p:cNvSpPr txBox="1"/>
          <p:nvPr/>
        </p:nvSpPr>
        <p:spPr>
          <a:xfrm>
            <a:off x="4069080" y="4297680"/>
            <a:ext cx="2734056" cy="384048"/>
          </a:xfrm>
          <a:prstGeom prst="rect">
            <a:avLst/>
          </a:prstGeom>
          <a:noFill/>
          <a:ln/>
        </p:spPr>
        <p:txBody>
          <a:bodyPr wrap="square" lIns="0" tIns="0" rIns="0" bIns="0" rtlCol="0" anchor="t"/>
          <a:lstStyle/>
          <a:p>
            <a:pPr algn="ctr" indent="0" marL="0">
              <a:buNone/>
            </a:pPr>
            <a:r>
              <a:rPr lang="en-US" sz="750" i="1" dirty="0">
                <a:solidFill>
                  <a:srgbClr val="5F6075"/>
                </a:solidFill>
                <a:latin typeface="Calibri" pitchFamily="34" charset="0"/>
                <a:ea typeface="Calibri" pitchFamily="34" charset="-122"/>
                <a:cs typeface="Calibri" pitchFamily="34" charset="-120"/>
              </a:rPr>
              <a:t>Custom isometric illustration: globe on platform with voice &amp; SMS route arcs, floating message and call cards</a:t>
            </a:r>
            <a:endParaRPr lang="en-US" sz="750" dirty="0"/>
          </a:p>
        </p:txBody>
      </p:sp>
      <p:sp>
        <p:nvSpPr>
          <p:cNvPr id="40" name="Text 37"/>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41" name="Shape 38"/>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42" name="Image 1" descr="preencoded.png">    </p:cNvPr>
          <p:cNvPicPr>
            <a:picLocks noChangeAspect="1"/>
          </p:cNvPicPr>
          <p:nvPr/>
        </p:nvPicPr>
        <p:blipFill>
          <a:blip r:embed="rId2"/>
          <a:stretch>
            <a:fillRect/>
          </a:stretch>
        </p:blipFill>
        <p:spPr>
          <a:xfrm>
            <a:off x="8713030" y="1591056"/>
            <a:ext cx="1593460" cy="822960"/>
          </a:xfrm>
          <a:prstGeom prst="rect">
            <a:avLst/>
          </a:prstGeom>
        </p:spPr>
      </p:pic>
      <p:sp>
        <p:nvSpPr>
          <p:cNvPr id="43" name="Shape 39"/>
          <p:cNvSpPr/>
          <p:nvPr/>
        </p:nvSpPr>
        <p:spPr>
          <a:xfrm>
            <a:off x="7360920" y="2587752"/>
            <a:ext cx="274320" cy="274320"/>
          </a:xfrm>
          <a:prstGeom prst="ellipse">
            <a:avLst/>
          </a:prstGeom>
          <a:solidFill>
            <a:srgbClr val="ECEBFF"/>
          </a:solidFill>
          <a:ln/>
        </p:spPr>
      </p:sp>
      <p:pic>
        <p:nvPicPr>
          <p:cNvPr id="44" name="Image 2" descr="preencoded.png">    </p:cNvPr>
          <p:cNvPicPr>
            <a:picLocks noChangeAspect="1"/>
          </p:cNvPicPr>
          <p:nvPr/>
        </p:nvPicPr>
        <p:blipFill>
          <a:blip r:embed="rId3"/>
          <a:stretch>
            <a:fillRect/>
          </a:stretch>
        </p:blipFill>
        <p:spPr>
          <a:xfrm>
            <a:off x="7429500" y="2656332"/>
            <a:ext cx="137160" cy="137160"/>
          </a:xfrm>
          <a:prstGeom prst="rect">
            <a:avLst/>
          </a:prstGeom>
        </p:spPr>
      </p:pic>
      <p:sp>
        <p:nvSpPr>
          <p:cNvPr id="45" name="Text 40"/>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6" name="Text 41"/>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2-column grid (text 1 : art 1.1), vertically centred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Text left; illustration right with soft purple glow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single column, centred text, art below</a:t>
            </a:r>
            <a:endParaRPr lang="en-US" sz="1100" dirty="0"/>
          </a:p>
        </p:txBody>
      </p:sp>
      <p:sp>
        <p:nvSpPr>
          <p:cNvPr id="47" name="Shape 42"/>
          <p:cNvSpPr/>
          <p:nvPr/>
        </p:nvSpPr>
        <p:spPr>
          <a:xfrm>
            <a:off x="7360920" y="3534156"/>
            <a:ext cx="274320" cy="274320"/>
          </a:xfrm>
          <a:prstGeom prst="ellipse">
            <a:avLst/>
          </a:prstGeom>
          <a:solidFill>
            <a:srgbClr val="ECEBFF"/>
          </a:solidFill>
          <a:ln/>
        </p:spPr>
      </p:sp>
      <p:pic>
        <p:nvPicPr>
          <p:cNvPr id="48" name="Image 3" descr="preencoded.png">    </p:cNvPr>
          <p:cNvPicPr>
            <a:picLocks noChangeAspect="1"/>
          </p:cNvPicPr>
          <p:nvPr/>
        </p:nvPicPr>
        <p:blipFill>
          <a:blip r:embed="rId4"/>
          <a:stretch>
            <a:fillRect/>
          </a:stretch>
        </p:blipFill>
        <p:spPr>
          <a:xfrm>
            <a:off x="7429500" y="3602736"/>
            <a:ext cx="137160" cy="137160"/>
          </a:xfrm>
          <a:prstGeom prst="rect">
            <a:avLst/>
          </a:prstGeom>
        </p:spPr>
      </p:pic>
      <p:sp>
        <p:nvSpPr>
          <p:cNvPr id="49" name="Text 43"/>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0" name="Text 44"/>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Tag: Global Connectivity. Trusted Partnerships.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H1, paragraph and closing line verbatim from document item 3</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Buttons ✱: 'Explore Our Services', 'Partner with Us'</a:t>
            </a:r>
            <a:endParaRPr lang="en-US" sz="1100" dirty="0"/>
          </a:p>
        </p:txBody>
      </p:sp>
      <p:sp>
        <p:nvSpPr>
          <p:cNvPr id="51" name="Shape 45"/>
          <p:cNvSpPr/>
          <p:nvPr/>
        </p:nvSpPr>
        <p:spPr>
          <a:xfrm>
            <a:off x="7360920" y="4480560"/>
            <a:ext cx="274320" cy="274320"/>
          </a:xfrm>
          <a:prstGeom prst="ellipse">
            <a:avLst/>
          </a:prstGeom>
          <a:solidFill>
            <a:srgbClr val="ECEBFF"/>
          </a:solidFill>
          <a:ln/>
        </p:spPr>
      </p:sp>
      <p:pic>
        <p:nvPicPr>
          <p:cNvPr id="52" name="Image 4" descr="preencoded.png">    </p:cNvPr>
          <p:cNvPicPr>
            <a:picLocks noChangeAspect="1"/>
          </p:cNvPicPr>
          <p:nvPr/>
        </p:nvPicPr>
        <p:blipFill>
          <a:blip r:embed="rId5"/>
          <a:stretch>
            <a:fillRect/>
          </a:stretch>
        </p:blipFill>
        <p:spPr>
          <a:xfrm>
            <a:off x="7429500" y="4549140"/>
            <a:ext cx="137160" cy="137160"/>
          </a:xfrm>
          <a:prstGeom prst="rect">
            <a:avLst/>
          </a:prstGeom>
        </p:spPr>
      </p:pic>
      <p:sp>
        <p:nvSpPr>
          <p:cNvPr id="53" name="Text 46"/>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4" name="Text 47"/>
          <p:cNvSpPr txBox="1"/>
          <p:nvPr/>
        </p:nvSpPr>
        <p:spPr>
          <a:xfrm>
            <a:off x="7726680" y="477316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New isometric SVG in sample style (globe instead of 5G tower)</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Pill tag with pulsing green dot</a:t>
            </a:r>
            <a:endParaRPr lang="en-US" sz="1100" dirty="0"/>
          </a:p>
        </p:txBody>
      </p:sp>
      <p:sp>
        <p:nvSpPr>
          <p:cNvPr id="55" name="Shape 48"/>
          <p:cNvSpPr/>
          <p:nvPr/>
        </p:nvSpPr>
        <p:spPr>
          <a:xfrm>
            <a:off x="7360920" y="5257800"/>
            <a:ext cx="274320" cy="274320"/>
          </a:xfrm>
          <a:prstGeom prst="ellipse">
            <a:avLst/>
          </a:prstGeom>
          <a:solidFill>
            <a:srgbClr val="ECEBFF"/>
          </a:solidFill>
          <a:ln/>
        </p:spPr>
      </p:sp>
      <p:pic>
        <p:nvPicPr>
          <p:cNvPr id="56" name="Image 5" descr="preencoded.png">    </p:cNvPr>
          <p:cNvPicPr>
            <a:picLocks noChangeAspect="1"/>
          </p:cNvPicPr>
          <p:nvPr/>
        </p:nvPicPr>
        <p:blipFill>
          <a:blip r:embed="rId6"/>
          <a:stretch>
            <a:fillRect/>
          </a:stretch>
        </p:blipFill>
        <p:spPr>
          <a:xfrm>
            <a:off x="7429500" y="5326380"/>
            <a:ext cx="137160" cy="137160"/>
          </a:xfrm>
          <a:prstGeom prst="rect">
            <a:avLst/>
          </a:prstGeom>
        </p:spPr>
      </p:pic>
      <p:sp>
        <p:nvSpPr>
          <p:cNvPr id="57" name="Text 49"/>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8" name="Text 50"/>
          <p:cNvSpPr txBox="1"/>
          <p:nvPr/>
        </p:nvSpPr>
        <p:spPr>
          <a:xfrm>
            <a:off x="7726680" y="555040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Explore Our Services → Services page; Partner with Us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Mouse parallax on illustration layers (desktop only)</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counters hidden unless real figures are supplied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Featured solutions strip</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HOME · SECTION 2 OF 4</a:t>
            </a:r>
            <a:endParaRPr lang="en-US" sz="1050" dirty="0"/>
          </a:p>
        </p:txBody>
      </p:sp>
      <p:sp>
        <p:nvSpPr>
          <p:cNvPr id="4" name="Shape 2"/>
          <p:cNvSpPr/>
          <p:nvPr/>
        </p:nvSpPr>
        <p:spPr>
          <a:xfrm>
            <a:off x="548640" y="1325880"/>
            <a:ext cx="6537960" cy="3291840"/>
          </a:xfrm>
          <a:prstGeom prst="roundRect">
            <a:avLst>
              <a:gd name="adj" fmla="val 3333"/>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749808" y="1737360"/>
            <a:ext cx="3977640" cy="2606040"/>
          </a:xfrm>
          <a:prstGeom prst="roundRect">
            <a:avLst>
              <a:gd name="adj" fmla="val 5614"/>
            </a:avLst>
          </a:prstGeom>
          <a:solidFill>
            <a:srgbClr val="FFFFFF"/>
          </a:solidFill>
          <a:ln w="9525">
            <a:solidFill>
              <a:srgbClr val="E4E3EF"/>
            </a:solidFill>
            <a:prstDash val="solid"/>
          </a:ln>
        </p:spPr>
      </p:sp>
      <p:sp>
        <p:nvSpPr>
          <p:cNvPr id="13" name="Text 11"/>
          <p:cNvSpPr txBox="1"/>
          <p:nvPr/>
        </p:nvSpPr>
        <p:spPr>
          <a:xfrm>
            <a:off x="978408" y="1965960"/>
            <a:ext cx="2011680" cy="457200"/>
          </a:xfrm>
          <a:prstGeom prst="rect">
            <a:avLst/>
          </a:prstGeom>
          <a:noFill/>
          <a:ln/>
        </p:spPr>
        <p:txBody>
          <a:bodyPr wrap="square" lIns="0" tIns="0" rIns="0" bIns="0" rtlCol="0" anchor="t"/>
          <a:lstStyle/>
          <a:p>
            <a:pPr indent="0" marL="0">
              <a:buNone/>
            </a:pPr>
            <a:r>
              <a:rPr lang="en-US" sz="1200" b="1" dirty="0">
                <a:solidFill>
                  <a:srgbClr val="16161F"/>
                </a:solidFill>
                <a:latin typeface="Calibri" pitchFamily="34" charset="0"/>
                <a:ea typeface="Calibri" pitchFamily="34" charset="-122"/>
                <a:cs typeface="Calibri" pitchFamily="34" charset="-120"/>
              </a:rPr>
              <a:t>Global Voice Connectivity</a:t>
            </a:r>
            <a:endParaRPr lang="en-US" sz="1200" dirty="0"/>
          </a:p>
        </p:txBody>
      </p:sp>
      <p:sp>
        <p:nvSpPr>
          <p:cNvPr id="14" name="Text 12"/>
          <p:cNvSpPr txBox="1"/>
          <p:nvPr/>
        </p:nvSpPr>
        <p:spPr>
          <a:xfrm>
            <a:off x="978408" y="2468880"/>
            <a:ext cx="1828800" cy="114300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Our VoIP and voice termination services help partners connect across international destinations through flexible routing options and commercially competitive solutions.</a:t>
            </a:r>
            <a:endParaRPr lang="en-US" sz="800" dirty="0"/>
          </a:p>
        </p:txBody>
      </p:sp>
      <p:sp>
        <p:nvSpPr>
          <p:cNvPr id="15" name="Shape 13"/>
          <p:cNvSpPr/>
          <p:nvPr/>
        </p:nvSpPr>
        <p:spPr>
          <a:xfrm>
            <a:off x="978408" y="3749040"/>
            <a:ext cx="819302" cy="256032"/>
          </a:xfrm>
          <a:prstGeom prst="roundRect">
            <a:avLst>
              <a:gd name="adj" fmla="val 50000"/>
            </a:avLst>
          </a:prstGeom>
          <a:solidFill>
            <a:srgbClr val="16161F"/>
          </a:solidFill>
          <a:ln/>
        </p:spPr>
      </p:sp>
      <p:sp>
        <p:nvSpPr>
          <p:cNvPr id="16" name="Text 14"/>
          <p:cNvSpPr txBox="1"/>
          <p:nvPr/>
        </p:nvSpPr>
        <p:spPr>
          <a:xfrm>
            <a:off x="978408" y="3749040"/>
            <a:ext cx="81930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Learn More</a:t>
            </a:r>
            <a:endParaRPr lang="en-US" sz="800" dirty="0"/>
          </a:p>
        </p:txBody>
      </p:sp>
      <p:sp>
        <p:nvSpPr>
          <p:cNvPr id="17" name="Text 15"/>
          <p:cNvSpPr txBox="1"/>
          <p:nvPr/>
        </p:nvSpPr>
        <p:spPr>
          <a:xfrm>
            <a:off x="1779422" y="37033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18" name="Shape 16"/>
          <p:cNvSpPr/>
          <p:nvPr/>
        </p:nvSpPr>
        <p:spPr>
          <a:xfrm>
            <a:off x="1889150" y="3749040"/>
            <a:ext cx="1029980" cy="256032"/>
          </a:xfrm>
          <a:prstGeom prst="roundRect">
            <a:avLst>
              <a:gd name="adj" fmla="val 50000"/>
            </a:avLst>
          </a:prstGeom>
          <a:solidFill>
            <a:srgbClr val="ECEBFF"/>
          </a:solidFill>
          <a:ln/>
        </p:spPr>
      </p:sp>
      <p:sp>
        <p:nvSpPr>
          <p:cNvPr id="19" name="Text 17"/>
          <p:cNvSpPr txBox="1"/>
          <p:nvPr/>
        </p:nvSpPr>
        <p:spPr>
          <a:xfrm>
            <a:off x="1889150" y="3749040"/>
            <a:ext cx="1029980" cy="256032"/>
          </a:xfrm>
          <a:prstGeom prst="rect">
            <a:avLst/>
          </a:prstGeom>
          <a:noFill/>
          <a:ln/>
        </p:spPr>
        <p:txBody>
          <a:bodyPr wrap="square" lIns="0" tIns="0" rIns="0" bIns="0" rtlCol="0" anchor="ctr"/>
          <a:lstStyle/>
          <a:p>
            <a:pPr algn="ctr" indent="0" marL="0">
              <a:buNone/>
            </a:pPr>
            <a:r>
              <a:rPr lang="en-US" sz="800" b="1" dirty="0">
                <a:solidFill>
                  <a:srgbClr val="16161F"/>
                </a:solidFill>
                <a:latin typeface="Calibri" pitchFamily="34" charset="0"/>
                <a:ea typeface="Calibri" pitchFamily="34" charset="-122"/>
                <a:cs typeface="Calibri" pitchFamily="34" charset="-120"/>
              </a:rPr>
              <a:t>Discuss Routes</a:t>
            </a:r>
            <a:endParaRPr lang="en-US" sz="800" dirty="0"/>
          </a:p>
        </p:txBody>
      </p:sp>
      <p:sp>
        <p:nvSpPr>
          <p:cNvPr id="20" name="Text 18"/>
          <p:cNvSpPr txBox="1"/>
          <p:nvPr/>
        </p:nvSpPr>
        <p:spPr>
          <a:xfrm>
            <a:off x="2900843" y="37033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1" name="Shape 19"/>
          <p:cNvSpPr/>
          <p:nvPr/>
        </p:nvSpPr>
        <p:spPr>
          <a:xfrm>
            <a:off x="2944368" y="2011680"/>
            <a:ext cx="1600200" cy="2057400"/>
          </a:xfrm>
          <a:prstGeom prst="roundRect">
            <a:avLst>
              <a:gd name="adj" fmla="val 5714"/>
            </a:avLst>
          </a:prstGeom>
          <a:solidFill>
            <a:srgbClr val="2A2A3C"/>
          </a:solidFill>
          <a:ln w="9525">
            <a:solidFill>
              <a:srgbClr val="5A4FD0"/>
            </a:solidFill>
            <a:prstDash val="dash"/>
          </a:ln>
        </p:spPr>
      </p:sp>
      <p:pic>
        <p:nvPicPr>
          <p:cNvPr id="22" name="Image 0" descr="preencoded.png">    </p:cNvPr>
          <p:cNvPicPr>
            <a:picLocks noChangeAspect="1"/>
          </p:cNvPicPr>
          <p:nvPr/>
        </p:nvPicPr>
        <p:blipFill>
          <a:blip r:embed="rId1"/>
          <a:stretch>
            <a:fillRect/>
          </a:stretch>
        </p:blipFill>
        <p:spPr>
          <a:xfrm>
            <a:off x="3552444" y="2729484"/>
            <a:ext cx="384048" cy="384048"/>
          </a:xfrm>
          <a:prstGeom prst="rect">
            <a:avLst/>
          </a:prstGeom>
        </p:spPr>
      </p:pic>
      <p:sp>
        <p:nvSpPr>
          <p:cNvPr id="23" name="Text 20"/>
          <p:cNvSpPr txBox="1"/>
          <p:nvPr/>
        </p:nvSpPr>
        <p:spPr>
          <a:xfrm>
            <a:off x="3017520" y="3177540"/>
            <a:ext cx="1453896" cy="384048"/>
          </a:xfrm>
          <a:prstGeom prst="rect">
            <a:avLst/>
          </a:prstGeom>
          <a:noFill/>
          <a:ln/>
        </p:spPr>
        <p:txBody>
          <a:bodyPr wrap="square" lIns="0" tIns="0" rIns="0" bIns="0" rtlCol="0" anchor="t"/>
          <a:lstStyle/>
          <a:p>
            <a:pPr algn="ctr" indent="0" marL="0">
              <a:buNone/>
            </a:pPr>
            <a:r>
              <a:rPr lang="en-US" sz="750" i="1" dirty="0">
                <a:solidFill>
                  <a:srgbClr val="C9C1FF"/>
                </a:solidFill>
                <a:latin typeface="Calibri" pitchFamily="34" charset="0"/>
                <a:ea typeface="Calibri" pitchFamily="34" charset="-122"/>
                <a:cs typeface="Calibri" pitchFamily="34" charset="-120"/>
              </a:rPr>
              <a:t>Dark screen: route map with voice arcs (no metrics)</a:t>
            </a:r>
            <a:endParaRPr lang="en-US" sz="750" dirty="0"/>
          </a:p>
        </p:txBody>
      </p:sp>
      <p:sp>
        <p:nvSpPr>
          <p:cNvPr id="24" name="Shape 21"/>
          <p:cNvSpPr/>
          <p:nvPr/>
        </p:nvSpPr>
        <p:spPr>
          <a:xfrm>
            <a:off x="4864608" y="1737360"/>
            <a:ext cx="2011680" cy="2606040"/>
          </a:xfrm>
          <a:prstGeom prst="roundRect">
            <a:avLst>
              <a:gd name="adj" fmla="val 7273"/>
            </a:avLst>
          </a:prstGeom>
          <a:solidFill>
            <a:srgbClr val="1B1B28"/>
          </a:solidFill>
          <a:ln/>
        </p:spPr>
      </p:sp>
      <p:sp>
        <p:nvSpPr>
          <p:cNvPr id="25" name="Shape 22"/>
          <p:cNvSpPr/>
          <p:nvPr/>
        </p:nvSpPr>
        <p:spPr>
          <a:xfrm>
            <a:off x="5047488" y="1965960"/>
            <a:ext cx="457200" cy="457200"/>
          </a:xfrm>
          <a:prstGeom prst="ellipse">
            <a:avLst/>
          </a:prstGeom>
          <a:solidFill>
            <a:srgbClr val="3A3360"/>
          </a:solidFill>
          <a:ln/>
        </p:spPr>
      </p:sp>
      <p:pic>
        <p:nvPicPr>
          <p:cNvPr id="26" name="Image 1" descr="preencoded.png">    </p:cNvPr>
          <p:cNvPicPr>
            <a:picLocks noChangeAspect="1"/>
          </p:cNvPicPr>
          <p:nvPr/>
        </p:nvPicPr>
        <p:blipFill>
          <a:blip r:embed="rId2"/>
          <a:stretch>
            <a:fillRect/>
          </a:stretch>
        </p:blipFill>
        <p:spPr>
          <a:xfrm>
            <a:off x="5166360" y="2084832"/>
            <a:ext cx="219456" cy="219456"/>
          </a:xfrm>
          <a:prstGeom prst="rect">
            <a:avLst/>
          </a:prstGeom>
        </p:spPr>
      </p:pic>
      <p:sp>
        <p:nvSpPr>
          <p:cNvPr id="27" name="Text 23"/>
          <p:cNvSpPr txBox="1"/>
          <p:nvPr/>
        </p:nvSpPr>
        <p:spPr>
          <a:xfrm>
            <a:off x="5047488" y="2514600"/>
            <a:ext cx="1691640" cy="41148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SMS Connectivity Solutions</a:t>
            </a:r>
            <a:endParaRPr lang="en-US" sz="1100" dirty="0"/>
          </a:p>
        </p:txBody>
      </p:sp>
      <p:sp>
        <p:nvSpPr>
          <p:cNvPr id="28" name="Text 24"/>
          <p:cNvSpPr txBox="1"/>
          <p:nvPr/>
        </p:nvSpPr>
        <p:spPr>
          <a:xfrm>
            <a:off x="5047488" y="2944368"/>
            <a:ext cx="1691640" cy="822960"/>
          </a:xfrm>
          <a:prstGeom prst="rect">
            <a:avLst/>
          </a:prstGeom>
          <a:noFill/>
          <a:ln/>
        </p:spPr>
        <p:txBody>
          <a:bodyPr wrap="square" lIns="0" tIns="0" rIns="0" bIns="0" rtlCol="0" anchor="t"/>
          <a:lstStyle/>
          <a:p>
            <a:pPr indent="0" marL="0">
              <a:buNone/>
            </a:pPr>
            <a:r>
              <a:rPr lang="en-US" sz="800" dirty="0">
                <a:solidFill>
                  <a:srgbClr val="A9A9C0"/>
                </a:solidFill>
                <a:latin typeface="Calibri" pitchFamily="34" charset="0"/>
                <a:ea typeface="Calibri" pitchFamily="34" charset="-122"/>
                <a:cs typeface="Calibri" pitchFamily="34" charset="-120"/>
              </a:rPr>
              <a:t>We support SMS traffic across destinations in Asia, Africa, the Middle East, Europe, and the Americas.</a:t>
            </a:r>
            <a:endParaRPr lang="en-US" sz="800" dirty="0"/>
          </a:p>
        </p:txBody>
      </p:sp>
      <p:sp>
        <p:nvSpPr>
          <p:cNvPr id="29" name="Shape 25"/>
          <p:cNvSpPr/>
          <p:nvPr/>
        </p:nvSpPr>
        <p:spPr>
          <a:xfrm>
            <a:off x="5047488" y="3840480"/>
            <a:ext cx="977311" cy="256032"/>
          </a:xfrm>
          <a:prstGeom prst="roundRect">
            <a:avLst>
              <a:gd name="adj" fmla="val 50000"/>
            </a:avLst>
          </a:prstGeom>
          <a:solidFill>
            <a:srgbClr val="7B6CF6"/>
          </a:solidFill>
          <a:ln/>
        </p:spPr>
      </p:sp>
      <p:sp>
        <p:nvSpPr>
          <p:cNvPr id="30" name="Text 26"/>
          <p:cNvSpPr txBox="1"/>
          <p:nvPr/>
        </p:nvSpPr>
        <p:spPr>
          <a:xfrm>
            <a:off x="5047488" y="3840480"/>
            <a:ext cx="977311"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Explore SMS →</a:t>
            </a:r>
            <a:endParaRPr lang="en-US" sz="800" dirty="0"/>
          </a:p>
        </p:txBody>
      </p:sp>
      <p:sp>
        <p:nvSpPr>
          <p:cNvPr id="31" name="Text 27"/>
          <p:cNvSpPr txBox="1"/>
          <p:nvPr/>
        </p:nvSpPr>
        <p:spPr>
          <a:xfrm>
            <a:off x="6006511" y="379476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2" name="Text 28"/>
          <p:cNvSpPr txBox="1"/>
          <p:nvPr/>
        </p:nvSpPr>
        <p:spPr>
          <a:xfrm>
            <a:off x="548640" y="4800600"/>
            <a:ext cx="6537960" cy="27432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Text: first sentences of the document's VoIP page (item 6) and SMS page (item 7).</a:t>
            </a:r>
            <a:endParaRPr lang="en-US" sz="1100" dirty="0"/>
          </a:p>
        </p:txBody>
      </p:sp>
      <p:sp>
        <p:nvSpPr>
          <p:cNvPr id="33" name="Shape 29"/>
          <p:cNvSpPr/>
          <p:nvPr/>
        </p:nvSpPr>
        <p:spPr>
          <a:xfrm>
            <a:off x="548640" y="5166360"/>
            <a:ext cx="6537960" cy="1097280"/>
          </a:xfrm>
          <a:prstGeom prst="roundRect">
            <a:avLst>
              <a:gd name="adj" fmla="val 10000"/>
            </a:avLst>
          </a:prstGeom>
          <a:solidFill>
            <a:srgbClr val="F3F2FA"/>
          </a:solidFill>
          <a:ln/>
        </p:spPr>
      </p:sp>
      <p:sp>
        <p:nvSpPr>
          <p:cNvPr id="34" name="Text 30"/>
          <p:cNvSpPr txBox="1"/>
          <p:nvPr/>
        </p:nvSpPr>
        <p:spPr>
          <a:xfrm>
            <a:off x="777240" y="5166360"/>
            <a:ext cx="6080760" cy="1097280"/>
          </a:xfrm>
          <a:prstGeom prst="rect">
            <a:avLst/>
          </a:prstGeom>
          <a:noFill/>
          <a:ln/>
        </p:spPr>
        <p:txBody>
          <a:bodyPr wrap="square" lIns="0" tIns="0" rIns="0" bIns="0" rtlCol="0" anchor="ctr"/>
          <a:lstStyle/>
          <a:p>
            <a:pPr indent="0" marL="0">
              <a:buNone/>
            </a:pPr>
            <a:r>
              <a:rPr lang="en-US" sz="1200" dirty="0">
                <a:solidFill>
                  <a:srgbClr val="16161F"/>
                </a:solidFill>
                <a:latin typeface="Calibri" pitchFamily="34" charset="0"/>
                <a:ea typeface="Calibri" pitchFamily="34" charset="-122"/>
                <a:cs typeface="Calibri" pitchFamily="34" charset="-120"/>
              </a:rPr>
              <a:t>Why this section: the client has two in-depth service pages. Surfacing them directly under the hero gives operators and aggregators a one-click path to the page relevant to them.</a:t>
            </a:r>
            <a:endParaRPr lang="en-US" sz="1200" dirty="0"/>
          </a:p>
        </p:txBody>
      </p:sp>
      <p:sp>
        <p:nvSpPr>
          <p:cNvPr id="35" name="Text 31"/>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36" name="Shape 32"/>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37" name="Image 2" descr="preencoded.png">    </p:cNvPr>
          <p:cNvPicPr>
            <a:picLocks noChangeAspect="1"/>
          </p:cNvPicPr>
          <p:nvPr/>
        </p:nvPicPr>
        <p:blipFill>
          <a:blip r:embed="rId3"/>
          <a:stretch>
            <a:fillRect/>
          </a:stretch>
        </p:blipFill>
        <p:spPr>
          <a:xfrm>
            <a:off x="8003325" y="1591056"/>
            <a:ext cx="3012871" cy="822960"/>
          </a:xfrm>
          <a:prstGeom prst="rect">
            <a:avLst/>
          </a:prstGeom>
        </p:spPr>
      </p:pic>
      <p:sp>
        <p:nvSpPr>
          <p:cNvPr id="38" name="Shape 33"/>
          <p:cNvSpPr/>
          <p:nvPr/>
        </p:nvSpPr>
        <p:spPr>
          <a:xfrm>
            <a:off x="7360920" y="2587752"/>
            <a:ext cx="274320" cy="274320"/>
          </a:xfrm>
          <a:prstGeom prst="ellipse">
            <a:avLst/>
          </a:prstGeom>
          <a:solidFill>
            <a:srgbClr val="ECEBFF"/>
          </a:solidFill>
          <a:ln/>
        </p:spPr>
      </p:sp>
      <p:pic>
        <p:nvPicPr>
          <p:cNvPr id="39" name="Image 3" descr="preencoded.png">    </p:cNvPr>
          <p:cNvPicPr>
            <a:picLocks noChangeAspect="1"/>
          </p:cNvPicPr>
          <p:nvPr/>
        </p:nvPicPr>
        <p:blipFill>
          <a:blip r:embed="rId4"/>
          <a:stretch>
            <a:fillRect/>
          </a:stretch>
        </p:blipFill>
        <p:spPr>
          <a:xfrm>
            <a:off x="7429500" y="2656332"/>
            <a:ext cx="137160" cy="137160"/>
          </a:xfrm>
          <a:prstGeom prst="rect">
            <a:avLst/>
          </a:prstGeom>
        </p:spPr>
      </p:pic>
      <p:sp>
        <p:nvSpPr>
          <p:cNvPr id="40" name="Text 34"/>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1" name="Text 35"/>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Bento 2:1 — wide light card + compact dark card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Wide card splits text left / visual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Stacks to one column below 900px</a:t>
            </a:r>
            <a:endParaRPr lang="en-US" sz="1100" dirty="0"/>
          </a:p>
        </p:txBody>
      </p:sp>
      <p:sp>
        <p:nvSpPr>
          <p:cNvPr id="42" name="Shape 36"/>
          <p:cNvSpPr/>
          <p:nvPr/>
        </p:nvSpPr>
        <p:spPr>
          <a:xfrm>
            <a:off x="7360920" y="3534156"/>
            <a:ext cx="274320" cy="274320"/>
          </a:xfrm>
          <a:prstGeom prst="ellipse">
            <a:avLst/>
          </a:prstGeom>
          <a:solidFill>
            <a:srgbClr val="ECEBFF"/>
          </a:solidFill>
          <a:ln/>
        </p:spPr>
      </p:sp>
      <p:pic>
        <p:nvPicPr>
          <p:cNvPr id="43" name="Image 4" descr="preencoded.png">    </p:cNvPr>
          <p:cNvPicPr>
            <a:picLocks noChangeAspect="1"/>
          </p:cNvPicPr>
          <p:nvPr/>
        </p:nvPicPr>
        <p:blipFill>
          <a:blip r:embed="rId5"/>
          <a:stretch>
            <a:fillRect/>
          </a:stretch>
        </p:blipFill>
        <p:spPr>
          <a:xfrm>
            <a:off x="7429500" y="3602736"/>
            <a:ext cx="137160" cy="137160"/>
          </a:xfrm>
          <a:prstGeom prst="rect">
            <a:avLst/>
          </a:prstGeom>
        </p:spPr>
      </p:pic>
      <p:sp>
        <p:nvSpPr>
          <p:cNvPr id="44" name="Text 37"/>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45" name="Text 38"/>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Dark 'screen' illustration of voice routes (replaces latency chart)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SMS icon in a soft circle (replaces avatar)</a:t>
            </a:r>
            <a:endParaRPr lang="en-US" sz="1100" dirty="0"/>
          </a:p>
        </p:txBody>
      </p:sp>
      <p:sp>
        <p:nvSpPr>
          <p:cNvPr id="46" name="Shape 39"/>
          <p:cNvSpPr/>
          <p:nvPr/>
        </p:nvSpPr>
        <p:spPr>
          <a:xfrm>
            <a:off x="7360920" y="4480560"/>
            <a:ext cx="274320" cy="274320"/>
          </a:xfrm>
          <a:prstGeom prst="ellipse">
            <a:avLst/>
          </a:prstGeom>
          <a:solidFill>
            <a:srgbClr val="ECEBFF"/>
          </a:solidFill>
          <a:ln/>
        </p:spPr>
      </p:sp>
      <p:pic>
        <p:nvPicPr>
          <p:cNvPr id="47" name="Image 5" descr="preencoded.png">    </p:cNvPr>
          <p:cNvPicPr>
            <a:picLocks noChangeAspect="1"/>
          </p:cNvPicPr>
          <p:nvPr/>
        </p:nvPicPr>
        <p:blipFill>
          <a:blip r:embed="rId6"/>
          <a:stretch>
            <a:fillRect/>
          </a:stretch>
        </p:blipFill>
        <p:spPr>
          <a:xfrm>
            <a:off x="7429500" y="4549140"/>
            <a:ext cx="137160" cy="137160"/>
          </a:xfrm>
          <a:prstGeom prst="rect">
            <a:avLst/>
          </a:prstGeom>
        </p:spPr>
      </p:pic>
      <p:sp>
        <p:nvSpPr>
          <p:cNvPr id="48" name="Text 40"/>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49" name="Text 41"/>
          <p:cNvSpPr txBox="1"/>
          <p:nvPr/>
        </p:nvSpPr>
        <p:spPr>
          <a:xfrm>
            <a:off x="7726680" y="477316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Learn More → VoIP page; Discuss Routes → Contact (Voice pre-selected)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Explore SMS → SMS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Card lifts 5px on hover; scroll-reveal fade-in</a:t>
            </a:r>
            <a:endParaRPr lang="en-US" sz="1100" dirty="0"/>
          </a:p>
        </p:txBody>
      </p:sp>
      <p:sp>
        <p:nvSpPr>
          <p:cNvPr id="50" name="Shape 42"/>
          <p:cNvSpPr/>
          <p:nvPr/>
        </p:nvSpPr>
        <p:spPr>
          <a:xfrm>
            <a:off x="7360920" y="5596128"/>
            <a:ext cx="274320" cy="274320"/>
          </a:xfrm>
          <a:prstGeom prst="ellipse">
            <a:avLst/>
          </a:prstGeom>
          <a:solidFill>
            <a:srgbClr val="ECEBFF"/>
          </a:solidFill>
          <a:ln/>
        </p:spPr>
      </p:sp>
      <p:pic>
        <p:nvPicPr>
          <p:cNvPr id="51" name="Image 6" descr="preencoded.png">    </p:cNvPr>
          <p:cNvPicPr>
            <a:picLocks noChangeAspect="1"/>
          </p:cNvPicPr>
          <p:nvPr/>
        </p:nvPicPr>
        <p:blipFill>
          <a:blip r:embed="rId7"/>
          <a:stretch>
            <a:fillRect/>
          </a:stretch>
        </p:blipFill>
        <p:spPr>
          <a:xfrm>
            <a:off x="7429500" y="5664708"/>
            <a:ext cx="137160" cy="137160"/>
          </a:xfrm>
          <a:prstGeom prst="rect">
            <a:avLst/>
          </a:prstGeom>
        </p:spPr>
      </p:pic>
      <p:sp>
        <p:nvSpPr>
          <p:cNvPr id="52" name="Text 43"/>
          <p:cNvSpPr txBox="1"/>
          <p:nvPr/>
        </p:nvSpPr>
        <p:spPr>
          <a:xfrm>
            <a:off x="7726680" y="561441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Notes</a:t>
            </a:r>
            <a:endParaRPr lang="en-US" sz="1200" dirty="0"/>
          </a:p>
        </p:txBody>
      </p:sp>
      <p:sp>
        <p:nvSpPr>
          <p:cNvPr id="53" name="Text 44"/>
          <p:cNvSpPr txBox="1"/>
          <p:nvPr/>
        </p:nvSpPr>
        <p:spPr>
          <a:xfrm>
            <a:off x="7726680" y="588873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'Latency 8ms', '5G' and avatar removed — no figures supplied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About preview</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HOME · SECTION 3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749808" y="1828800"/>
            <a:ext cx="709574" cy="201168"/>
          </a:xfrm>
          <a:prstGeom prst="roundRect">
            <a:avLst>
              <a:gd name="adj" fmla="val 50000"/>
            </a:avLst>
          </a:prstGeom>
          <a:solidFill>
            <a:srgbClr val="ECEBFF"/>
          </a:solidFill>
          <a:ln/>
        </p:spPr>
      </p:sp>
      <p:sp>
        <p:nvSpPr>
          <p:cNvPr id="13" name="Text 11"/>
          <p:cNvSpPr txBox="1"/>
          <p:nvPr/>
        </p:nvSpPr>
        <p:spPr>
          <a:xfrm>
            <a:off x="749808" y="1828800"/>
            <a:ext cx="709574"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ABOUT US</a:t>
            </a:r>
            <a:endParaRPr lang="en-US" sz="700" dirty="0"/>
          </a:p>
        </p:txBody>
      </p:sp>
      <p:sp>
        <p:nvSpPr>
          <p:cNvPr id="14" name="Text 12"/>
          <p:cNvSpPr txBox="1"/>
          <p:nvPr/>
        </p:nvSpPr>
        <p:spPr>
          <a:xfrm>
            <a:off x="749808" y="2148840"/>
            <a:ext cx="3108960" cy="411480"/>
          </a:xfrm>
          <a:prstGeom prst="rect">
            <a:avLst/>
          </a:prstGeom>
          <a:noFill/>
          <a:ln/>
        </p:spPr>
        <p:txBody>
          <a:bodyPr wrap="square" lIns="0" tIns="0" rIns="0" bIns="0" rtlCol="0" anchor="t"/>
          <a:lstStyle/>
          <a:p>
            <a:pPr indent="0" marL="0">
              <a:buNone/>
            </a:pPr>
            <a:r>
              <a:rPr lang="en-US" sz="1800" b="1" dirty="0">
                <a:solidFill>
                  <a:srgbClr val="16161F"/>
                </a:solidFill>
                <a:latin typeface="Calibri" pitchFamily="34" charset="0"/>
                <a:ea typeface="Calibri" pitchFamily="34" charset="-122"/>
                <a:cs typeface="Calibri" pitchFamily="34" charset="-120"/>
              </a:rPr>
              <a:t>About Omaginfo LLC</a:t>
            </a:r>
            <a:endParaRPr lang="en-US" sz="1800" dirty="0"/>
          </a:p>
        </p:txBody>
      </p:sp>
      <p:sp>
        <p:nvSpPr>
          <p:cNvPr id="15" name="Text 13"/>
          <p:cNvSpPr txBox="1"/>
          <p:nvPr/>
        </p:nvSpPr>
        <p:spPr>
          <a:xfrm>
            <a:off x="749808" y="2651760"/>
            <a:ext cx="3063240" cy="1417320"/>
          </a:xfrm>
          <a:prstGeom prst="rect">
            <a:avLst/>
          </a:prstGeom>
          <a:noFill/>
          <a:ln/>
        </p:spPr>
        <p:txBody>
          <a:bodyPr wrap="square" lIns="0" tIns="0" rIns="0" bIns="0" rtlCol="0" anchor="t"/>
          <a:lstStyle/>
          <a:p>
            <a:pPr indent="0" marL="0">
              <a:buNone/>
            </a:pPr>
            <a:r>
              <a:rPr lang="en-US" sz="850" dirty="0">
                <a:solidFill>
                  <a:srgbClr val="5F6075"/>
                </a:solidFill>
                <a:latin typeface="Calibri" pitchFamily="34" charset="0"/>
                <a:ea typeface="Calibri" pitchFamily="34" charset="-122"/>
                <a:cs typeface="Calibri" pitchFamily="34" charset="-120"/>
              </a:rPr>
              <a:t>Omaginfo LLC is a telecommunications company focused on providing voice and messaging connectivity solutions to operators, carriers, and business partners across international markets. We specialize in VoIP services, A–Z voice termination, SMS routing, and global connectivity solutions tailored to meet the evolving needs of the telecom industry.</a:t>
            </a:r>
            <a:endParaRPr lang="en-US" sz="850" dirty="0"/>
          </a:p>
        </p:txBody>
      </p:sp>
      <p:sp>
        <p:nvSpPr>
          <p:cNvPr id="16" name="Shape 14"/>
          <p:cNvSpPr/>
          <p:nvPr/>
        </p:nvSpPr>
        <p:spPr>
          <a:xfrm>
            <a:off x="749808" y="4215384"/>
            <a:ext cx="155448" cy="155448"/>
          </a:xfrm>
          <a:prstGeom prst="ellipse">
            <a:avLst/>
          </a:prstGeom>
          <a:solidFill>
            <a:srgbClr val="ECEBFF"/>
          </a:solidFill>
          <a:ln/>
        </p:spPr>
      </p:sp>
      <p:pic>
        <p:nvPicPr>
          <p:cNvPr id="17" name="Image 0" descr="preencoded.png">    </p:cNvPr>
          <p:cNvPicPr>
            <a:picLocks noChangeAspect="1"/>
          </p:cNvPicPr>
          <p:nvPr/>
        </p:nvPicPr>
        <p:blipFill>
          <a:blip r:embed="rId1"/>
          <a:stretch>
            <a:fillRect/>
          </a:stretch>
        </p:blipFill>
        <p:spPr>
          <a:xfrm>
            <a:off x="790956" y="4256532"/>
            <a:ext cx="73152" cy="73152"/>
          </a:xfrm>
          <a:prstGeom prst="rect">
            <a:avLst/>
          </a:prstGeom>
        </p:spPr>
      </p:pic>
      <p:sp>
        <p:nvSpPr>
          <p:cNvPr id="18" name="Text 15"/>
          <p:cNvSpPr txBox="1"/>
          <p:nvPr/>
        </p:nvSpPr>
        <p:spPr>
          <a:xfrm>
            <a:off x="969264" y="4206240"/>
            <a:ext cx="132588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VoIP services</a:t>
            </a:r>
            <a:endParaRPr lang="en-US" sz="800" dirty="0"/>
          </a:p>
        </p:txBody>
      </p:sp>
      <p:sp>
        <p:nvSpPr>
          <p:cNvPr id="19" name="Shape 16"/>
          <p:cNvSpPr/>
          <p:nvPr/>
        </p:nvSpPr>
        <p:spPr>
          <a:xfrm>
            <a:off x="2304288" y="4215384"/>
            <a:ext cx="155448" cy="155448"/>
          </a:xfrm>
          <a:prstGeom prst="ellipse">
            <a:avLst/>
          </a:prstGeom>
          <a:solidFill>
            <a:srgbClr val="ECEBFF"/>
          </a:solidFill>
          <a:ln/>
        </p:spPr>
      </p:sp>
      <p:pic>
        <p:nvPicPr>
          <p:cNvPr id="20" name="Image 1" descr="preencoded.png">    </p:cNvPr>
          <p:cNvPicPr>
            <a:picLocks noChangeAspect="1"/>
          </p:cNvPicPr>
          <p:nvPr/>
        </p:nvPicPr>
        <p:blipFill>
          <a:blip r:embed="rId2"/>
          <a:stretch>
            <a:fillRect/>
          </a:stretch>
        </p:blipFill>
        <p:spPr>
          <a:xfrm>
            <a:off x="2345436" y="4256532"/>
            <a:ext cx="73152" cy="73152"/>
          </a:xfrm>
          <a:prstGeom prst="rect">
            <a:avLst/>
          </a:prstGeom>
        </p:spPr>
      </p:pic>
      <p:sp>
        <p:nvSpPr>
          <p:cNvPr id="21" name="Text 17"/>
          <p:cNvSpPr txBox="1"/>
          <p:nvPr/>
        </p:nvSpPr>
        <p:spPr>
          <a:xfrm>
            <a:off x="2523744" y="4206240"/>
            <a:ext cx="132588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A–Z voice termination</a:t>
            </a:r>
            <a:endParaRPr lang="en-US" sz="800" dirty="0"/>
          </a:p>
        </p:txBody>
      </p:sp>
      <p:sp>
        <p:nvSpPr>
          <p:cNvPr id="22" name="Shape 18"/>
          <p:cNvSpPr/>
          <p:nvPr/>
        </p:nvSpPr>
        <p:spPr>
          <a:xfrm>
            <a:off x="749808" y="4507992"/>
            <a:ext cx="155448" cy="155448"/>
          </a:xfrm>
          <a:prstGeom prst="ellipse">
            <a:avLst/>
          </a:prstGeom>
          <a:solidFill>
            <a:srgbClr val="ECEBFF"/>
          </a:solidFill>
          <a:ln/>
        </p:spPr>
      </p:sp>
      <p:pic>
        <p:nvPicPr>
          <p:cNvPr id="23" name="Image 2" descr="preencoded.png">    </p:cNvPr>
          <p:cNvPicPr>
            <a:picLocks noChangeAspect="1"/>
          </p:cNvPicPr>
          <p:nvPr/>
        </p:nvPicPr>
        <p:blipFill>
          <a:blip r:embed="rId3"/>
          <a:stretch>
            <a:fillRect/>
          </a:stretch>
        </p:blipFill>
        <p:spPr>
          <a:xfrm>
            <a:off x="790956" y="4549140"/>
            <a:ext cx="73152" cy="73152"/>
          </a:xfrm>
          <a:prstGeom prst="rect">
            <a:avLst/>
          </a:prstGeom>
        </p:spPr>
      </p:pic>
      <p:sp>
        <p:nvSpPr>
          <p:cNvPr id="24" name="Text 19"/>
          <p:cNvSpPr txBox="1"/>
          <p:nvPr/>
        </p:nvSpPr>
        <p:spPr>
          <a:xfrm>
            <a:off x="969264" y="4498848"/>
            <a:ext cx="132588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SMS routing</a:t>
            </a:r>
            <a:endParaRPr lang="en-US" sz="800" dirty="0"/>
          </a:p>
        </p:txBody>
      </p:sp>
      <p:sp>
        <p:nvSpPr>
          <p:cNvPr id="25" name="Shape 20"/>
          <p:cNvSpPr/>
          <p:nvPr/>
        </p:nvSpPr>
        <p:spPr>
          <a:xfrm>
            <a:off x="2304288" y="4507992"/>
            <a:ext cx="155448" cy="155448"/>
          </a:xfrm>
          <a:prstGeom prst="ellipse">
            <a:avLst/>
          </a:prstGeom>
          <a:solidFill>
            <a:srgbClr val="ECEBFF"/>
          </a:solidFill>
          <a:ln/>
        </p:spPr>
      </p:sp>
      <p:pic>
        <p:nvPicPr>
          <p:cNvPr id="26" name="Image 3" descr="preencoded.png">    </p:cNvPr>
          <p:cNvPicPr>
            <a:picLocks noChangeAspect="1"/>
          </p:cNvPicPr>
          <p:nvPr/>
        </p:nvPicPr>
        <p:blipFill>
          <a:blip r:embed="rId4"/>
          <a:stretch>
            <a:fillRect/>
          </a:stretch>
        </p:blipFill>
        <p:spPr>
          <a:xfrm>
            <a:off x="2345436" y="4549140"/>
            <a:ext cx="73152" cy="73152"/>
          </a:xfrm>
          <a:prstGeom prst="rect">
            <a:avLst/>
          </a:prstGeom>
        </p:spPr>
      </p:pic>
      <p:sp>
        <p:nvSpPr>
          <p:cNvPr id="27" name="Text 21"/>
          <p:cNvSpPr txBox="1"/>
          <p:nvPr/>
        </p:nvSpPr>
        <p:spPr>
          <a:xfrm>
            <a:off x="2523744" y="4498848"/>
            <a:ext cx="132588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Global connectivity solutions</a:t>
            </a:r>
            <a:endParaRPr lang="en-US" sz="800" dirty="0"/>
          </a:p>
        </p:txBody>
      </p:sp>
      <p:sp>
        <p:nvSpPr>
          <p:cNvPr id="28" name="Shape 22"/>
          <p:cNvSpPr/>
          <p:nvPr/>
        </p:nvSpPr>
        <p:spPr>
          <a:xfrm>
            <a:off x="749808" y="4937760"/>
            <a:ext cx="1355872" cy="256032"/>
          </a:xfrm>
          <a:prstGeom prst="roundRect">
            <a:avLst>
              <a:gd name="adj" fmla="val 50000"/>
            </a:avLst>
          </a:prstGeom>
          <a:solidFill>
            <a:srgbClr val="16161F"/>
          </a:solidFill>
          <a:ln/>
        </p:spPr>
      </p:sp>
      <p:sp>
        <p:nvSpPr>
          <p:cNvPr id="29" name="Text 23"/>
          <p:cNvSpPr txBox="1"/>
          <p:nvPr/>
        </p:nvSpPr>
        <p:spPr>
          <a:xfrm>
            <a:off x="749808" y="4937760"/>
            <a:ext cx="135587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Learn More About Us</a:t>
            </a:r>
            <a:endParaRPr lang="en-US" sz="850" dirty="0"/>
          </a:p>
        </p:txBody>
      </p:sp>
      <p:sp>
        <p:nvSpPr>
          <p:cNvPr id="30" name="Text 24"/>
          <p:cNvSpPr txBox="1"/>
          <p:nvPr/>
        </p:nvSpPr>
        <p:spPr>
          <a:xfrm>
            <a:off x="2087392" y="489204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1" name="Shape 25"/>
          <p:cNvSpPr/>
          <p:nvPr/>
        </p:nvSpPr>
        <p:spPr>
          <a:xfrm>
            <a:off x="2215408" y="4937760"/>
            <a:ext cx="964143" cy="256032"/>
          </a:xfrm>
          <a:prstGeom prst="roundRect">
            <a:avLst>
              <a:gd name="adj" fmla="val 50000"/>
            </a:avLst>
          </a:prstGeom>
          <a:solidFill>
            <a:srgbClr val="ECEBFF"/>
          </a:solidFill>
          <a:ln/>
        </p:spPr>
      </p:sp>
      <p:sp>
        <p:nvSpPr>
          <p:cNvPr id="32" name="Text 26"/>
          <p:cNvSpPr txBox="1"/>
          <p:nvPr/>
        </p:nvSpPr>
        <p:spPr>
          <a:xfrm>
            <a:off x="2215408" y="4937760"/>
            <a:ext cx="964143" cy="256032"/>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Our Services</a:t>
            </a:r>
            <a:endParaRPr lang="en-US" sz="850" dirty="0"/>
          </a:p>
        </p:txBody>
      </p:sp>
      <p:sp>
        <p:nvSpPr>
          <p:cNvPr id="33" name="Shape 27"/>
          <p:cNvSpPr/>
          <p:nvPr/>
        </p:nvSpPr>
        <p:spPr>
          <a:xfrm>
            <a:off x="4087368" y="1828800"/>
            <a:ext cx="2788920" cy="4023360"/>
          </a:xfrm>
          <a:prstGeom prst="roundRect">
            <a:avLst>
              <a:gd name="adj" fmla="val 7213"/>
            </a:avLst>
          </a:prstGeom>
          <a:solidFill>
            <a:srgbClr val="1B1B28"/>
          </a:solidFill>
          <a:ln/>
        </p:spPr>
      </p:sp>
      <p:sp>
        <p:nvSpPr>
          <p:cNvPr id="34" name="Shape 28"/>
          <p:cNvSpPr/>
          <p:nvPr/>
        </p:nvSpPr>
        <p:spPr>
          <a:xfrm>
            <a:off x="4407408" y="2514600"/>
            <a:ext cx="2194560" cy="1783080"/>
          </a:xfrm>
          <a:prstGeom prst="roundRect">
            <a:avLst>
              <a:gd name="adj" fmla="val 5128"/>
            </a:avLst>
          </a:prstGeom>
          <a:solidFill>
            <a:srgbClr val="2A2A3C"/>
          </a:solidFill>
          <a:ln w="9525">
            <a:solidFill>
              <a:srgbClr val="5A4FD0"/>
            </a:solidFill>
            <a:prstDash val="dash"/>
          </a:ln>
        </p:spPr>
      </p:sp>
      <p:pic>
        <p:nvPicPr>
          <p:cNvPr id="35" name="Image 4" descr="preencoded.png">    </p:cNvPr>
          <p:cNvPicPr>
            <a:picLocks noChangeAspect="1"/>
          </p:cNvPicPr>
          <p:nvPr/>
        </p:nvPicPr>
        <p:blipFill>
          <a:blip r:embed="rId5"/>
          <a:stretch>
            <a:fillRect/>
          </a:stretch>
        </p:blipFill>
        <p:spPr>
          <a:xfrm>
            <a:off x="5312664" y="3095244"/>
            <a:ext cx="384048" cy="384048"/>
          </a:xfrm>
          <a:prstGeom prst="rect">
            <a:avLst/>
          </a:prstGeom>
        </p:spPr>
      </p:pic>
      <p:sp>
        <p:nvSpPr>
          <p:cNvPr id="36" name="Text 29"/>
          <p:cNvSpPr txBox="1"/>
          <p:nvPr/>
        </p:nvSpPr>
        <p:spPr>
          <a:xfrm>
            <a:off x="4480560" y="3543300"/>
            <a:ext cx="2048256" cy="384048"/>
          </a:xfrm>
          <a:prstGeom prst="rect">
            <a:avLst/>
          </a:prstGeom>
          <a:noFill/>
          <a:ln/>
        </p:spPr>
        <p:txBody>
          <a:bodyPr wrap="square" lIns="0" tIns="0" rIns="0" bIns="0" rtlCol="0" anchor="t"/>
          <a:lstStyle/>
          <a:p>
            <a:pPr algn="ctr" indent="0" marL="0">
              <a:buNone/>
            </a:pPr>
            <a:r>
              <a:rPr lang="en-US" sz="750" i="1" dirty="0">
                <a:solidFill>
                  <a:srgbClr val="C9C1FF"/>
                </a:solidFill>
                <a:latin typeface="Calibri" pitchFamily="34" charset="0"/>
                <a:ea typeface="Calibri" pitchFamily="34" charset="-122"/>
                <a:cs typeface="Calibri" pitchFamily="34" charset="-120"/>
              </a:rPr>
              <a:t>Globe with connection arcs and orbiting satellite (sample visual, recoloured)</a:t>
            </a:r>
            <a:endParaRPr lang="en-US" sz="750" dirty="0"/>
          </a:p>
        </p:txBody>
      </p:sp>
      <p:sp>
        <p:nvSpPr>
          <p:cNvPr id="37" name="Shape 30"/>
          <p:cNvSpPr/>
          <p:nvPr/>
        </p:nvSpPr>
        <p:spPr>
          <a:xfrm>
            <a:off x="4315968" y="2011680"/>
            <a:ext cx="943661" cy="365760"/>
          </a:xfrm>
          <a:prstGeom prst="roundRect">
            <a:avLst>
              <a:gd name="adj" fmla="val 30000"/>
            </a:avLst>
          </a:prstGeom>
          <a:solidFill>
            <a:srgbClr val="FFFFFF"/>
          </a:solidFill>
          <a:ln/>
          <a:effectLst>
            <a:outerShdw sx="100000" sy="100000" kx="0" ky="0" algn="bl" rotWithShape="0" blurRad="101600" dist="25400" dir="5400000">
              <a:srgbClr val="28207A">
                <a:alpha val="12000"/>
              </a:srgbClr>
            </a:outerShdw>
          </a:effectLst>
        </p:spPr>
      </p:sp>
      <p:sp>
        <p:nvSpPr>
          <p:cNvPr id="38" name="Text 31"/>
          <p:cNvSpPr txBox="1"/>
          <p:nvPr/>
        </p:nvSpPr>
        <p:spPr>
          <a:xfrm>
            <a:off x="4315968" y="2011680"/>
            <a:ext cx="943661" cy="365760"/>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Reliability</a:t>
            </a:r>
            <a:endParaRPr lang="en-US" sz="850" dirty="0"/>
          </a:p>
        </p:txBody>
      </p:sp>
      <p:sp>
        <p:nvSpPr>
          <p:cNvPr id="39" name="Shape 32"/>
          <p:cNvSpPr/>
          <p:nvPr/>
        </p:nvSpPr>
        <p:spPr>
          <a:xfrm>
            <a:off x="4751222" y="4480560"/>
            <a:ext cx="2134210" cy="365760"/>
          </a:xfrm>
          <a:prstGeom prst="roundRect">
            <a:avLst>
              <a:gd name="adj" fmla="val 30000"/>
            </a:avLst>
          </a:prstGeom>
          <a:solidFill>
            <a:srgbClr val="7B6CF6"/>
          </a:solidFill>
          <a:ln/>
          <a:effectLst>
            <a:outerShdw sx="100000" sy="100000" kx="0" ky="0" algn="bl" rotWithShape="0" blurRad="101600" dist="25400" dir="5400000">
              <a:srgbClr val="28207A">
                <a:alpha val="12000"/>
              </a:srgbClr>
            </a:outerShdw>
          </a:effectLst>
        </p:spPr>
      </p:sp>
      <p:sp>
        <p:nvSpPr>
          <p:cNvPr id="40" name="Text 33"/>
          <p:cNvSpPr txBox="1"/>
          <p:nvPr/>
        </p:nvSpPr>
        <p:spPr>
          <a:xfrm>
            <a:off x="4751222" y="4480560"/>
            <a:ext cx="213421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Competitive commercial offerings</a:t>
            </a:r>
            <a:endParaRPr lang="en-US" sz="850" dirty="0"/>
          </a:p>
        </p:txBody>
      </p:sp>
      <p:sp>
        <p:nvSpPr>
          <p:cNvPr id="41" name="Shape 34"/>
          <p:cNvSpPr/>
          <p:nvPr/>
        </p:nvSpPr>
        <p:spPr>
          <a:xfrm>
            <a:off x="4453128" y="5166360"/>
            <a:ext cx="1000354" cy="365760"/>
          </a:xfrm>
          <a:prstGeom prst="roundRect">
            <a:avLst>
              <a:gd name="adj" fmla="val 30000"/>
            </a:avLst>
          </a:prstGeom>
          <a:solidFill>
            <a:srgbClr val="FFFFFF"/>
          </a:solidFill>
          <a:ln/>
          <a:effectLst>
            <a:outerShdw sx="100000" sy="100000" kx="0" ky="0" algn="bl" rotWithShape="0" blurRad="101600" dist="25400" dir="5400000">
              <a:srgbClr val="28207A">
                <a:alpha val="12000"/>
              </a:srgbClr>
            </a:outerShdw>
          </a:effectLst>
        </p:spPr>
      </p:sp>
      <p:sp>
        <p:nvSpPr>
          <p:cNvPr id="42" name="Text 35"/>
          <p:cNvSpPr txBox="1"/>
          <p:nvPr/>
        </p:nvSpPr>
        <p:spPr>
          <a:xfrm>
            <a:off x="4453128" y="5166360"/>
            <a:ext cx="1000354" cy="365760"/>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Mutual trust</a:t>
            </a:r>
            <a:endParaRPr lang="en-US" sz="850" dirty="0"/>
          </a:p>
        </p:txBody>
      </p:sp>
      <p:sp>
        <p:nvSpPr>
          <p:cNvPr id="43" name="Text 36"/>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44" name="Shape 37"/>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45" name="Image 5" descr="preencoded.png">    </p:cNvPr>
          <p:cNvPicPr>
            <a:picLocks noChangeAspect="1"/>
          </p:cNvPicPr>
          <p:nvPr/>
        </p:nvPicPr>
        <p:blipFill>
          <a:blip r:embed="rId6"/>
          <a:stretch>
            <a:fillRect/>
          </a:stretch>
        </p:blipFill>
        <p:spPr>
          <a:xfrm>
            <a:off x="8535440" y="1591056"/>
            <a:ext cx="1948641" cy="822960"/>
          </a:xfrm>
          <a:prstGeom prst="rect">
            <a:avLst/>
          </a:prstGeom>
        </p:spPr>
      </p:pic>
      <p:sp>
        <p:nvSpPr>
          <p:cNvPr id="46" name="Shape 38"/>
          <p:cNvSpPr/>
          <p:nvPr/>
        </p:nvSpPr>
        <p:spPr>
          <a:xfrm>
            <a:off x="7360920" y="2587752"/>
            <a:ext cx="274320" cy="274320"/>
          </a:xfrm>
          <a:prstGeom prst="ellipse">
            <a:avLst/>
          </a:prstGeom>
          <a:solidFill>
            <a:srgbClr val="ECEBFF"/>
          </a:solidFill>
          <a:ln/>
        </p:spPr>
      </p:sp>
      <p:pic>
        <p:nvPicPr>
          <p:cNvPr id="47" name="Image 6" descr="preencoded.png">    </p:cNvPr>
          <p:cNvPicPr>
            <a:picLocks noChangeAspect="1"/>
          </p:cNvPicPr>
          <p:nvPr/>
        </p:nvPicPr>
        <p:blipFill>
          <a:blip r:embed="rId7"/>
          <a:stretch>
            <a:fillRect/>
          </a:stretch>
        </p:blipFill>
        <p:spPr>
          <a:xfrm>
            <a:off x="7429500" y="2656332"/>
            <a:ext cx="137160" cy="137160"/>
          </a:xfrm>
          <a:prstGeom prst="rect">
            <a:avLst/>
          </a:prstGeom>
        </p:spPr>
      </p:pic>
      <p:sp>
        <p:nvSpPr>
          <p:cNvPr id="48" name="Text 39"/>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9" name="Text 40"/>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2 columns: text left, dark globe card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 list in 2 columns; two buttons below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text first, visual below</a:t>
            </a:r>
            <a:endParaRPr lang="en-US" sz="1100" dirty="0"/>
          </a:p>
        </p:txBody>
      </p:sp>
      <p:sp>
        <p:nvSpPr>
          <p:cNvPr id="50" name="Shape 41"/>
          <p:cNvSpPr/>
          <p:nvPr/>
        </p:nvSpPr>
        <p:spPr>
          <a:xfrm>
            <a:off x="7360920" y="3534156"/>
            <a:ext cx="274320" cy="274320"/>
          </a:xfrm>
          <a:prstGeom prst="ellipse">
            <a:avLst/>
          </a:prstGeom>
          <a:solidFill>
            <a:srgbClr val="ECEBFF"/>
          </a:solidFill>
          <a:ln/>
        </p:spPr>
      </p:sp>
      <p:pic>
        <p:nvPicPr>
          <p:cNvPr id="51" name="Image 7" descr="preencoded.png">    </p:cNvPr>
          <p:cNvPicPr>
            <a:picLocks noChangeAspect="1"/>
          </p:cNvPicPr>
          <p:nvPr/>
        </p:nvPicPr>
        <p:blipFill>
          <a:blip r:embed="rId8"/>
          <a:stretch>
            <a:fillRect/>
          </a:stretch>
        </p:blipFill>
        <p:spPr>
          <a:xfrm>
            <a:off x="7429500" y="3602736"/>
            <a:ext cx="137160" cy="137160"/>
          </a:xfrm>
          <a:prstGeom prst="rect">
            <a:avLst/>
          </a:prstGeom>
        </p:spPr>
      </p:pic>
      <p:sp>
        <p:nvSpPr>
          <p:cNvPr id="52" name="Text 42"/>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3" name="Text 43"/>
          <p:cNvSpPr txBox="1"/>
          <p:nvPr/>
        </p:nvSpPr>
        <p:spPr>
          <a:xfrm>
            <a:off x="7726680" y="3826764"/>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 paragraph: document item 1, first paragraph</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Ticks: the four services named in that paragraph</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Chips: values named in paragraph 2 (reliability, competitive commercial offerings, mutual trust)</a:t>
            </a:r>
            <a:endParaRPr lang="en-US" sz="1100" dirty="0"/>
          </a:p>
        </p:txBody>
      </p:sp>
      <p:sp>
        <p:nvSpPr>
          <p:cNvPr id="54" name="Shape 44"/>
          <p:cNvSpPr/>
          <p:nvPr/>
        </p:nvSpPr>
        <p:spPr>
          <a:xfrm>
            <a:off x="7360920" y="4649724"/>
            <a:ext cx="274320" cy="274320"/>
          </a:xfrm>
          <a:prstGeom prst="ellipse">
            <a:avLst/>
          </a:prstGeom>
          <a:solidFill>
            <a:srgbClr val="ECEBFF"/>
          </a:solidFill>
          <a:ln/>
        </p:spPr>
      </p:sp>
      <p:pic>
        <p:nvPicPr>
          <p:cNvPr id="55" name="Image 8" descr="preencoded.png">    </p:cNvPr>
          <p:cNvPicPr>
            <a:picLocks noChangeAspect="1"/>
          </p:cNvPicPr>
          <p:nvPr/>
        </p:nvPicPr>
        <p:blipFill>
          <a:blip r:embed="rId9"/>
          <a:stretch>
            <a:fillRect/>
          </a:stretch>
        </p:blipFill>
        <p:spPr>
          <a:xfrm>
            <a:off x="7429500" y="4718304"/>
            <a:ext cx="137160" cy="137160"/>
          </a:xfrm>
          <a:prstGeom prst="rect">
            <a:avLst/>
          </a:prstGeom>
        </p:spPr>
      </p:pic>
      <p:sp>
        <p:nvSpPr>
          <p:cNvPr id="56" name="Text 45"/>
          <p:cNvSpPr txBox="1"/>
          <p:nvPr/>
        </p:nvSpPr>
        <p:spPr>
          <a:xfrm>
            <a:off x="7726680" y="466801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7" name="Text 46"/>
          <p:cNvSpPr txBox="1"/>
          <p:nvPr/>
        </p:nvSpPr>
        <p:spPr>
          <a:xfrm>
            <a:off x="7726680" y="4942332"/>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globe &amp; satellite SVG kept, arcs recoloured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Floating chips carry words, not invented numbers</a:t>
            </a:r>
            <a:endParaRPr lang="en-US" sz="1100" dirty="0"/>
          </a:p>
        </p:txBody>
      </p:sp>
      <p:sp>
        <p:nvSpPr>
          <p:cNvPr id="58" name="Shape 47"/>
          <p:cNvSpPr/>
          <p:nvPr/>
        </p:nvSpPr>
        <p:spPr>
          <a:xfrm>
            <a:off x="7360920" y="5426964"/>
            <a:ext cx="274320" cy="274320"/>
          </a:xfrm>
          <a:prstGeom prst="ellipse">
            <a:avLst/>
          </a:prstGeom>
          <a:solidFill>
            <a:srgbClr val="ECEBFF"/>
          </a:solidFill>
          <a:ln/>
        </p:spPr>
      </p:sp>
      <p:pic>
        <p:nvPicPr>
          <p:cNvPr id="59" name="Image 9" descr="preencoded.png">    </p:cNvPr>
          <p:cNvPicPr>
            <a:picLocks noChangeAspect="1"/>
          </p:cNvPicPr>
          <p:nvPr/>
        </p:nvPicPr>
        <p:blipFill>
          <a:blip r:embed="rId10"/>
          <a:stretch>
            <a:fillRect/>
          </a:stretch>
        </p:blipFill>
        <p:spPr>
          <a:xfrm>
            <a:off x="7429500" y="5495544"/>
            <a:ext cx="137160" cy="137160"/>
          </a:xfrm>
          <a:prstGeom prst="rect">
            <a:avLst/>
          </a:prstGeom>
        </p:spPr>
      </p:pic>
      <p:sp>
        <p:nvSpPr>
          <p:cNvPr id="60" name="Text 48"/>
          <p:cNvSpPr txBox="1"/>
          <p:nvPr/>
        </p:nvSpPr>
        <p:spPr>
          <a:xfrm>
            <a:off x="7726680" y="544525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1" name="Text 49"/>
          <p:cNvSpPr txBox="1"/>
          <p:nvPr/>
        </p:nvSpPr>
        <p:spPr>
          <a:xfrm>
            <a:off x="7726680" y="5719572"/>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Learn More About Us ✱ → About Us; Our Services → Services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Founders and timeline move to the About page</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Our Services (bento grid)</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HOME · SECTION 4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p:cNvSpPr/>
          <p:nvPr/>
        </p:nvSpPr>
        <p:spPr>
          <a:xfrm>
            <a:off x="3462833" y="1737360"/>
            <a:ext cx="709574" cy="201168"/>
          </a:xfrm>
          <a:prstGeom prst="roundRect">
            <a:avLst>
              <a:gd name="adj" fmla="val 50000"/>
            </a:avLst>
          </a:prstGeom>
          <a:solidFill>
            <a:srgbClr val="ECEBFF"/>
          </a:solidFill>
          <a:ln/>
        </p:spPr>
      </p:sp>
      <p:sp>
        <p:nvSpPr>
          <p:cNvPr id="13" name="Text 11"/>
          <p:cNvSpPr txBox="1"/>
          <p:nvPr/>
        </p:nvSpPr>
        <p:spPr>
          <a:xfrm>
            <a:off x="3462833" y="1737360"/>
            <a:ext cx="709574"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SERVICES</a:t>
            </a:r>
            <a:endParaRPr lang="en-US" sz="700" dirty="0"/>
          </a:p>
        </p:txBody>
      </p:sp>
      <p:sp>
        <p:nvSpPr>
          <p:cNvPr id="14" name="Text 12"/>
          <p:cNvSpPr txBox="1"/>
          <p:nvPr/>
        </p:nvSpPr>
        <p:spPr>
          <a:xfrm>
            <a:off x="749808" y="2011680"/>
            <a:ext cx="6135624" cy="365760"/>
          </a:xfrm>
          <a:prstGeom prst="rect">
            <a:avLst/>
          </a:prstGeom>
          <a:noFill/>
          <a:ln/>
        </p:spPr>
        <p:txBody>
          <a:bodyPr wrap="square" lIns="0" tIns="0" rIns="0" bIns="0" rtlCol="0" anchor="t"/>
          <a:lstStyle/>
          <a:p>
            <a:pPr algn="ctr" indent="0" marL="0">
              <a:buNone/>
            </a:pPr>
            <a:r>
              <a:rPr lang="en-US" sz="1700" b="1" dirty="0">
                <a:solidFill>
                  <a:srgbClr val="16161F"/>
                </a:solidFill>
                <a:latin typeface="Calibri" pitchFamily="34" charset="0"/>
                <a:ea typeface="Calibri" pitchFamily="34" charset="-122"/>
                <a:cs typeface="Calibri" pitchFamily="34" charset="-120"/>
              </a:rPr>
              <a:t>Our Services</a:t>
            </a:r>
            <a:endParaRPr lang="en-US" sz="1700" dirty="0"/>
          </a:p>
        </p:txBody>
      </p:sp>
      <p:sp>
        <p:nvSpPr>
          <p:cNvPr id="15" name="Shape 13"/>
          <p:cNvSpPr/>
          <p:nvPr/>
        </p:nvSpPr>
        <p:spPr>
          <a:xfrm>
            <a:off x="749808" y="2514600"/>
            <a:ext cx="1451610" cy="3310128"/>
          </a:xfrm>
          <a:prstGeom prst="roundRect">
            <a:avLst>
              <a:gd name="adj" fmla="val 8819"/>
            </a:avLst>
          </a:prstGeom>
          <a:solidFill>
            <a:srgbClr val="1B1B28"/>
          </a:solidFill>
          <a:ln/>
        </p:spPr>
      </p:sp>
      <p:sp>
        <p:nvSpPr>
          <p:cNvPr id="16" name="Text 14"/>
          <p:cNvSpPr txBox="1"/>
          <p:nvPr/>
        </p:nvSpPr>
        <p:spPr>
          <a:xfrm>
            <a:off x="877824" y="2642616"/>
            <a:ext cx="948690" cy="384048"/>
          </a:xfrm>
          <a:prstGeom prst="rect">
            <a:avLst/>
          </a:prstGeom>
          <a:noFill/>
          <a:ln/>
        </p:spPr>
        <p:txBody>
          <a:bodyPr wrap="square" lIns="0" tIns="0" rIns="0" bIns="0" rtlCol="0" anchor="t"/>
          <a:lstStyle/>
          <a:p>
            <a:pPr indent="0" marL="0">
              <a:buNone/>
            </a:pPr>
            <a:r>
              <a:rPr lang="en-US" sz="850" b="1" dirty="0">
                <a:solidFill>
                  <a:srgbClr val="FFFFFF"/>
                </a:solidFill>
                <a:latin typeface="Calibri" pitchFamily="34" charset="0"/>
                <a:ea typeface="Calibri" pitchFamily="34" charset="-122"/>
                <a:cs typeface="Calibri" pitchFamily="34" charset="-120"/>
              </a:rPr>
              <a:t>VoIP &amp; International Voice Termination</a:t>
            </a:r>
            <a:endParaRPr lang="en-US" sz="850" dirty="0"/>
          </a:p>
        </p:txBody>
      </p:sp>
      <p:sp>
        <p:nvSpPr>
          <p:cNvPr id="17" name="Shape 15"/>
          <p:cNvSpPr/>
          <p:nvPr/>
        </p:nvSpPr>
        <p:spPr>
          <a:xfrm>
            <a:off x="1872234" y="2624328"/>
            <a:ext cx="219456" cy="219456"/>
          </a:xfrm>
          <a:prstGeom prst="ellipse">
            <a:avLst/>
          </a:prstGeom>
          <a:solidFill>
            <a:srgbClr val="7B6CF6"/>
          </a:solidFill>
          <a:ln/>
        </p:spPr>
      </p:sp>
      <p:sp>
        <p:nvSpPr>
          <p:cNvPr id="18" name="Text 16"/>
          <p:cNvSpPr txBox="1"/>
          <p:nvPr/>
        </p:nvSpPr>
        <p:spPr>
          <a:xfrm>
            <a:off x="1872234" y="26243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txBox="1"/>
          <p:nvPr/>
        </p:nvSpPr>
        <p:spPr>
          <a:xfrm>
            <a:off x="877824" y="3063240"/>
            <a:ext cx="1195578" cy="822960"/>
          </a:xfrm>
          <a:prstGeom prst="rect">
            <a:avLst/>
          </a:prstGeom>
          <a:noFill/>
          <a:ln/>
        </p:spPr>
        <p:txBody>
          <a:bodyPr wrap="square" lIns="0" tIns="0" rIns="0" bIns="0" rtlCol="0" anchor="t"/>
          <a:lstStyle/>
          <a:p>
            <a:pPr indent="0" marL="0">
              <a:buNone/>
            </a:pPr>
            <a:r>
              <a:rPr lang="en-US" sz="720" dirty="0">
                <a:solidFill>
                  <a:srgbClr val="A9A9C0"/>
                </a:solidFill>
                <a:latin typeface="Calibri" pitchFamily="34" charset="0"/>
                <a:ea typeface="Calibri" pitchFamily="34" charset="-122"/>
                <a:cs typeface="Calibri" pitchFamily="34" charset="-120"/>
              </a:rPr>
              <a:t>Voice connectivity and A–Z termination solutions for international telecom operators, carriers, and service providers.</a:t>
            </a:r>
            <a:endParaRPr lang="en-US" sz="720" dirty="0"/>
          </a:p>
        </p:txBody>
      </p:sp>
      <p:sp>
        <p:nvSpPr>
          <p:cNvPr id="20" name="Shape 18"/>
          <p:cNvSpPr/>
          <p:nvPr/>
        </p:nvSpPr>
        <p:spPr>
          <a:xfrm>
            <a:off x="859536" y="4069080"/>
            <a:ext cx="1232154" cy="1463040"/>
          </a:xfrm>
          <a:prstGeom prst="roundRect">
            <a:avLst>
              <a:gd name="adj" fmla="val 7421"/>
            </a:avLst>
          </a:prstGeom>
          <a:solidFill>
            <a:srgbClr val="ECEBFF"/>
          </a:solidFill>
          <a:ln w="9525">
            <a:solidFill>
              <a:srgbClr val="B3A8FF"/>
            </a:solidFill>
            <a:prstDash val="dash"/>
          </a:ln>
        </p:spPr>
      </p:sp>
      <p:pic>
        <p:nvPicPr>
          <p:cNvPr id="21" name="Image 0" descr="preencoded.png">    </p:cNvPr>
          <p:cNvPicPr>
            <a:picLocks noChangeAspect="1"/>
          </p:cNvPicPr>
          <p:nvPr/>
        </p:nvPicPr>
        <p:blipFill>
          <a:blip r:embed="rId1"/>
          <a:stretch>
            <a:fillRect/>
          </a:stretch>
        </p:blipFill>
        <p:spPr>
          <a:xfrm>
            <a:off x="1283589" y="4489704"/>
            <a:ext cx="384048" cy="384048"/>
          </a:xfrm>
          <a:prstGeom prst="rect">
            <a:avLst/>
          </a:prstGeom>
        </p:spPr>
      </p:pic>
      <p:sp>
        <p:nvSpPr>
          <p:cNvPr id="22" name="Text 19"/>
          <p:cNvSpPr txBox="1"/>
          <p:nvPr/>
        </p:nvSpPr>
        <p:spPr>
          <a:xfrm>
            <a:off x="932688" y="4937760"/>
            <a:ext cx="1085850" cy="384048"/>
          </a:xfrm>
          <a:prstGeom prst="rect">
            <a:avLst/>
          </a:prstGeom>
          <a:noFill/>
          <a:ln/>
        </p:spPr>
        <p:txBody>
          <a:bodyPr wrap="square" lIns="0" tIns="0" rIns="0" bIns="0" rtlCol="0" anchor="t"/>
          <a:lstStyle/>
          <a:p>
            <a:pPr algn="ctr" indent="0" marL="0">
              <a:buNone/>
            </a:pPr>
            <a:r>
              <a:rPr lang="en-US" sz="750" i="1" dirty="0">
                <a:solidFill>
                  <a:srgbClr val="5F6075"/>
                </a:solidFill>
                <a:latin typeface="Calibri" pitchFamily="34" charset="0"/>
                <a:ea typeface="Calibri" pitchFamily="34" charset="-122"/>
                <a:cs typeface="Calibri" pitchFamily="34" charset="-120"/>
              </a:rPr>
              <a:t>Floating card: voice route illustration</a:t>
            </a:r>
            <a:endParaRPr lang="en-US" sz="750" dirty="0"/>
          </a:p>
        </p:txBody>
      </p:sp>
      <p:sp>
        <p:nvSpPr>
          <p:cNvPr id="23" name="Shape 20"/>
          <p:cNvSpPr/>
          <p:nvPr/>
        </p:nvSpPr>
        <p:spPr>
          <a:xfrm>
            <a:off x="2311146" y="2514600"/>
            <a:ext cx="1451610" cy="1600200"/>
          </a:xfrm>
          <a:prstGeom prst="roundRect">
            <a:avLst>
              <a:gd name="adj" fmla="val 8819"/>
            </a:avLst>
          </a:prstGeom>
          <a:solidFill>
            <a:srgbClr val="FFFFFF"/>
          </a:solidFill>
          <a:ln w="9525">
            <a:solidFill>
              <a:srgbClr val="E4E3EF"/>
            </a:solidFill>
            <a:prstDash val="solid"/>
          </a:ln>
        </p:spPr>
      </p:sp>
      <p:sp>
        <p:nvSpPr>
          <p:cNvPr id="24" name="Text 21"/>
          <p:cNvSpPr txBox="1"/>
          <p:nvPr/>
        </p:nvSpPr>
        <p:spPr>
          <a:xfrm>
            <a:off x="2439162" y="2642616"/>
            <a:ext cx="948690" cy="384048"/>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SMS Routing &amp; Connectivity</a:t>
            </a:r>
            <a:endParaRPr lang="en-US" sz="850" dirty="0"/>
          </a:p>
        </p:txBody>
      </p:sp>
      <p:sp>
        <p:nvSpPr>
          <p:cNvPr id="25" name="Shape 22"/>
          <p:cNvSpPr/>
          <p:nvPr/>
        </p:nvSpPr>
        <p:spPr>
          <a:xfrm>
            <a:off x="3433572" y="2624328"/>
            <a:ext cx="219456" cy="219456"/>
          </a:xfrm>
          <a:prstGeom prst="ellipse">
            <a:avLst/>
          </a:prstGeom>
          <a:solidFill>
            <a:srgbClr val="7B6CF6"/>
          </a:solidFill>
          <a:ln/>
        </p:spPr>
      </p:sp>
      <p:sp>
        <p:nvSpPr>
          <p:cNvPr id="26" name="Text 23"/>
          <p:cNvSpPr txBox="1"/>
          <p:nvPr/>
        </p:nvSpPr>
        <p:spPr>
          <a:xfrm>
            <a:off x="3433572" y="26243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4"/>
          <p:cNvSpPr txBox="1"/>
          <p:nvPr/>
        </p:nvSpPr>
        <p:spPr>
          <a:xfrm>
            <a:off x="2439162" y="3063240"/>
            <a:ext cx="1195578" cy="822960"/>
          </a:xfrm>
          <a:prstGeom prst="rect">
            <a:avLst/>
          </a:prstGeom>
          <a:noFill/>
          <a:ln/>
        </p:spPr>
        <p:txBody>
          <a:bodyPr wrap="square" lIns="0" tIns="0" rIns="0" bIns="0" rtlCol="0" anchor="t"/>
          <a:lstStyle/>
          <a:p>
            <a:pPr indent="0" marL="0">
              <a:buNone/>
            </a:pPr>
            <a:r>
              <a:rPr lang="en-US" sz="720" dirty="0">
                <a:solidFill>
                  <a:srgbClr val="5F6075"/>
                </a:solidFill>
                <a:latin typeface="Calibri" pitchFamily="34" charset="0"/>
                <a:ea typeface="Calibri" pitchFamily="34" charset="-122"/>
                <a:cs typeface="Calibri" pitchFamily="34" charset="-120"/>
              </a:rPr>
              <a:t>SMS routing and traffic solutions designed to support messaging requirements across available international destinations.</a:t>
            </a:r>
            <a:endParaRPr lang="en-US" sz="720" dirty="0"/>
          </a:p>
        </p:txBody>
      </p:sp>
      <p:pic>
        <p:nvPicPr>
          <p:cNvPr id="28" name="Image 1" descr="preencoded.png">    </p:cNvPr>
          <p:cNvPicPr>
            <a:picLocks noChangeAspect="1"/>
          </p:cNvPicPr>
          <p:nvPr/>
        </p:nvPicPr>
        <p:blipFill>
          <a:blip r:embed="rId2"/>
          <a:stretch>
            <a:fillRect/>
          </a:stretch>
        </p:blipFill>
        <p:spPr>
          <a:xfrm>
            <a:off x="2439162" y="3602736"/>
            <a:ext cx="384048" cy="384048"/>
          </a:xfrm>
          <a:prstGeom prst="rect">
            <a:avLst/>
          </a:prstGeom>
        </p:spPr>
      </p:pic>
      <p:sp>
        <p:nvSpPr>
          <p:cNvPr id="29" name="Shape 25"/>
          <p:cNvSpPr/>
          <p:nvPr/>
        </p:nvSpPr>
        <p:spPr>
          <a:xfrm>
            <a:off x="3872484" y="2514600"/>
            <a:ext cx="1451610" cy="1600200"/>
          </a:xfrm>
          <a:prstGeom prst="roundRect">
            <a:avLst>
              <a:gd name="adj" fmla="val 8819"/>
            </a:avLst>
          </a:prstGeom>
          <a:solidFill>
            <a:srgbClr val="FFFFFF"/>
          </a:solidFill>
          <a:ln w="9525">
            <a:solidFill>
              <a:srgbClr val="E4E3EF"/>
            </a:solidFill>
            <a:prstDash val="solid"/>
          </a:ln>
        </p:spPr>
      </p:sp>
      <p:sp>
        <p:nvSpPr>
          <p:cNvPr id="30" name="Text 26"/>
          <p:cNvSpPr txBox="1"/>
          <p:nvPr/>
        </p:nvSpPr>
        <p:spPr>
          <a:xfrm>
            <a:off x="4000500" y="2642616"/>
            <a:ext cx="948690" cy="384048"/>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Direct Route Solutions</a:t>
            </a:r>
            <a:endParaRPr lang="en-US" sz="850" dirty="0"/>
          </a:p>
        </p:txBody>
      </p:sp>
      <p:sp>
        <p:nvSpPr>
          <p:cNvPr id="31" name="Shape 27"/>
          <p:cNvSpPr/>
          <p:nvPr/>
        </p:nvSpPr>
        <p:spPr>
          <a:xfrm>
            <a:off x="4994910" y="2624328"/>
            <a:ext cx="219456" cy="219456"/>
          </a:xfrm>
          <a:prstGeom prst="ellipse">
            <a:avLst/>
          </a:prstGeom>
          <a:solidFill>
            <a:srgbClr val="7B6CF6"/>
          </a:solidFill>
          <a:ln/>
        </p:spPr>
      </p:sp>
      <p:sp>
        <p:nvSpPr>
          <p:cNvPr id="32" name="Text 28"/>
          <p:cNvSpPr txBox="1"/>
          <p:nvPr/>
        </p:nvSpPr>
        <p:spPr>
          <a:xfrm>
            <a:off x="4994910" y="26243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3" name="Text 29"/>
          <p:cNvSpPr txBox="1"/>
          <p:nvPr/>
        </p:nvSpPr>
        <p:spPr>
          <a:xfrm>
            <a:off x="4000500" y="3063240"/>
            <a:ext cx="1195578" cy="822960"/>
          </a:xfrm>
          <a:prstGeom prst="rect">
            <a:avLst/>
          </a:prstGeom>
          <a:noFill/>
          <a:ln/>
        </p:spPr>
        <p:txBody>
          <a:bodyPr wrap="square" lIns="0" tIns="0" rIns="0" bIns="0" rtlCol="0" anchor="t"/>
          <a:lstStyle/>
          <a:p>
            <a:pPr indent="0" marL="0">
              <a:buNone/>
            </a:pPr>
            <a:r>
              <a:rPr lang="en-US" sz="720" dirty="0">
                <a:solidFill>
                  <a:srgbClr val="5F6075"/>
                </a:solidFill>
                <a:latin typeface="Calibri" pitchFamily="34" charset="0"/>
                <a:ea typeface="Calibri" pitchFamily="34" charset="-122"/>
                <a:cs typeface="Calibri" pitchFamily="34" charset="-120"/>
              </a:rPr>
              <a:t>Access to available direct fixed and mobile routes to support routing efficiency and connectivity requirements.</a:t>
            </a:r>
            <a:endParaRPr lang="en-US" sz="720" dirty="0"/>
          </a:p>
        </p:txBody>
      </p:sp>
      <p:pic>
        <p:nvPicPr>
          <p:cNvPr id="34" name="Image 2" descr="preencoded.png">    </p:cNvPr>
          <p:cNvPicPr>
            <a:picLocks noChangeAspect="1"/>
          </p:cNvPicPr>
          <p:nvPr/>
        </p:nvPicPr>
        <p:blipFill>
          <a:blip r:embed="rId3"/>
          <a:stretch>
            <a:fillRect/>
          </a:stretch>
        </p:blipFill>
        <p:spPr>
          <a:xfrm>
            <a:off x="4000500" y="3602736"/>
            <a:ext cx="384048" cy="384048"/>
          </a:xfrm>
          <a:prstGeom prst="rect">
            <a:avLst/>
          </a:prstGeom>
        </p:spPr>
      </p:pic>
      <p:sp>
        <p:nvSpPr>
          <p:cNvPr id="35" name="Shape 30"/>
          <p:cNvSpPr/>
          <p:nvPr/>
        </p:nvSpPr>
        <p:spPr>
          <a:xfrm>
            <a:off x="5433822" y="2514600"/>
            <a:ext cx="1451610" cy="1600200"/>
          </a:xfrm>
          <a:prstGeom prst="roundRect">
            <a:avLst>
              <a:gd name="adj" fmla="val 8819"/>
            </a:avLst>
          </a:prstGeom>
          <a:solidFill>
            <a:srgbClr val="1B1B28"/>
          </a:solidFill>
          <a:ln/>
        </p:spPr>
      </p:sp>
      <p:sp>
        <p:nvSpPr>
          <p:cNvPr id="36" name="Text 31"/>
          <p:cNvSpPr txBox="1"/>
          <p:nvPr/>
        </p:nvSpPr>
        <p:spPr>
          <a:xfrm>
            <a:off x="5561838" y="2642616"/>
            <a:ext cx="948690" cy="384048"/>
          </a:xfrm>
          <a:prstGeom prst="rect">
            <a:avLst/>
          </a:prstGeom>
          <a:noFill/>
          <a:ln/>
        </p:spPr>
        <p:txBody>
          <a:bodyPr wrap="square" lIns="0" tIns="0" rIns="0" bIns="0" rtlCol="0" anchor="t"/>
          <a:lstStyle/>
          <a:p>
            <a:pPr indent="0" marL="0">
              <a:buNone/>
            </a:pPr>
            <a:r>
              <a:rPr lang="en-US" sz="850" b="1" dirty="0">
                <a:solidFill>
                  <a:srgbClr val="FFFFFF"/>
                </a:solidFill>
                <a:latin typeface="Calibri" pitchFamily="34" charset="0"/>
                <a:ea typeface="Calibri" pitchFamily="34" charset="-122"/>
                <a:cs typeface="Calibri" pitchFamily="34" charset="-120"/>
              </a:rPr>
              <a:t>Global Telecom Partnerships</a:t>
            </a:r>
            <a:endParaRPr lang="en-US" sz="850" dirty="0"/>
          </a:p>
        </p:txBody>
      </p:sp>
      <p:sp>
        <p:nvSpPr>
          <p:cNvPr id="37" name="Shape 32"/>
          <p:cNvSpPr/>
          <p:nvPr/>
        </p:nvSpPr>
        <p:spPr>
          <a:xfrm>
            <a:off x="6556248" y="2624328"/>
            <a:ext cx="219456" cy="219456"/>
          </a:xfrm>
          <a:prstGeom prst="ellipse">
            <a:avLst/>
          </a:prstGeom>
          <a:solidFill>
            <a:srgbClr val="7B6CF6"/>
          </a:solidFill>
          <a:ln/>
        </p:spPr>
      </p:sp>
      <p:sp>
        <p:nvSpPr>
          <p:cNvPr id="38" name="Text 33"/>
          <p:cNvSpPr txBox="1"/>
          <p:nvPr/>
        </p:nvSpPr>
        <p:spPr>
          <a:xfrm>
            <a:off x="6556248" y="26243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9" name="Text 34"/>
          <p:cNvSpPr txBox="1"/>
          <p:nvPr/>
        </p:nvSpPr>
        <p:spPr>
          <a:xfrm>
            <a:off x="5561838" y="3063240"/>
            <a:ext cx="1195578" cy="822960"/>
          </a:xfrm>
          <a:prstGeom prst="rect">
            <a:avLst/>
          </a:prstGeom>
          <a:noFill/>
          <a:ln/>
        </p:spPr>
        <p:txBody>
          <a:bodyPr wrap="square" lIns="0" tIns="0" rIns="0" bIns="0" rtlCol="0" anchor="t"/>
          <a:lstStyle/>
          <a:p>
            <a:pPr indent="0" marL="0">
              <a:buNone/>
            </a:pPr>
            <a:r>
              <a:rPr lang="en-US" sz="720" dirty="0">
                <a:solidFill>
                  <a:srgbClr val="A9A9C0"/>
                </a:solidFill>
                <a:latin typeface="Calibri" pitchFamily="34" charset="0"/>
                <a:ea typeface="Calibri" pitchFamily="34" charset="-122"/>
                <a:cs typeface="Calibri" pitchFamily="34" charset="-120"/>
              </a:rPr>
              <a:t>Flexible commercial arrangements and collaboration opportunities for operators and carriers seeking to expand their international reach.</a:t>
            </a:r>
            <a:endParaRPr lang="en-US" sz="720" dirty="0"/>
          </a:p>
        </p:txBody>
      </p:sp>
      <p:pic>
        <p:nvPicPr>
          <p:cNvPr id="40" name="Image 3" descr="preencoded.png">    </p:cNvPr>
          <p:cNvPicPr>
            <a:picLocks noChangeAspect="1"/>
          </p:cNvPicPr>
          <p:nvPr/>
        </p:nvPicPr>
        <p:blipFill>
          <a:blip r:embed="rId4"/>
          <a:stretch>
            <a:fillRect/>
          </a:stretch>
        </p:blipFill>
        <p:spPr>
          <a:xfrm>
            <a:off x="5561838" y="3602736"/>
            <a:ext cx="384048" cy="384048"/>
          </a:xfrm>
          <a:prstGeom prst="rect">
            <a:avLst/>
          </a:prstGeom>
        </p:spPr>
      </p:pic>
      <p:sp>
        <p:nvSpPr>
          <p:cNvPr id="41" name="Shape 35"/>
          <p:cNvSpPr/>
          <p:nvPr/>
        </p:nvSpPr>
        <p:spPr>
          <a:xfrm>
            <a:off x="2311146" y="4224528"/>
            <a:ext cx="3012948" cy="1600200"/>
          </a:xfrm>
          <a:prstGeom prst="roundRect">
            <a:avLst>
              <a:gd name="adj" fmla="val 8000"/>
            </a:avLst>
          </a:prstGeom>
          <a:solidFill>
            <a:srgbClr val="EFEEF8"/>
          </a:solidFill>
          <a:ln w="9525">
            <a:solidFill>
              <a:srgbClr val="E4E3EF"/>
            </a:solidFill>
            <a:prstDash val="solid"/>
          </a:ln>
        </p:spPr>
      </p:sp>
      <p:sp>
        <p:nvSpPr>
          <p:cNvPr id="42" name="Text 36"/>
          <p:cNvSpPr txBox="1"/>
          <p:nvPr/>
        </p:nvSpPr>
        <p:spPr>
          <a:xfrm>
            <a:off x="2439162" y="4352544"/>
            <a:ext cx="2510028" cy="384048"/>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Tailored Connectivity Solutions</a:t>
            </a:r>
            <a:endParaRPr lang="en-US" sz="850" dirty="0"/>
          </a:p>
        </p:txBody>
      </p:sp>
      <p:sp>
        <p:nvSpPr>
          <p:cNvPr id="43" name="Shape 37"/>
          <p:cNvSpPr/>
          <p:nvPr/>
        </p:nvSpPr>
        <p:spPr>
          <a:xfrm>
            <a:off x="4994910" y="4334256"/>
            <a:ext cx="219456" cy="219456"/>
          </a:xfrm>
          <a:prstGeom prst="ellipse">
            <a:avLst/>
          </a:prstGeom>
          <a:solidFill>
            <a:srgbClr val="7B6CF6"/>
          </a:solidFill>
          <a:ln/>
        </p:spPr>
      </p:sp>
      <p:sp>
        <p:nvSpPr>
          <p:cNvPr id="44" name="Text 38"/>
          <p:cNvSpPr txBox="1"/>
          <p:nvPr/>
        </p:nvSpPr>
        <p:spPr>
          <a:xfrm>
            <a:off x="4994910" y="4334256"/>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5" name="Text 39"/>
          <p:cNvSpPr txBox="1"/>
          <p:nvPr/>
        </p:nvSpPr>
        <p:spPr>
          <a:xfrm>
            <a:off x="2439162" y="4773168"/>
            <a:ext cx="1828800" cy="822960"/>
          </a:xfrm>
          <a:prstGeom prst="rect">
            <a:avLst/>
          </a:prstGeom>
          <a:noFill/>
          <a:ln/>
        </p:spPr>
        <p:txBody>
          <a:bodyPr wrap="square" lIns="0" tIns="0" rIns="0" bIns="0" rtlCol="0" anchor="t"/>
          <a:lstStyle/>
          <a:p>
            <a:pPr indent="0" marL="0">
              <a:buNone/>
            </a:pPr>
            <a:r>
              <a:rPr lang="en-US" sz="720" dirty="0">
                <a:solidFill>
                  <a:srgbClr val="5F6075"/>
                </a:solidFill>
                <a:latin typeface="Calibri" pitchFamily="34" charset="0"/>
                <a:ea typeface="Calibri" pitchFamily="34" charset="-122"/>
                <a:cs typeface="Calibri" pitchFamily="34" charset="-120"/>
              </a:rPr>
              <a:t>Business-focused voice and messaging options developed around partner requirements, traffic needs, and commercial objectives.</a:t>
            </a:r>
            <a:endParaRPr lang="en-US" sz="720" dirty="0"/>
          </a:p>
        </p:txBody>
      </p:sp>
      <p:sp>
        <p:nvSpPr>
          <p:cNvPr id="46" name="Shape 40"/>
          <p:cNvSpPr/>
          <p:nvPr/>
        </p:nvSpPr>
        <p:spPr>
          <a:xfrm>
            <a:off x="2439162" y="5458968"/>
            <a:ext cx="1280160" cy="256032"/>
          </a:xfrm>
          <a:prstGeom prst="roundRect">
            <a:avLst>
              <a:gd name="adj" fmla="val 50000"/>
            </a:avLst>
          </a:prstGeom>
          <a:solidFill>
            <a:srgbClr val="16161F"/>
          </a:solidFill>
          <a:ln/>
        </p:spPr>
      </p:sp>
      <p:sp>
        <p:nvSpPr>
          <p:cNvPr id="47" name="Text 41"/>
          <p:cNvSpPr txBox="1"/>
          <p:nvPr/>
        </p:nvSpPr>
        <p:spPr>
          <a:xfrm>
            <a:off x="2439162" y="5458968"/>
            <a:ext cx="12801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Discuss Requirements</a:t>
            </a:r>
            <a:endParaRPr lang="en-US" sz="750" dirty="0"/>
          </a:p>
        </p:txBody>
      </p:sp>
      <p:sp>
        <p:nvSpPr>
          <p:cNvPr id="48" name="Text 42"/>
          <p:cNvSpPr txBox="1"/>
          <p:nvPr/>
        </p:nvSpPr>
        <p:spPr>
          <a:xfrm>
            <a:off x="3701034" y="5413248"/>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9" name="Shape 43"/>
          <p:cNvSpPr/>
          <p:nvPr/>
        </p:nvSpPr>
        <p:spPr>
          <a:xfrm>
            <a:off x="4272534" y="4727448"/>
            <a:ext cx="914400" cy="960120"/>
          </a:xfrm>
          <a:prstGeom prst="roundRect">
            <a:avLst>
              <a:gd name="adj" fmla="val 10000"/>
            </a:avLst>
          </a:prstGeom>
          <a:solidFill>
            <a:srgbClr val="ECEBFF"/>
          </a:solidFill>
          <a:ln w="9525">
            <a:solidFill>
              <a:srgbClr val="B3A8FF"/>
            </a:solidFill>
            <a:prstDash val="dash"/>
          </a:ln>
        </p:spPr>
      </p:sp>
      <p:pic>
        <p:nvPicPr>
          <p:cNvPr id="50" name="Image 4" descr="preencoded.png">    </p:cNvPr>
          <p:cNvPicPr>
            <a:picLocks noChangeAspect="1"/>
          </p:cNvPicPr>
          <p:nvPr/>
        </p:nvPicPr>
        <p:blipFill>
          <a:blip r:embed="rId5"/>
          <a:stretch>
            <a:fillRect/>
          </a:stretch>
        </p:blipFill>
        <p:spPr>
          <a:xfrm>
            <a:off x="4576115" y="5053889"/>
            <a:ext cx="307238" cy="307238"/>
          </a:xfrm>
          <a:prstGeom prst="rect">
            <a:avLst/>
          </a:prstGeom>
        </p:spPr>
      </p:pic>
      <p:sp>
        <p:nvSpPr>
          <p:cNvPr id="51" name="Shape 44"/>
          <p:cNvSpPr/>
          <p:nvPr/>
        </p:nvSpPr>
        <p:spPr>
          <a:xfrm>
            <a:off x="5433822" y="4224528"/>
            <a:ext cx="1451610" cy="1600200"/>
          </a:xfrm>
          <a:prstGeom prst="roundRect">
            <a:avLst>
              <a:gd name="adj" fmla="val 8819"/>
            </a:avLst>
          </a:prstGeom>
          <a:solidFill>
            <a:srgbClr val="1B1B28"/>
          </a:solidFill>
          <a:ln/>
        </p:spPr>
      </p:sp>
      <p:sp>
        <p:nvSpPr>
          <p:cNvPr id="52" name="Text 45"/>
          <p:cNvSpPr txBox="1"/>
          <p:nvPr/>
        </p:nvSpPr>
        <p:spPr>
          <a:xfrm>
            <a:off x="5561838" y="4352544"/>
            <a:ext cx="948690" cy="384048"/>
          </a:xfrm>
          <a:prstGeom prst="rect">
            <a:avLst/>
          </a:prstGeom>
          <a:noFill/>
          <a:ln/>
        </p:spPr>
        <p:txBody>
          <a:bodyPr wrap="square" lIns="0" tIns="0" rIns="0" bIns="0" rtlCol="0" anchor="t"/>
          <a:lstStyle/>
          <a:p>
            <a:pPr indent="0" marL="0">
              <a:buNone/>
            </a:pPr>
            <a:r>
              <a:rPr lang="en-US" sz="850" b="1" dirty="0">
                <a:solidFill>
                  <a:srgbClr val="FFFFFF"/>
                </a:solidFill>
                <a:latin typeface="Calibri" pitchFamily="34" charset="0"/>
                <a:ea typeface="Calibri" pitchFamily="34" charset="-122"/>
                <a:cs typeface="Calibri" pitchFamily="34" charset="-120"/>
              </a:rPr>
              <a:t>Who we work with</a:t>
            </a:r>
            <a:endParaRPr lang="en-US" sz="850" dirty="0"/>
          </a:p>
        </p:txBody>
      </p:sp>
      <p:sp>
        <p:nvSpPr>
          <p:cNvPr id="53" name="Shape 46"/>
          <p:cNvSpPr/>
          <p:nvPr/>
        </p:nvSpPr>
        <p:spPr>
          <a:xfrm>
            <a:off x="6556248" y="4334256"/>
            <a:ext cx="219456" cy="219456"/>
          </a:xfrm>
          <a:prstGeom prst="ellipse">
            <a:avLst/>
          </a:prstGeom>
          <a:solidFill>
            <a:srgbClr val="7B6CF6"/>
          </a:solidFill>
          <a:ln/>
        </p:spPr>
      </p:sp>
      <p:sp>
        <p:nvSpPr>
          <p:cNvPr id="54" name="Text 47"/>
          <p:cNvSpPr txBox="1"/>
          <p:nvPr/>
        </p:nvSpPr>
        <p:spPr>
          <a:xfrm>
            <a:off x="6556248" y="4334256"/>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Text 48"/>
          <p:cNvSpPr txBox="1"/>
          <p:nvPr/>
        </p:nvSpPr>
        <p:spPr>
          <a:xfrm>
            <a:off x="5561838" y="4773168"/>
            <a:ext cx="1195578" cy="822960"/>
          </a:xfrm>
          <a:prstGeom prst="rect">
            <a:avLst/>
          </a:prstGeom>
          <a:noFill/>
          <a:ln/>
        </p:spPr>
        <p:txBody>
          <a:bodyPr wrap="square" lIns="0" tIns="0" rIns="0" bIns="0" rtlCol="0" anchor="t"/>
          <a:lstStyle/>
          <a:p>
            <a:pPr indent="0" marL="0">
              <a:buNone/>
            </a:pPr>
            <a:r>
              <a:rPr lang="en-US" sz="720" dirty="0">
                <a:solidFill>
                  <a:srgbClr val="A9A9C0"/>
                </a:solidFill>
                <a:latin typeface="Calibri" pitchFamily="34" charset="0"/>
                <a:ea typeface="Calibri" pitchFamily="34" charset="-122"/>
                <a:cs typeface="Calibri" pitchFamily="34" charset="-120"/>
              </a:rPr>
              <a:t>Operators · Carriers · Service providers · Business partners</a:t>
            </a:r>
            <a:endParaRPr lang="en-US" sz="720" dirty="0"/>
          </a:p>
        </p:txBody>
      </p:sp>
      <p:pic>
        <p:nvPicPr>
          <p:cNvPr id="56" name="Image 5" descr="preencoded.png">    </p:cNvPr>
          <p:cNvPicPr>
            <a:picLocks noChangeAspect="1"/>
          </p:cNvPicPr>
          <p:nvPr/>
        </p:nvPicPr>
        <p:blipFill>
          <a:blip r:embed="rId6"/>
          <a:stretch>
            <a:fillRect/>
          </a:stretch>
        </p:blipFill>
        <p:spPr>
          <a:xfrm>
            <a:off x="5561838" y="5312664"/>
            <a:ext cx="384048" cy="384048"/>
          </a:xfrm>
          <a:prstGeom prst="rect">
            <a:avLst/>
          </a:prstGeom>
        </p:spPr>
      </p:pic>
      <p:sp>
        <p:nvSpPr>
          <p:cNvPr id="57" name="Text 49"/>
          <p:cNvSpPr txBox="1"/>
          <p:nvPr/>
        </p:nvSpPr>
        <p:spPr>
          <a:xfrm>
            <a:off x="6457950" y="4306824"/>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58" name="Text 50"/>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59" name="Shape 51"/>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60" name="Image 6" descr="preencoded.png">    </p:cNvPr>
          <p:cNvPicPr>
            <a:picLocks noChangeAspect="1"/>
          </p:cNvPicPr>
          <p:nvPr/>
        </p:nvPicPr>
        <p:blipFill>
          <a:blip r:embed="rId7"/>
          <a:stretch>
            <a:fillRect/>
          </a:stretch>
        </p:blipFill>
        <p:spPr>
          <a:xfrm>
            <a:off x="9027301" y="1591056"/>
            <a:ext cx="964918" cy="822960"/>
          </a:xfrm>
          <a:prstGeom prst="rect">
            <a:avLst/>
          </a:prstGeom>
        </p:spPr>
      </p:pic>
      <p:sp>
        <p:nvSpPr>
          <p:cNvPr id="61" name="Shape 52"/>
          <p:cNvSpPr/>
          <p:nvPr/>
        </p:nvSpPr>
        <p:spPr>
          <a:xfrm>
            <a:off x="7360920" y="2587752"/>
            <a:ext cx="274320" cy="274320"/>
          </a:xfrm>
          <a:prstGeom prst="ellipse">
            <a:avLst/>
          </a:prstGeom>
          <a:solidFill>
            <a:srgbClr val="ECEBFF"/>
          </a:solidFill>
          <a:ln/>
        </p:spPr>
      </p:sp>
      <p:pic>
        <p:nvPicPr>
          <p:cNvPr id="62" name="Image 7" descr="preencoded.png">    </p:cNvPr>
          <p:cNvPicPr>
            <a:picLocks noChangeAspect="1"/>
          </p:cNvPicPr>
          <p:nvPr/>
        </p:nvPicPr>
        <p:blipFill>
          <a:blip r:embed="rId8"/>
          <a:stretch>
            <a:fillRect/>
          </a:stretch>
        </p:blipFill>
        <p:spPr>
          <a:xfrm>
            <a:off x="7429500" y="2656332"/>
            <a:ext cx="137160" cy="137160"/>
          </a:xfrm>
          <a:prstGeom prst="rect">
            <a:avLst/>
          </a:prstGeom>
        </p:spPr>
      </p:pic>
      <p:sp>
        <p:nvSpPr>
          <p:cNvPr id="63" name="Text 53"/>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64" name="Text 54"/>
          <p:cNvSpPr txBox="1"/>
          <p:nvPr/>
        </p:nvSpPr>
        <p:spPr>
          <a:xfrm>
            <a:off x="7726680" y="2880360"/>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4-column bento: 1 tall, 4 standard, 1 wide card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Tablet: 2 columns; phone: 1 column</a:t>
            </a:r>
            <a:endParaRPr lang="en-US" sz="1100" dirty="0"/>
          </a:p>
        </p:txBody>
      </p:sp>
      <p:sp>
        <p:nvSpPr>
          <p:cNvPr id="65" name="Shape 55"/>
          <p:cNvSpPr/>
          <p:nvPr/>
        </p:nvSpPr>
        <p:spPr>
          <a:xfrm>
            <a:off x="7360920" y="3364992"/>
            <a:ext cx="274320" cy="274320"/>
          </a:xfrm>
          <a:prstGeom prst="ellipse">
            <a:avLst/>
          </a:prstGeom>
          <a:solidFill>
            <a:srgbClr val="ECEBFF"/>
          </a:solidFill>
          <a:ln/>
        </p:spPr>
      </p:sp>
      <p:pic>
        <p:nvPicPr>
          <p:cNvPr id="66" name="Image 8" descr="preencoded.png">    </p:cNvPr>
          <p:cNvPicPr>
            <a:picLocks noChangeAspect="1"/>
          </p:cNvPicPr>
          <p:nvPr/>
        </p:nvPicPr>
        <p:blipFill>
          <a:blip r:embed="rId9"/>
          <a:stretch>
            <a:fillRect/>
          </a:stretch>
        </p:blipFill>
        <p:spPr>
          <a:xfrm>
            <a:off x="7429500" y="3433572"/>
            <a:ext cx="137160" cy="137160"/>
          </a:xfrm>
          <a:prstGeom prst="rect">
            <a:avLst/>
          </a:prstGeom>
        </p:spPr>
      </p:pic>
      <p:sp>
        <p:nvSpPr>
          <p:cNvPr id="67" name="Text 56"/>
          <p:cNvSpPr txBox="1"/>
          <p:nvPr/>
        </p:nvSpPr>
        <p:spPr>
          <a:xfrm>
            <a:off x="7726680" y="338328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8" name="Text 57"/>
          <p:cNvSpPr txBox="1"/>
          <p:nvPr/>
        </p:nvSpPr>
        <p:spPr>
          <a:xfrm>
            <a:off x="7726680" y="365760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Five titles + descriptions verbatim from document item 4</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6th card ✱ 'Who we work with' uses audiences named in item 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prices (₹499/mo) and figures not used</a:t>
            </a:r>
            <a:endParaRPr lang="en-US" sz="1100" dirty="0"/>
          </a:p>
        </p:txBody>
      </p:sp>
      <p:sp>
        <p:nvSpPr>
          <p:cNvPr id="69" name="Shape 58"/>
          <p:cNvSpPr/>
          <p:nvPr/>
        </p:nvSpPr>
        <p:spPr>
          <a:xfrm>
            <a:off x="7360920" y="4311396"/>
            <a:ext cx="274320" cy="274320"/>
          </a:xfrm>
          <a:prstGeom prst="ellipse">
            <a:avLst/>
          </a:prstGeom>
          <a:solidFill>
            <a:srgbClr val="ECEBFF"/>
          </a:solidFill>
          <a:ln/>
        </p:spPr>
      </p:sp>
      <p:pic>
        <p:nvPicPr>
          <p:cNvPr id="70" name="Image 9" descr="preencoded.png">    </p:cNvPr>
          <p:cNvPicPr>
            <a:picLocks noChangeAspect="1"/>
          </p:cNvPicPr>
          <p:nvPr/>
        </p:nvPicPr>
        <p:blipFill>
          <a:blip r:embed="rId10"/>
          <a:stretch>
            <a:fillRect/>
          </a:stretch>
        </p:blipFill>
        <p:spPr>
          <a:xfrm>
            <a:off x="7429500" y="4379976"/>
            <a:ext cx="137160" cy="137160"/>
          </a:xfrm>
          <a:prstGeom prst="rect">
            <a:avLst/>
          </a:prstGeom>
        </p:spPr>
      </p:pic>
      <p:sp>
        <p:nvSpPr>
          <p:cNvPr id="71" name="Text 59"/>
          <p:cNvSpPr txBox="1"/>
          <p:nvPr/>
        </p:nvSpPr>
        <p:spPr>
          <a:xfrm>
            <a:off x="7726680" y="432968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72" name="Text 60"/>
          <p:cNvSpPr txBox="1"/>
          <p:nvPr/>
        </p:nvSpPr>
        <p:spPr>
          <a:xfrm>
            <a:off x="7726680" y="460400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Line icons per service; dark/light cards alternate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Tall card keeps the tilted floating panel, now a voice-route visual</a:t>
            </a:r>
            <a:endParaRPr lang="en-US" sz="1100" dirty="0"/>
          </a:p>
        </p:txBody>
      </p:sp>
      <p:sp>
        <p:nvSpPr>
          <p:cNvPr id="73" name="Shape 61"/>
          <p:cNvSpPr/>
          <p:nvPr/>
        </p:nvSpPr>
        <p:spPr>
          <a:xfrm>
            <a:off x="7360920" y="5257800"/>
            <a:ext cx="274320" cy="274320"/>
          </a:xfrm>
          <a:prstGeom prst="ellipse">
            <a:avLst/>
          </a:prstGeom>
          <a:solidFill>
            <a:srgbClr val="ECEBFF"/>
          </a:solidFill>
          <a:ln/>
        </p:spPr>
      </p:sp>
      <p:pic>
        <p:nvPicPr>
          <p:cNvPr id="74" name="Image 10" descr="preencoded.png">    </p:cNvPr>
          <p:cNvPicPr>
            <a:picLocks noChangeAspect="1"/>
          </p:cNvPicPr>
          <p:nvPr/>
        </p:nvPicPr>
        <p:blipFill>
          <a:blip r:embed="rId11"/>
          <a:stretch>
            <a:fillRect/>
          </a:stretch>
        </p:blipFill>
        <p:spPr>
          <a:xfrm>
            <a:off x="7429500" y="5326380"/>
            <a:ext cx="137160" cy="137160"/>
          </a:xfrm>
          <a:prstGeom prst="rect">
            <a:avLst/>
          </a:prstGeom>
        </p:spPr>
      </p:pic>
      <p:sp>
        <p:nvSpPr>
          <p:cNvPr id="75" name="Text 62"/>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76" name="Text 63"/>
          <p:cNvSpPr txBox="1"/>
          <p:nvPr/>
        </p:nvSpPr>
        <p:spPr>
          <a:xfrm>
            <a:off x="7726680" y="5550408"/>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VoIP card → VoIP page; SMS card → SMS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Direct Routes → Services page; Partnerships &amp; Tailored → Contact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Whole card clickable; ↗ icon signals link</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04</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About Us page</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Company introduction, story, mission &amp; vision, and the leadership team — all from the client document.</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086600" y="2826173"/>
            <a:ext cx="4389120" cy="1205653"/>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Page header and company introduction</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ABOUT US · SECTION 1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omaginfo.com/about</a:t>
            </a:r>
            <a:endParaRPr lang="en-US" sz="700" dirty="0"/>
          </a:p>
        </p:txBody>
      </p:sp>
      <p:sp>
        <p:nvSpPr>
          <p:cNvPr id="12" name="Shape 10"/>
          <p:cNvSpPr/>
          <p:nvPr/>
        </p:nvSpPr>
        <p:spPr>
          <a:xfrm>
            <a:off x="548640" y="1600200"/>
            <a:ext cx="6537960" cy="1234440"/>
          </a:xfrm>
          <a:prstGeom prst="rect">
            <a:avLst/>
          </a:prstGeom>
          <a:solidFill>
            <a:srgbClr val="F3F2FA"/>
          </a:solidFill>
          <a:ln/>
        </p:spPr>
      </p:sp>
      <p:sp>
        <p:nvSpPr>
          <p:cNvPr id="13" name="Text 11"/>
          <p:cNvSpPr txBox="1"/>
          <p:nvPr/>
        </p:nvSpPr>
        <p:spPr>
          <a:xfrm>
            <a:off x="749808" y="1737360"/>
            <a:ext cx="1828800" cy="182880"/>
          </a:xfrm>
          <a:prstGeom prst="rect">
            <a:avLst/>
          </a:prstGeom>
          <a:noFill/>
          <a:ln/>
        </p:spPr>
        <p:txBody>
          <a:bodyPr wrap="square" lIns="0" tIns="0" rIns="0" bIns="0" rtlCol="0" anchor="t"/>
          <a:lstStyle/>
          <a:p>
            <a:pPr indent="0" marL="0">
              <a:buNone/>
            </a:pPr>
            <a:r>
              <a:rPr lang="en-US" sz="750" dirty="0">
                <a:solidFill>
                  <a:srgbClr val="8B8BA3"/>
                </a:solidFill>
                <a:latin typeface="Calibri" pitchFamily="34" charset="0"/>
                <a:ea typeface="Calibri" pitchFamily="34" charset="-122"/>
                <a:cs typeface="Calibri" pitchFamily="34" charset="-120"/>
              </a:rPr>
              <a:t>Home  /  About Us</a:t>
            </a:r>
            <a:endParaRPr lang="en-US" sz="750" dirty="0"/>
          </a:p>
        </p:txBody>
      </p:sp>
      <p:sp>
        <p:nvSpPr>
          <p:cNvPr id="14" name="Shape 12"/>
          <p:cNvSpPr/>
          <p:nvPr/>
        </p:nvSpPr>
        <p:spPr>
          <a:xfrm>
            <a:off x="749808" y="1965960"/>
            <a:ext cx="709574" cy="201168"/>
          </a:xfrm>
          <a:prstGeom prst="roundRect">
            <a:avLst>
              <a:gd name="adj" fmla="val 50000"/>
            </a:avLst>
          </a:prstGeom>
          <a:solidFill>
            <a:srgbClr val="ECEBFF"/>
          </a:solidFill>
          <a:ln/>
        </p:spPr>
      </p:sp>
      <p:sp>
        <p:nvSpPr>
          <p:cNvPr id="15" name="Text 13"/>
          <p:cNvSpPr txBox="1"/>
          <p:nvPr/>
        </p:nvSpPr>
        <p:spPr>
          <a:xfrm>
            <a:off x="749808" y="1965960"/>
            <a:ext cx="709574"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ABOUT US</a:t>
            </a:r>
            <a:endParaRPr lang="en-US" sz="700" dirty="0"/>
          </a:p>
        </p:txBody>
      </p:sp>
      <p:sp>
        <p:nvSpPr>
          <p:cNvPr id="16" name="Text 14"/>
          <p:cNvSpPr txBox="1"/>
          <p:nvPr/>
        </p:nvSpPr>
        <p:spPr>
          <a:xfrm>
            <a:off x="749808" y="2212848"/>
            <a:ext cx="3657600" cy="365760"/>
          </a:xfrm>
          <a:prstGeom prst="rect">
            <a:avLst/>
          </a:prstGeom>
          <a:noFill/>
          <a:ln/>
        </p:spPr>
        <p:txBody>
          <a:bodyPr wrap="square" lIns="0" tIns="0" rIns="0" bIns="0" rtlCol="0" anchor="t"/>
          <a:lstStyle/>
          <a:p>
            <a:pPr indent="0" marL="0">
              <a:buNone/>
            </a:pPr>
            <a:r>
              <a:rPr lang="en-US" sz="1800" b="1" dirty="0">
                <a:solidFill>
                  <a:srgbClr val="16161F"/>
                </a:solidFill>
                <a:latin typeface="Calibri" pitchFamily="34" charset="0"/>
                <a:ea typeface="Calibri" pitchFamily="34" charset="-122"/>
                <a:cs typeface="Calibri" pitchFamily="34" charset="-120"/>
              </a:rPr>
              <a:t>About Omaginfo LLC</a:t>
            </a:r>
            <a:endParaRPr lang="en-US" sz="1800" dirty="0"/>
          </a:p>
        </p:txBody>
      </p:sp>
      <p:sp>
        <p:nvSpPr>
          <p:cNvPr id="17" name="Text 15"/>
          <p:cNvSpPr txBox="1"/>
          <p:nvPr/>
        </p:nvSpPr>
        <p:spPr>
          <a:xfrm>
            <a:off x="749808" y="2560320"/>
            <a:ext cx="3657600" cy="201168"/>
          </a:xfrm>
          <a:prstGeom prst="rect">
            <a:avLst/>
          </a:prstGeom>
          <a:noFill/>
          <a:ln/>
        </p:spPr>
        <p:txBody>
          <a:bodyPr wrap="square" lIns="0" tIns="0" rIns="0" bIns="0" rtlCol="0" anchor="t"/>
          <a:lstStyle/>
          <a:p>
            <a:pPr indent="0" marL="0">
              <a:buNone/>
            </a:pPr>
            <a:r>
              <a:rPr lang="en-US" sz="900" i="1" dirty="0">
                <a:solidFill>
                  <a:srgbClr val="7B6CF6"/>
                </a:solidFill>
                <a:latin typeface="Calibri" pitchFamily="34" charset="0"/>
                <a:ea typeface="Calibri" pitchFamily="34" charset="-122"/>
                <a:cs typeface="Calibri" pitchFamily="34" charset="-120"/>
              </a:rPr>
              <a:t>Global Connectivity. Trusted Partnerships.</a:t>
            </a:r>
            <a:endParaRPr lang="en-US" sz="900" dirty="0"/>
          </a:p>
        </p:txBody>
      </p:sp>
      <p:sp>
        <p:nvSpPr>
          <p:cNvPr id="18" name="Text 16"/>
          <p:cNvSpPr txBox="1"/>
          <p:nvPr/>
        </p:nvSpPr>
        <p:spPr>
          <a:xfrm>
            <a:off x="749808" y="3017520"/>
            <a:ext cx="3200400" cy="105156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Omaginfo LLC is a telecommunications company focused on providing voice and messaging connectivity solutions to operators, carriers, and business partners across international markets. We specialize in VoIP services, A–Z voice termination, SMS routing, and global connectivity solutions tailored to meet the evolving needs of the telecom industry.</a:t>
            </a:r>
            <a:endParaRPr lang="en-US" sz="800" dirty="0"/>
          </a:p>
        </p:txBody>
      </p:sp>
      <p:sp>
        <p:nvSpPr>
          <p:cNvPr id="19" name="Text 17"/>
          <p:cNvSpPr txBox="1"/>
          <p:nvPr/>
        </p:nvSpPr>
        <p:spPr>
          <a:xfrm>
            <a:off x="749808" y="4114800"/>
            <a:ext cx="3200400" cy="123444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We believe successful telecommunications partnerships are built on reliability, competitive commercial offerings, and mutual trust. Our approach combines flexible connectivity options with a commitment to professional service and long-term collaboration. At Omaginfo LLC, we strive to help our partners expand their reach, optimize their connectivity, and explore new business opportunities in an increasingly connected world.</a:t>
            </a:r>
            <a:endParaRPr lang="en-US" sz="800" dirty="0"/>
          </a:p>
        </p:txBody>
      </p:sp>
      <p:sp>
        <p:nvSpPr>
          <p:cNvPr id="20" name="Shape 18"/>
          <p:cNvSpPr/>
          <p:nvPr/>
        </p:nvSpPr>
        <p:spPr>
          <a:xfrm>
            <a:off x="749808" y="5495544"/>
            <a:ext cx="155448" cy="155448"/>
          </a:xfrm>
          <a:prstGeom prst="ellipse">
            <a:avLst/>
          </a:prstGeom>
          <a:solidFill>
            <a:srgbClr val="ECEBFF"/>
          </a:solidFill>
          <a:ln/>
        </p:spPr>
      </p:sp>
      <p:pic>
        <p:nvPicPr>
          <p:cNvPr id="21" name="Image 0" descr="preencoded.png">    </p:cNvPr>
          <p:cNvPicPr>
            <a:picLocks noChangeAspect="1"/>
          </p:cNvPicPr>
          <p:nvPr/>
        </p:nvPicPr>
        <p:blipFill>
          <a:blip r:embed="rId1"/>
          <a:stretch>
            <a:fillRect/>
          </a:stretch>
        </p:blipFill>
        <p:spPr>
          <a:xfrm>
            <a:off x="790956" y="5536692"/>
            <a:ext cx="73152" cy="73152"/>
          </a:xfrm>
          <a:prstGeom prst="rect">
            <a:avLst/>
          </a:prstGeom>
        </p:spPr>
      </p:pic>
      <p:sp>
        <p:nvSpPr>
          <p:cNvPr id="22" name="Text 19"/>
          <p:cNvSpPr txBox="1"/>
          <p:nvPr/>
        </p:nvSpPr>
        <p:spPr>
          <a:xfrm>
            <a:off x="969264" y="5486400"/>
            <a:ext cx="13716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Reliability</a:t>
            </a:r>
            <a:endParaRPr lang="en-US" sz="800" dirty="0"/>
          </a:p>
        </p:txBody>
      </p:sp>
      <p:sp>
        <p:nvSpPr>
          <p:cNvPr id="23" name="Shape 20"/>
          <p:cNvSpPr/>
          <p:nvPr/>
        </p:nvSpPr>
        <p:spPr>
          <a:xfrm>
            <a:off x="2350008" y="5495544"/>
            <a:ext cx="155448" cy="155448"/>
          </a:xfrm>
          <a:prstGeom prst="ellipse">
            <a:avLst/>
          </a:prstGeom>
          <a:solidFill>
            <a:srgbClr val="ECEBFF"/>
          </a:solidFill>
          <a:ln/>
        </p:spPr>
      </p:sp>
      <p:pic>
        <p:nvPicPr>
          <p:cNvPr id="24" name="Image 1" descr="preencoded.png">    </p:cNvPr>
          <p:cNvPicPr>
            <a:picLocks noChangeAspect="1"/>
          </p:cNvPicPr>
          <p:nvPr/>
        </p:nvPicPr>
        <p:blipFill>
          <a:blip r:embed="rId2"/>
          <a:stretch>
            <a:fillRect/>
          </a:stretch>
        </p:blipFill>
        <p:spPr>
          <a:xfrm>
            <a:off x="2391156" y="5536692"/>
            <a:ext cx="73152" cy="73152"/>
          </a:xfrm>
          <a:prstGeom prst="rect">
            <a:avLst/>
          </a:prstGeom>
        </p:spPr>
      </p:pic>
      <p:sp>
        <p:nvSpPr>
          <p:cNvPr id="25" name="Text 21"/>
          <p:cNvSpPr txBox="1"/>
          <p:nvPr/>
        </p:nvSpPr>
        <p:spPr>
          <a:xfrm>
            <a:off x="2569464" y="5486400"/>
            <a:ext cx="13716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Competitive offerings</a:t>
            </a:r>
            <a:endParaRPr lang="en-US" sz="800" dirty="0"/>
          </a:p>
        </p:txBody>
      </p:sp>
      <p:sp>
        <p:nvSpPr>
          <p:cNvPr id="26" name="Shape 22"/>
          <p:cNvSpPr/>
          <p:nvPr/>
        </p:nvSpPr>
        <p:spPr>
          <a:xfrm>
            <a:off x="749808" y="5769864"/>
            <a:ext cx="155448" cy="155448"/>
          </a:xfrm>
          <a:prstGeom prst="ellipse">
            <a:avLst/>
          </a:prstGeom>
          <a:solidFill>
            <a:srgbClr val="ECEBFF"/>
          </a:solidFill>
          <a:ln/>
        </p:spPr>
      </p:sp>
      <p:pic>
        <p:nvPicPr>
          <p:cNvPr id="27" name="Image 2" descr="preencoded.png">    </p:cNvPr>
          <p:cNvPicPr>
            <a:picLocks noChangeAspect="1"/>
          </p:cNvPicPr>
          <p:nvPr/>
        </p:nvPicPr>
        <p:blipFill>
          <a:blip r:embed="rId3"/>
          <a:stretch>
            <a:fillRect/>
          </a:stretch>
        </p:blipFill>
        <p:spPr>
          <a:xfrm>
            <a:off x="790956" y="5811012"/>
            <a:ext cx="73152" cy="73152"/>
          </a:xfrm>
          <a:prstGeom prst="rect">
            <a:avLst/>
          </a:prstGeom>
        </p:spPr>
      </p:pic>
      <p:sp>
        <p:nvSpPr>
          <p:cNvPr id="28" name="Text 23"/>
          <p:cNvSpPr txBox="1"/>
          <p:nvPr/>
        </p:nvSpPr>
        <p:spPr>
          <a:xfrm>
            <a:off x="969264" y="5760720"/>
            <a:ext cx="13716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Mutual trust</a:t>
            </a:r>
            <a:endParaRPr lang="en-US" sz="800" dirty="0"/>
          </a:p>
        </p:txBody>
      </p:sp>
      <p:sp>
        <p:nvSpPr>
          <p:cNvPr id="29" name="Shape 24"/>
          <p:cNvSpPr/>
          <p:nvPr/>
        </p:nvSpPr>
        <p:spPr>
          <a:xfrm>
            <a:off x="2350008" y="5769864"/>
            <a:ext cx="155448" cy="155448"/>
          </a:xfrm>
          <a:prstGeom prst="ellipse">
            <a:avLst/>
          </a:prstGeom>
          <a:solidFill>
            <a:srgbClr val="ECEBFF"/>
          </a:solidFill>
          <a:ln/>
        </p:spPr>
      </p:sp>
      <p:pic>
        <p:nvPicPr>
          <p:cNvPr id="30" name="Image 3" descr="preencoded.png">    </p:cNvPr>
          <p:cNvPicPr>
            <a:picLocks noChangeAspect="1"/>
          </p:cNvPicPr>
          <p:nvPr/>
        </p:nvPicPr>
        <p:blipFill>
          <a:blip r:embed="rId4"/>
          <a:stretch>
            <a:fillRect/>
          </a:stretch>
        </p:blipFill>
        <p:spPr>
          <a:xfrm>
            <a:off x="2391156" y="5811012"/>
            <a:ext cx="73152" cy="73152"/>
          </a:xfrm>
          <a:prstGeom prst="rect">
            <a:avLst/>
          </a:prstGeom>
        </p:spPr>
      </p:pic>
      <p:sp>
        <p:nvSpPr>
          <p:cNvPr id="31" name="Text 25"/>
          <p:cNvSpPr txBox="1"/>
          <p:nvPr/>
        </p:nvSpPr>
        <p:spPr>
          <a:xfrm>
            <a:off x="2569464" y="5760720"/>
            <a:ext cx="13716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Long-term collaboration</a:t>
            </a:r>
            <a:endParaRPr lang="en-US" sz="800" dirty="0"/>
          </a:p>
        </p:txBody>
      </p:sp>
      <p:sp>
        <p:nvSpPr>
          <p:cNvPr id="32" name="Shape 26"/>
          <p:cNvSpPr/>
          <p:nvPr/>
        </p:nvSpPr>
        <p:spPr>
          <a:xfrm>
            <a:off x="4178808" y="3017520"/>
            <a:ext cx="2697480" cy="2971800"/>
          </a:xfrm>
          <a:prstGeom prst="roundRect">
            <a:avLst>
              <a:gd name="adj" fmla="val 6780"/>
            </a:avLst>
          </a:prstGeom>
          <a:solidFill>
            <a:srgbClr val="1B1B28"/>
          </a:solidFill>
          <a:ln/>
        </p:spPr>
      </p:sp>
      <p:sp>
        <p:nvSpPr>
          <p:cNvPr id="33" name="Shape 27"/>
          <p:cNvSpPr/>
          <p:nvPr/>
        </p:nvSpPr>
        <p:spPr>
          <a:xfrm>
            <a:off x="4407408" y="3246120"/>
            <a:ext cx="2240280" cy="2514600"/>
          </a:xfrm>
          <a:prstGeom prst="roundRect">
            <a:avLst>
              <a:gd name="adj" fmla="val 4082"/>
            </a:avLst>
          </a:prstGeom>
          <a:solidFill>
            <a:srgbClr val="2A2A3C"/>
          </a:solidFill>
          <a:ln w="9525">
            <a:solidFill>
              <a:srgbClr val="5A4FD0"/>
            </a:solidFill>
            <a:prstDash val="dash"/>
          </a:ln>
        </p:spPr>
      </p:sp>
      <p:pic>
        <p:nvPicPr>
          <p:cNvPr id="34" name="Image 4" descr="preencoded.png">    </p:cNvPr>
          <p:cNvPicPr>
            <a:picLocks noChangeAspect="1"/>
          </p:cNvPicPr>
          <p:nvPr/>
        </p:nvPicPr>
        <p:blipFill>
          <a:blip r:embed="rId5"/>
          <a:stretch>
            <a:fillRect/>
          </a:stretch>
        </p:blipFill>
        <p:spPr>
          <a:xfrm>
            <a:off x="5335524" y="4192524"/>
            <a:ext cx="384048" cy="384048"/>
          </a:xfrm>
          <a:prstGeom prst="rect">
            <a:avLst/>
          </a:prstGeom>
        </p:spPr>
      </p:pic>
      <p:sp>
        <p:nvSpPr>
          <p:cNvPr id="35" name="Text 28"/>
          <p:cNvSpPr txBox="1"/>
          <p:nvPr/>
        </p:nvSpPr>
        <p:spPr>
          <a:xfrm>
            <a:off x="4480560" y="4640580"/>
            <a:ext cx="2093976" cy="384048"/>
          </a:xfrm>
          <a:prstGeom prst="rect">
            <a:avLst/>
          </a:prstGeom>
          <a:noFill/>
          <a:ln/>
        </p:spPr>
        <p:txBody>
          <a:bodyPr wrap="square" lIns="0" tIns="0" rIns="0" bIns="0" rtlCol="0" anchor="t"/>
          <a:lstStyle/>
          <a:p>
            <a:pPr algn="ctr" indent="0" marL="0">
              <a:buNone/>
            </a:pPr>
            <a:r>
              <a:rPr lang="en-US" sz="750" i="1" dirty="0">
                <a:solidFill>
                  <a:srgbClr val="C9C1FF"/>
                </a:solidFill>
                <a:latin typeface="Calibri" pitchFamily="34" charset="0"/>
                <a:ea typeface="Calibri" pitchFamily="34" charset="-122"/>
                <a:cs typeface="Calibri" pitchFamily="34" charset="-120"/>
              </a:rPr>
              <a:t>Globe &amp; satellite visual; optional office or team photo</a:t>
            </a:r>
            <a:endParaRPr lang="en-US" sz="750" dirty="0"/>
          </a:p>
        </p:txBody>
      </p:sp>
      <p:sp>
        <p:nvSpPr>
          <p:cNvPr id="36" name="Shape 29"/>
          <p:cNvSpPr/>
          <p:nvPr/>
        </p:nvSpPr>
        <p:spPr>
          <a:xfrm>
            <a:off x="7360920" y="1325880"/>
            <a:ext cx="274320" cy="274320"/>
          </a:xfrm>
          <a:prstGeom prst="ellipse">
            <a:avLst/>
          </a:prstGeom>
          <a:solidFill>
            <a:srgbClr val="ECEBFF"/>
          </a:solidFill>
          <a:ln/>
        </p:spPr>
      </p:sp>
      <p:pic>
        <p:nvPicPr>
          <p:cNvPr id="37" name="Image 5" descr="preencoded.png">    </p:cNvPr>
          <p:cNvPicPr>
            <a:picLocks noChangeAspect="1"/>
          </p:cNvPicPr>
          <p:nvPr/>
        </p:nvPicPr>
        <p:blipFill>
          <a:blip r:embed="rId6"/>
          <a:stretch>
            <a:fillRect/>
          </a:stretch>
        </p:blipFill>
        <p:spPr>
          <a:xfrm>
            <a:off x="7429500" y="1394460"/>
            <a:ext cx="137160" cy="137160"/>
          </a:xfrm>
          <a:prstGeom prst="rect">
            <a:avLst/>
          </a:prstGeom>
        </p:spPr>
      </p:pic>
      <p:sp>
        <p:nvSpPr>
          <p:cNvPr id="38" name="Text 30"/>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39" name="Text 31"/>
          <p:cNvSpPr txBox="1"/>
          <p:nvPr/>
        </p:nvSpPr>
        <p:spPr>
          <a:xfrm>
            <a:off x="7726680" y="1618488"/>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Page header band: breadcrumb, eyebrow, H1, tagline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Below: 2 columns — text + value ticks left, visual card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single column, visual after text</a:t>
            </a:r>
            <a:endParaRPr lang="en-US" sz="1100" dirty="0"/>
          </a:p>
        </p:txBody>
      </p:sp>
      <p:sp>
        <p:nvSpPr>
          <p:cNvPr id="40" name="Shape 32"/>
          <p:cNvSpPr/>
          <p:nvPr/>
        </p:nvSpPr>
        <p:spPr>
          <a:xfrm>
            <a:off x="7360920" y="2272284"/>
            <a:ext cx="274320" cy="274320"/>
          </a:xfrm>
          <a:prstGeom prst="ellipse">
            <a:avLst/>
          </a:prstGeom>
          <a:solidFill>
            <a:srgbClr val="ECEBFF"/>
          </a:solidFill>
          <a:ln/>
        </p:spPr>
      </p:sp>
      <p:pic>
        <p:nvPicPr>
          <p:cNvPr id="41" name="Image 6" descr="preencoded.png">    </p:cNvPr>
          <p:cNvPicPr>
            <a:picLocks noChangeAspect="1"/>
          </p:cNvPicPr>
          <p:nvPr/>
        </p:nvPicPr>
        <p:blipFill>
          <a:blip r:embed="rId7"/>
          <a:stretch>
            <a:fillRect/>
          </a:stretch>
        </p:blipFill>
        <p:spPr>
          <a:xfrm>
            <a:off x="7429500" y="2340864"/>
            <a:ext cx="137160" cy="137160"/>
          </a:xfrm>
          <a:prstGeom prst="rect">
            <a:avLst/>
          </a:prstGeom>
        </p:spPr>
      </p:pic>
      <p:sp>
        <p:nvSpPr>
          <p:cNvPr id="42" name="Text 33"/>
          <p:cNvSpPr txBox="1"/>
          <p:nvPr/>
        </p:nvSpPr>
        <p:spPr>
          <a:xfrm>
            <a:off x="7726680" y="229057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3" name="Text 34"/>
          <p:cNvSpPr txBox="1"/>
          <p:nvPr/>
        </p:nvSpPr>
        <p:spPr>
          <a:xfrm>
            <a:off x="7726680" y="2564892"/>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H1 'About Omaginfo LLC' and both paragraphs verbatim (document item 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Ticks condensed from paragraph 2 wording</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Tagline from document item 2</a:t>
            </a:r>
            <a:endParaRPr lang="en-US" sz="1100" dirty="0"/>
          </a:p>
        </p:txBody>
      </p:sp>
      <p:sp>
        <p:nvSpPr>
          <p:cNvPr id="44" name="Shape 35"/>
          <p:cNvSpPr/>
          <p:nvPr/>
        </p:nvSpPr>
        <p:spPr>
          <a:xfrm>
            <a:off x="7360920" y="3387852"/>
            <a:ext cx="274320" cy="274320"/>
          </a:xfrm>
          <a:prstGeom prst="ellipse">
            <a:avLst/>
          </a:prstGeom>
          <a:solidFill>
            <a:srgbClr val="ECEBFF"/>
          </a:solidFill>
          <a:ln/>
        </p:spPr>
      </p:sp>
      <p:pic>
        <p:nvPicPr>
          <p:cNvPr id="45" name="Image 7" descr="preencoded.png">    </p:cNvPr>
          <p:cNvPicPr>
            <a:picLocks noChangeAspect="1"/>
          </p:cNvPicPr>
          <p:nvPr/>
        </p:nvPicPr>
        <p:blipFill>
          <a:blip r:embed="rId8"/>
          <a:stretch>
            <a:fillRect/>
          </a:stretch>
        </p:blipFill>
        <p:spPr>
          <a:xfrm>
            <a:off x="7429500" y="3456432"/>
            <a:ext cx="137160" cy="137160"/>
          </a:xfrm>
          <a:prstGeom prst="rect">
            <a:avLst/>
          </a:prstGeom>
        </p:spPr>
      </p:pic>
      <p:sp>
        <p:nvSpPr>
          <p:cNvPr id="46" name="Text 36"/>
          <p:cNvSpPr txBox="1"/>
          <p:nvPr/>
        </p:nvSpPr>
        <p:spPr>
          <a:xfrm>
            <a:off x="7726680" y="34061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47" name="Text 37"/>
          <p:cNvSpPr txBox="1"/>
          <p:nvPr/>
        </p:nvSpPr>
        <p:spPr>
          <a:xfrm>
            <a:off x="7726680" y="3680460"/>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Soft page-tint header band (no photo needed)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Dark globe card reused from Home for consistency</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Stat chips omitted — no years, coverage or staff figures supplied (TBC)</a:t>
            </a:r>
            <a:endParaRPr lang="en-US" sz="1100" dirty="0"/>
          </a:p>
        </p:txBody>
      </p:sp>
      <p:sp>
        <p:nvSpPr>
          <p:cNvPr id="48" name="Shape 38"/>
          <p:cNvSpPr/>
          <p:nvPr/>
        </p:nvSpPr>
        <p:spPr>
          <a:xfrm>
            <a:off x="7360920" y="4503420"/>
            <a:ext cx="274320" cy="274320"/>
          </a:xfrm>
          <a:prstGeom prst="ellipse">
            <a:avLst/>
          </a:prstGeom>
          <a:solidFill>
            <a:srgbClr val="ECEBFF"/>
          </a:solidFill>
          <a:ln/>
        </p:spPr>
      </p:sp>
      <p:pic>
        <p:nvPicPr>
          <p:cNvPr id="49" name="Image 8" descr="preencoded.png">    </p:cNvPr>
          <p:cNvPicPr>
            <a:picLocks noChangeAspect="1"/>
          </p:cNvPicPr>
          <p:nvPr/>
        </p:nvPicPr>
        <p:blipFill>
          <a:blip r:embed="rId9"/>
          <a:stretch>
            <a:fillRect/>
          </a:stretch>
        </p:blipFill>
        <p:spPr>
          <a:xfrm>
            <a:off x="7429500" y="4572000"/>
            <a:ext cx="137160" cy="137160"/>
          </a:xfrm>
          <a:prstGeom prst="rect">
            <a:avLst/>
          </a:prstGeom>
        </p:spPr>
      </p:pic>
      <p:sp>
        <p:nvSpPr>
          <p:cNvPr id="50" name="Text 39"/>
          <p:cNvSpPr txBox="1"/>
          <p:nvPr/>
        </p:nvSpPr>
        <p:spPr>
          <a:xfrm>
            <a:off x="7726680" y="452170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1" name="Text 40"/>
          <p:cNvSpPr txBox="1"/>
          <p:nvPr/>
        </p:nvSpPr>
        <p:spPr>
          <a:xfrm>
            <a:off x="7726680" y="479602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Breadcrumb 'Home' links back</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Scroll-reveal on blocks; no forms on this section</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Our Story, Mission and Vision</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ABOUT US · SECTION 2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omaginfo.com/about</a:t>
            </a:r>
            <a:endParaRPr lang="en-US" sz="700" dirty="0"/>
          </a:p>
        </p:txBody>
      </p:sp>
      <p:sp>
        <p:nvSpPr>
          <p:cNvPr id="12" name="Text 10"/>
          <p:cNvSpPr txBox="1"/>
          <p:nvPr/>
        </p:nvSpPr>
        <p:spPr>
          <a:xfrm>
            <a:off x="749808" y="1737360"/>
            <a:ext cx="2743200" cy="32004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Our Story</a:t>
            </a:r>
            <a:endParaRPr lang="en-US" sz="1500" dirty="0"/>
          </a:p>
        </p:txBody>
      </p:sp>
      <p:sp>
        <p:nvSpPr>
          <p:cNvPr id="13" name="Text 11"/>
          <p:cNvSpPr txBox="1"/>
          <p:nvPr/>
        </p:nvSpPr>
        <p:spPr>
          <a:xfrm>
            <a:off x="749808" y="2148840"/>
            <a:ext cx="3566160" cy="118872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Omaginfo LLC was established with the aim of creating valuable connections within the global telecommunications industry. We recognized the importance of dependable routing, competitive pricing, and strong business relationships in helping telecom operators grow. With this focus, we work to develop partnerships and provide voice and messaging solutions that address the practical needs of our customers.</a:t>
            </a:r>
            <a:endParaRPr lang="en-US" sz="800" dirty="0"/>
          </a:p>
        </p:txBody>
      </p:sp>
      <p:sp>
        <p:nvSpPr>
          <p:cNvPr id="14" name="Text 12"/>
          <p:cNvSpPr txBox="1"/>
          <p:nvPr/>
        </p:nvSpPr>
        <p:spPr>
          <a:xfrm>
            <a:off x="749808" y="3337560"/>
            <a:ext cx="3566160" cy="59436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As we continue to grow, our focus remains on expanding our connectivity opportunities, strengthening partner relationships, and creating sustainable value across the telecommunications ecosystem.</a:t>
            </a:r>
            <a:endParaRPr lang="en-US" sz="800" dirty="0"/>
          </a:p>
        </p:txBody>
      </p:sp>
      <p:sp>
        <p:nvSpPr>
          <p:cNvPr id="15" name="Shape 13"/>
          <p:cNvSpPr/>
          <p:nvPr/>
        </p:nvSpPr>
        <p:spPr>
          <a:xfrm>
            <a:off x="4544568" y="1783080"/>
            <a:ext cx="2331720" cy="2103120"/>
          </a:xfrm>
          <a:prstGeom prst="roundRect">
            <a:avLst>
              <a:gd name="adj" fmla="val 6087"/>
            </a:avLst>
          </a:prstGeom>
          <a:solidFill>
            <a:srgbClr val="F3F2FA"/>
          </a:solidFill>
          <a:ln w="9525">
            <a:solidFill>
              <a:srgbClr val="E8C49B"/>
            </a:solidFill>
            <a:prstDash val="dash"/>
          </a:ln>
        </p:spPr>
      </p:sp>
      <p:sp>
        <p:nvSpPr>
          <p:cNvPr id="16" name="Text 14"/>
          <p:cNvSpPr txBox="1"/>
          <p:nvPr/>
        </p:nvSpPr>
        <p:spPr>
          <a:xfrm>
            <a:off x="4681728" y="1920240"/>
            <a:ext cx="2103120" cy="228600"/>
          </a:xfrm>
          <a:prstGeom prst="rect">
            <a:avLst/>
          </a:prstGeom>
          <a:noFill/>
          <a:ln/>
        </p:spPr>
        <p:txBody>
          <a:bodyPr wrap="square" lIns="0" tIns="0" rIns="0" bIns="0" rtlCol="0" anchor="t"/>
          <a:lstStyle/>
          <a:p>
            <a:pPr indent="0" marL="0">
              <a:buNone/>
            </a:pPr>
            <a:r>
              <a:rPr lang="en-US" sz="900" b="1" dirty="0">
                <a:solidFill>
                  <a:srgbClr val="16161F"/>
                </a:solidFill>
                <a:latin typeface="Calibri" pitchFamily="34" charset="0"/>
                <a:ea typeface="Calibri" pitchFamily="34" charset="-122"/>
                <a:cs typeface="Calibri" pitchFamily="34" charset="-120"/>
              </a:rPr>
              <a:t>Optional milestone timeline</a:t>
            </a:r>
            <a:endParaRPr lang="en-US" sz="900" dirty="0"/>
          </a:p>
        </p:txBody>
      </p:sp>
      <p:sp>
        <p:nvSpPr>
          <p:cNvPr id="17" name="Shape 15"/>
          <p:cNvSpPr/>
          <p:nvPr/>
        </p:nvSpPr>
        <p:spPr>
          <a:xfrm>
            <a:off x="4773168" y="2423160"/>
            <a:ext cx="1874520" cy="0"/>
          </a:xfrm>
          <a:prstGeom prst="line">
            <a:avLst/>
          </a:prstGeom>
          <a:noFill/>
          <a:ln w="19050">
            <a:solidFill>
              <a:srgbClr val="B3A8FF"/>
            </a:solidFill>
            <a:prstDash val="solid"/>
          </a:ln>
        </p:spPr>
      </p:sp>
      <p:sp>
        <p:nvSpPr>
          <p:cNvPr id="18" name="Shape 16"/>
          <p:cNvSpPr/>
          <p:nvPr/>
        </p:nvSpPr>
        <p:spPr>
          <a:xfrm>
            <a:off x="4736592" y="2368296"/>
            <a:ext cx="109728" cy="109728"/>
          </a:xfrm>
          <a:prstGeom prst="ellipse">
            <a:avLst/>
          </a:prstGeom>
          <a:solidFill>
            <a:srgbClr val="FFFFFF"/>
          </a:solidFill>
          <a:ln w="19050">
            <a:solidFill>
              <a:srgbClr val="7B6CF6"/>
            </a:solidFill>
            <a:prstDash val="solid"/>
          </a:ln>
        </p:spPr>
      </p:sp>
      <p:sp>
        <p:nvSpPr>
          <p:cNvPr id="19" name="Shape 17"/>
          <p:cNvSpPr/>
          <p:nvPr/>
        </p:nvSpPr>
        <p:spPr>
          <a:xfrm>
            <a:off x="5358384" y="2368296"/>
            <a:ext cx="109728" cy="109728"/>
          </a:xfrm>
          <a:prstGeom prst="ellipse">
            <a:avLst/>
          </a:prstGeom>
          <a:solidFill>
            <a:srgbClr val="FFFFFF"/>
          </a:solidFill>
          <a:ln w="19050">
            <a:solidFill>
              <a:srgbClr val="7B6CF6"/>
            </a:solidFill>
            <a:prstDash val="solid"/>
          </a:ln>
        </p:spPr>
      </p:sp>
      <p:sp>
        <p:nvSpPr>
          <p:cNvPr id="20" name="Shape 18"/>
          <p:cNvSpPr/>
          <p:nvPr/>
        </p:nvSpPr>
        <p:spPr>
          <a:xfrm>
            <a:off x="5980176" y="2368296"/>
            <a:ext cx="109728" cy="109728"/>
          </a:xfrm>
          <a:prstGeom prst="ellipse">
            <a:avLst/>
          </a:prstGeom>
          <a:solidFill>
            <a:srgbClr val="FFFFFF"/>
          </a:solidFill>
          <a:ln w="19050">
            <a:solidFill>
              <a:srgbClr val="7B6CF6"/>
            </a:solidFill>
            <a:prstDash val="solid"/>
          </a:ln>
        </p:spPr>
      </p:sp>
      <p:sp>
        <p:nvSpPr>
          <p:cNvPr id="21" name="Shape 19"/>
          <p:cNvSpPr/>
          <p:nvPr/>
        </p:nvSpPr>
        <p:spPr>
          <a:xfrm>
            <a:off x="6565392" y="2368296"/>
            <a:ext cx="109728" cy="109728"/>
          </a:xfrm>
          <a:prstGeom prst="ellipse">
            <a:avLst/>
          </a:prstGeom>
          <a:solidFill>
            <a:srgbClr val="FFFFFF"/>
          </a:solidFill>
          <a:ln w="19050">
            <a:solidFill>
              <a:srgbClr val="7B6CF6"/>
            </a:solidFill>
            <a:prstDash val="solid"/>
          </a:ln>
        </p:spPr>
      </p:sp>
      <p:sp>
        <p:nvSpPr>
          <p:cNvPr id="22" name="Text 20"/>
          <p:cNvSpPr txBox="1"/>
          <p:nvPr/>
        </p:nvSpPr>
        <p:spPr>
          <a:xfrm>
            <a:off x="4681728" y="2651760"/>
            <a:ext cx="2103120" cy="548640"/>
          </a:xfrm>
          <a:prstGeom prst="rect">
            <a:avLst/>
          </a:prstGeom>
          <a:noFill/>
          <a:ln/>
        </p:spPr>
        <p:txBody>
          <a:bodyPr wrap="square" lIns="0" tIns="0" rIns="0" bIns="0" rtlCol="0" anchor="t"/>
          <a:lstStyle/>
          <a:p>
            <a:pPr indent="0" marL="0">
              <a:buNone/>
            </a:pPr>
            <a:r>
              <a:rPr lang="en-US" sz="800" i="1" dirty="0">
                <a:solidFill>
                  <a:srgbClr val="5F6075"/>
                </a:solidFill>
                <a:latin typeface="Calibri" pitchFamily="34" charset="0"/>
                <a:ea typeface="Calibri" pitchFamily="34" charset="-122"/>
                <a:cs typeface="Calibri" pitchFamily="34" charset="-120"/>
              </a:rPr>
              <a:t>Shown only if founding year and milestones are supplied</a:t>
            </a:r>
            <a:endParaRPr lang="en-US" sz="800" dirty="0"/>
          </a:p>
        </p:txBody>
      </p:sp>
      <p:sp>
        <p:nvSpPr>
          <p:cNvPr id="23" name="Shape 21"/>
          <p:cNvSpPr/>
          <p:nvPr/>
        </p:nvSpPr>
        <p:spPr>
          <a:xfrm>
            <a:off x="4681728" y="3337560"/>
            <a:ext cx="633222" cy="182880"/>
          </a:xfrm>
          <a:prstGeom prst="roundRect">
            <a:avLst>
              <a:gd name="adj" fmla="val 50000"/>
            </a:avLst>
          </a:prstGeom>
          <a:solidFill>
            <a:srgbClr val="FDE9D3"/>
          </a:solidFill>
          <a:ln/>
        </p:spPr>
      </p:sp>
      <p:sp>
        <p:nvSpPr>
          <p:cNvPr id="24" name="Text 22"/>
          <p:cNvSpPr txBox="1"/>
          <p:nvPr/>
        </p:nvSpPr>
        <p:spPr>
          <a:xfrm>
            <a:off x="4681728" y="3337560"/>
            <a:ext cx="633222"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Dates TBC</a:t>
            </a:r>
            <a:endParaRPr lang="en-US" sz="700" dirty="0"/>
          </a:p>
        </p:txBody>
      </p:sp>
      <p:sp>
        <p:nvSpPr>
          <p:cNvPr id="25" name="Shape 23"/>
          <p:cNvSpPr/>
          <p:nvPr/>
        </p:nvSpPr>
        <p:spPr>
          <a:xfrm>
            <a:off x="749808" y="4160520"/>
            <a:ext cx="2971800" cy="1920240"/>
          </a:xfrm>
          <a:prstGeom prst="roundRect">
            <a:avLst>
              <a:gd name="adj" fmla="val 8571"/>
            </a:avLst>
          </a:prstGeom>
          <a:solidFill>
            <a:srgbClr val="1B1B28"/>
          </a:solidFill>
          <a:ln/>
        </p:spPr>
      </p:sp>
      <p:sp>
        <p:nvSpPr>
          <p:cNvPr id="26" name="Shape 24"/>
          <p:cNvSpPr/>
          <p:nvPr/>
        </p:nvSpPr>
        <p:spPr>
          <a:xfrm>
            <a:off x="932688" y="4343400"/>
            <a:ext cx="365760" cy="365760"/>
          </a:xfrm>
          <a:prstGeom prst="ellipse">
            <a:avLst/>
          </a:prstGeom>
          <a:solidFill>
            <a:srgbClr val="3A3360"/>
          </a:solidFill>
          <a:ln/>
        </p:spPr>
      </p:sp>
      <p:pic>
        <p:nvPicPr>
          <p:cNvPr id="27" name="Image 0" descr="preencoded.png">    </p:cNvPr>
          <p:cNvPicPr>
            <a:picLocks noChangeAspect="1"/>
          </p:cNvPicPr>
          <p:nvPr/>
        </p:nvPicPr>
        <p:blipFill>
          <a:blip r:embed="rId1"/>
          <a:stretch>
            <a:fillRect/>
          </a:stretch>
        </p:blipFill>
        <p:spPr>
          <a:xfrm>
            <a:off x="1024128" y="4434840"/>
            <a:ext cx="182880" cy="182880"/>
          </a:xfrm>
          <a:prstGeom prst="rect">
            <a:avLst/>
          </a:prstGeom>
        </p:spPr>
      </p:pic>
      <p:sp>
        <p:nvSpPr>
          <p:cNvPr id="28" name="Text 25"/>
          <p:cNvSpPr txBox="1"/>
          <p:nvPr/>
        </p:nvSpPr>
        <p:spPr>
          <a:xfrm>
            <a:off x="1389888" y="4343400"/>
            <a:ext cx="21031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Mission</a:t>
            </a:r>
            <a:endParaRPr lang="en-US" sz="1200" dirty="0"/>
          </a:p>
        </p:txBody>
      </p:sp>
      <p:sp>
        <p:nvSpPr>
          <p:cNvPr id="29" name="Text 26"/>
          <p:cNvSpPr txBox="1"/>
          <p:nvPr/>
        </p:nvSpPr>
        <p:spPr>
          <a:xfrm>
            <a:off x="932688" y="4846320"/>
            <a:ext cx="2606040" cy="1097280"/>
          </a:xfrm>
          <a:prstGeom prst="rect">
            <a:avLst/>
          </a:prstGeom>
          <a:noFill/>
          <a:ln/>
        </p:spPr>
        <p:txBody>
          <a:bodyPr wrap="square" lIns="0" tIns="0" rIns="0" bIns="0" rtlCol="0" anchor="t"/>
          <a:lstStyle/>
          <a:p>
            <a:pPr indent="0" marL="0">
              <a:buNone/>
            </a:pPr>
            <a:r>
              <a:rPr lang="en-US" sz="850" dirty="0">
                <a:solidFill>
                  <a:srgbClr val="C9C9DA"/>
                </a:solidFill>
                <a:latin typeface="Calibri" pitchFamily="34" charset="0"/>
                <a:ea typeface="Calibri" pitchFamily="34" charset="-122"/>
                <a:cs typeface="Calibri" pitchFamily="34" charset="-120"/>
              </a:rPr>
              <a:t>To deliver dependable and cost-effective voice and messaging connectivity while building transparent, mutually beneficial relationships with telecom operators and business partners worldwide.</a:t>
            </a:r>
            <a:endParaRPr lang="en-US" sz="850" dirty="0"/>
          </a:p>
        </p:txBody>
      </p:sp>
      <p:sp>
        <p:nvSpPr>
          <p:cNvPr id="30" name="Shape 27"/>
          <p:cNvSpPr/>
          <p:nvPr/>
        </p:nvSpPr>
        <p:spPr>
          <a:xfrm>
            <a:off x="3904488" y="4160520"/>
            <a:ext cx="2971800" cy="1920240"/>
          </a:xfrm>
          <a:prstGeom prst="roundRect">
            <a:avLst>
              <a:gd name="adj" fmla="val 8571"/>
            </a:avLst>
          </a:prstGeom>
          <a:solidFill>
            <a:srgbClr val="7B6CF6"/>
          </a:solidFill>
          <a:ln/>
        </p:spPr>
      </p:sp>
      <p:sp>
        <p:nvSpPr>
          <p:cNvPr id="31" name="Shape 28"/>
          <p:cNvSpPr/>
          <p:nvPr/>
        </p:nvSpPr>
        <p:spPr>
          <a:xfrm>
            <a:off x="4087368" y="4343400"/>
            <a:ext cx="365760" cy="365760"/>
          </a:xfrm>
          <a:prstGeom prst="ellipse">
            <a:avLst/>
          </a:prstGeom>
          <a:solidFill>
            <a:srgbClr val="9488F8"/>
          </a:solidFill>
          <a:ln/>
        </p:spPr>
      </p:sp>
      <p:pic>
        <p:nvPicPr>
          <p:cNvPr id="32" name="Image 1" descr="preencoded.png">    </p:cNvPr>
          <p:cNvPicPr>
            <a:picLocks noChangeAspect="1"/>
          </p:cNvPicPr>
          <p:nvPr/>
        </p:nvPicPr>
        <p:blipFill>
          <a:blip r:embed="rId2"/>
          <a:stretch>
            <a:fillRect/>
          </a:stretch>
        </p:blipFill>
        <p:spPr>
          <a:xfrm>
            <a:off x="4178808" y="4434840"/>
            <a:ext cx="182880" cy="182880"/>
          </a:xfrm>
          <a:prstGeom prst="rect">
            <a:avLst/>
          </a:prstGeom>
        </p:spPr>
      </p:pic>
      <p:sp>
        <p:nvSpPr>
          <p:cNvPr id="33" name="Text 29"/>
          <p:cNvSpPr txBox="1"/>
          <p:nvPr/>
        </p:nvSpPr>
        <p:spPr>
          <a:xfrm>
            <a:off x="4544568" y="4343400"/>
            <a:ext cx="21031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Vision</a:t>
            </a:r>
            <a:endParaRPr lang="en-US" sz="1200" dirty="0"/>
          </a:p>
        </p:txBody>
      </p:sp>
      <p:sp>
        <p:nvSpPr>
          <p:cNvPr id="34" name="Text 30"/>
          <p:cNvSpPr txBox="1"/>
          <p:nvPr/>
        </p:nvSpPr>
        <p:spPr>
          <a:xfrm>
            <a:off x="4087368" y="4846320"/>
            <a:ext cx="2606040" cy="1097280"/>
          </a:xfrm>
          <a:prstGeom prst="rect">
            <a:avLst/>
          </a:prstGeom>
          <a:noFill/>
          <a:ln/>
        </p:spPr>
        <p:txBody>
          <a:bodyPr wrap="square" lIns="0" tIns="0" rIns="0" bIns="0" rtlCol="0" anchor="t"/>
          <a:lstStyle/>
          <a:p>
            <a:pPr indent="0" marL="0">
              <a:buNone/>
            </a:pPr>
            <a:r>
              <a:rPr lang="en-US" sz="850" dirty="0">
                <a:solidFill>
                  <a:srgbClr val="FFFFFF"/>
                </a:solidFill>
                <a:latin typeface="Calibri" pitchFamily="34" charset="0"/>
                <a:ea typeface="Calibri" pitchFamily="34" charset="-122"/>
                <a:cs typeface="Calibri" pitchFamily="34" charset="-120"/>
              </a:rPr>
              <a:t>To become a trusted international telecommunications partner recognized for connectivity, commercial flexibility, service reliability, and lasting business relationships.</a:t>
            </a:r>
            <a:endParaRPr lang="en-US" sz="850" dirty="0"/>
          </a:p>
        </p:txBody>
      </p:sp>
      <p:sp>
        <p:nvSpPr>
          <p:cNvPr id="35" name="Text 31"/>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36" name="Shape 32"/>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37" name="Image 2" descr="preencoded.png">    </p:cNvPr>
          <p:cNvPicPr>
            <a:picLocks noChangeAspect="1"/>
          </p:cNvPicPr>
          <p:nvPr/>
        </p:nvPicPr>
        <p:blipFill>
          <a:blip r:embed="rId3"/>
          <a:stretch>
            <a:fillRect/>
          </a:stretch>
        </p:blipFill>
        <p:spPr>
          <a:xfrm>
            <a:off x="7415784" y="1819421"/>
            <a:ext cx="4187952" cy="366230"/>
          </a:xfrm>
          <a:prstGeom prst="rect">
            <a:avLst/>
          </a:prstGeom>
        </p:spPr>
      </p:pic>
      <p:sp>
        <p:nvSpPr>
          <p:cNvPr id="38" name="Shape 33"/>
          <p:cNvSpPr/>
          <p:nvPr/>
        </p:nvSpPr>
        <p:spPr>
          <a:xfrm>
            <a:off x="7360920" y="2587752"/>
            <a:ext cx="274320" cy="274320"/>
          </a:xfrm>
          <a:prstGeom prst="ellipse">
            <a:avLst/>
          </a:prstGeom>
          <a:solidFill>
            <a:srgbClr val="ECEBFF"/>
          </a:solidFill>
          <a:ln/>
        </p:spPr>
      </p:sp>
      <p:pic>
        <p:nvPicPr>
          <p:cNvPr id="39" name="Image 3" descr="preencoded.png">    </p:cNvPr>
          <p:cNvPicPr>
            <a:picLocks noChangeAspect="1"/>
          </p:cNvPicPr>
          <p:nvPr/>
        </p:nvPicPr>
        <p:blipFill>
          <a:blip r:embed="rId4"/>
          <a:stretch>
            <a:fillRect/>
          </a:stretch>
        </p:blipFill>
        <p:spPr>
          <a:xfrm>
            <a:off x="7429500" y="2656332"/>
            <a:ext cx="137160" cy="137160"/>
          </a:xfrm>
          <a:prstGeom prst="rect">
            <a:avLst/>
          </a:prstGeom>
        </p:spPr>
      </p:pic>
      <p:sp>
        <p:nvSpPr>
          <p:cNvPr id="40" name="Text 34"/>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1" name="Text 35"/>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Story: text left, optional timeline card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Mission &amp; Vision: two equal cards side by side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everything stacks; cards full width</a:t>
            </a:r>
            <a:endParaRPr lang="en-US" sz="1100" dirty="0"/>
          </a:p>
        </p:txBody>
      </p:sp>
      <p:sp>
        <p:nvSpPr>
          <p:cNvPr id="42" name="Shape 36"/>
          <p:cNvSpPr/>
          <p:nvPr/>
        </p:nvSpPr>
        <p:spPr>
          <a:xfrm>
            <a:off x="7360920" y="3534156"/>
            <a:ext cx="274320" cy="274320"/>
          </a:xfrm>
          <a:prstGeom prst="ellipse">
            <a:avLst/>
          </a:prstGeom>
          <a:solidFill>
            <a:srgbClr val="ECEBFF"/>
          </a:solidFill>
          <a:ln/>
        </p:spPr>
      </p:sp>
      <p:pic>
        <p:nvPicPr>
          <p:cNvPr id="43" name="Image 4" descr="preencoded.png">    </p:cNvPr>
          <p:cNvPicPr>
            <a:picLocks noChangeAspect="1"/>
          </p:cNvPicPr>
          <p:nvPr/>
        </p:nvPicPr>
        <p:blipFill>
          <a:blip r:embed="rId5"/>
          <a:stretch>
            <a:fillRect/>
          </a:stretch>
        </p:blipFill>
        <p:spPr>
          <a:xfrm>
            <a:off x="7429500" y="3602736"/>
            <a:ext cx="137160" cy="137160"/>
          </a:xfrm>
          <a:prstGeom prst="rect">
            <a:avLst/>
          </a:prstGeom>
        </p:spPr>
      </p:pic>
      <p:sp>
        <p:nvSpPr>
          <p:cNvPr id="44" name="Text 37"/>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5" name="Text 38"/>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'Our Story' 2 paragraphs, Mission and Vision verbatim from item 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timeline (2014–2024, 4G/5G) removed</a:t>
            </a:r>
            <a:endParaRPr lang="en-US" sz="1100" dirty="0"/>
          </a:p>
        </p:txBody>
      </p:sp>
      <p:sp>
        <p:nvSpPr>
          <p:cNvPr id="46" name="Shape 39"/>
          <p:cNvSpPr/>
          <p:nvPr/>
        </p:nvSpPr>
        <p:spPr>
          <a:xfrm>
            <a:off x="7360920" y="4480560"/>
            <a:ext cx="274320" cy="274320"/>
          </a:xfrm>
          <a:prstGeom prst="ellipse">
            <a:avLst/>
          </a:prstGeom>
          <a:solidFill>
            <a:srgbClr val="ECEBFF"/>
          </a:solidFill>
          <a:ln/>
        </p:spPr>
      </p:sp>
      <p:pic>
        <p:nvPicPr>
          <p:cNvPr id="47" name="Image 5" descr="preencoded.png">    </p:cNvPr>
          <p:cNvPicPr>
            <a:picLocks noChangeAspect="1"/>
          </p:cNvPicPr>
          <p:nvPr/>
        </p:nvPicPr>
        <p:blipFill>
          <a:blip r:embed="rId6"/>
          <a:stretch>
            <a:fillRect/>
          </a:stretch>
        </p:blipFill>
        <p:spPr>
          <a:xfrm>
            <a:off x="7429500" y="4549140"/>
            <a:ext cx="137160" cy="137160"/>
          </a:xfrm>
          <a:prstGeom prst="rect">
            <a:avLst/>
          </a:prstGeom>
        </p:spPr>
      </p:pic>
      <p:sp>
        <p:nvSpPr>
          <p:cNvPr id="48" name="Text 40"/>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49" name="Text 41"/>
          <p:cNvSpPr txBox="1"/>
          <p:nvPr/>
        </p:nvSpPr>
        <p:spPr>
          <a:xfrm>
            <a:off x="7726680" y="477316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Mission: dark card, mint target icon</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Vision: purple card, white eye icon</a:t>
            </a:r>
            <a:endParaRPr lang="en-US" sz="1100" dirty="0"/>
          </a:p>
        </p:txBody>
      </p:sp>
      <p:sp>
        <p:nvSpPr>
          <p:cNvPr id="50" name="Shape 42"/>
          <p:cNvSpPr/>
          <p:nvPr/>
        </p:nvSpPr>
        <p:spPr>
          <a:xfrm>
            <a:off x="7360920" y="5257800"/>
            <a:ext cx="274320" cy="274320"/>
          </a:xfrm>
          <a:prstGeom prst="ellipse">
            <a:avLst/>
          </a:prstGeom>
          <a:solidFill>
            <a:srgbClr val="ECEBFF"/>
          </a:solidFill>
          <a:ln/>
        </p:spPr>
      </p:sp>
      <p:pic>
        <p:nvPicPr>
          <p:cNvPr id="51" name="Image 6" descr="preencoded.png">    </p:cNvPr>
          <p:cNvPicPr>
            <a:picLocks noChangeAspect="1"/>
          </p:cNvPicPr>
          <p:nvPr/>
        </p:nvPicPr>
        <p:blipFill>
          <a:blip r:embed="rId7"/>
          <a:stretch>
            <a:fillRect/>
          </a:stretch>
        </p:blipFill>
        <p:spPr>
          <a:xfrm>
            <a:off x="7429500" y="5326380"/>
            <a:ext cx="137160" cy="137160"/>
          </a:xfrm>
          <a:prstGeom prst="rect">
            <a:avLst/>
          </a:prstGeom>
        </p:spPr>
      </p:pic>
      <p:sp>
        <p:nvSpPr>
          <p:cNvPr id="52" name="Text 43"/>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Notes</a:t>
            </a:r>
            <a:endParaRPr lang="en-US" sz="1200" dirty="0"/>
          </a:p>
        </p:txBody>
      </p:sp>
      <p:sp>
        <p:nvSpPr>
          <p:cNvPr id="53" name="Text 44"/>
          <p:cNvSpPr txBox="1"/>
          <p:nvPr/>
        </p:nvSpPr>
        <p:spPr>
          <a:xfrm>
            <a:off x="7726680" y="555040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Founding year and any milestones needed to show a timeline (TBC); otherwise the story stands alone</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Leadership team</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ABOUT US · SECTION 3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omaginfo.com/about#leadership</a:t>
            </a:r>
            <a:endParaRPr lang="en-US" sz="700" dirty="0"/>
          </a:p>
        </p:txBody>
      </p:sp>
      <p:sp>
        <p:nvSpPr>
          <p:cNvPr id="12" name="Text 10"/>
          <p:cNvSpPr txBox="1"/>
          <p:nvPr/>
        </p:nvSpPr>
        <p:spPr>
          <a:xfrm>
            <a:off x="749808" y="1737360"/>
            <a:ext cx="6135624" cy="365760"/>
          </a:xfrm>
          <a:prstGeom prst="rect">
            <a:avLst/>
          </a:prstGeom>
          <a:noFill/>
          <a:ln/>
        </p:spPr>
        <p:txBody>
          <a:bodyPr wrap="square" lIns="0" tIns="0" rIns="0" bIns="0" rtlCol="0" anchor="t"/>
          <a:lstStyle/>
          <a:p>
            <a:pPr algn="ctr" indent="0" marL="0">
              <a:buNone/>
            </a:pPr>
            <a:r>
              <a:rPr lang="en-US" sz="1600" b="1" dirty="0">
                <a:solidFill>
                  <a:srgbClr val="16161F"/>
                </a:solidFill>
                <a:latin typeface="Calibri" pitchFamily="34" charset="0"/>
                <a:ea typeface="Calibri" pitchFamily="34" charset="-122"/>
                <a:cs typeface="Calibri" pitchFamily="34" charset="-120"/>
              </a:rPr>
              <a:t>Leadership team</a:t>
            </a:r>
            <a:endParaRPr lang="en-US" sz="1600" dirty="0"/>
          </a:p>
        </p:txBody>
      </p:sp>
      <p:sp>
        <p:nvSpPr>
          <p:cNvPr id="13" name="Shape 11"/>
          <p:cNvSpPr/>
          <p:nvPr/>
        </p:nvSpPr>
        <p:spPr>
          <a:xfrm>
            <a:off x="749808" y="2240280"/>
            <a:ext cx="2999232" cy="3840480"/>
          </a:xfrm>
          <a:prstGeom prst="roundRect">
            <a:avLst>
              <a:gd name="adj" fmla="val 5488"/>
            </a:avLst>
          </a:prstGeom>
          <a:solidFill>
            <a:srgbClr val="FFFFFF"/>
          </a:solidFill>
          <a:ln w="9525">
            <a:solidFill>
              <a:srgbClr val="E4E3EF"/>
            </a:solidFill>
            <a:prstDash val="solid"/>
          </a:ln>
        </p:spPr>
      </p:sp>
      <p:sp>
        <p:nvSpPr>
          <p:cNvPr id="14" name="Shape 12"/>
          <p:cNvSpPr/>
          <p:nvPr/>
        </p:nvSpPr>
        <p:spPr>
          <a:xfrm>
            <a:off x="859536" y="2350008"/>
            <a:ext cx="1051560" cy="1325880"/>
          </a:xfrm>
          <a:prstGeom prst="roundRect">
            <a:avLst>
              <a:gd name="adj" fmla="val 8696"/>
            </a:avLst>
          </a:prstGeom>
          <a:solidFill>
            <a:srgbClr val="2A2A3C"/>
          </a:solidFill>
          <a:ln w="9525">
            <a:solidFill>
              <a:srgbClr val="5A4FD0"/>
            </a:solidFill>
            <a:prstDash val="dash"/>
          </a:ln>
        </p:spPr>
      </p:sp>
      <p:pic>
        <p:nvPicPr>
          <p:cNvPr id="15" name="Image 0" descr="preencoded.png">    </p:cNvPr>
          <p:cNvPicPr>
            <a:picLocks noChangeAspect="1"/>
          </p:cNvPicPr>
          <p:nvPr/>
        </p:nvPicPr>
        <p:blipFill>
          <a:blip r:embed="rId1"/>
          <a:stretch>
            <a:fillRect/>
          </a:stretch>
        </p:blipFill>
        <p:spPr>
          <a:xfrm>
            <a:off x="1193292" y="2702052"/>
            <a:ext cx="384048" cy="384048"/>
          </a:xfrm>
          <a:prstGeom prst="rect">
            <a:avLst/>
          </a:prstGeom>
        </p:spPr>
      </p:pic>
      <p:sp>
        <p:nvSpPr>
          <p:cNvPr id="16" name="Text 13"/>
          <p:cNvSpPr txBox="1"/>
          <p:nvPr/>
        </p:nvSpPr>
        <p:spPr>
          <a:xfrm>
            <a:off x="932688" y="3150108"/>
            <a:ext cx="905256" cy="384048"/>
          </a:xfrm>
          <a:prstGeom prst="rect">
            <a:avLst/>
          </a:prstGeom>
          <a:noFill/>
          <a:ln/>
        </p:spPr>
        <p:txBody>
          <a:bodyPr wrap="square" lIns="0" tIns="0" rIns="0" bIns="0" rtlCol="0" anchor="t"/>
          <a:lstStyle/>
          <a:p>
            <a:pPr algn="ctr" indent="0" marL="0">
              <a:buNone/>
            </a:pPr>
            <a:r>
              <a:rPr lang="en-US" sz="750" i="1" dirty="0">
                <a:solidFill>
                  <a:srgbClr val="C9C1FF"/>
                </a:solidFill>
                <a:latin typeface="Calibri" pitchFamily="34" charset="0"/>
                <a:ea typeface="Calibri" pitchFamily="34" charset="-122"/>
                <a:cs typeface="Calibri" pitchFamily="34" charset="-120"/>
              </a:rPr>
              <a:t>Headshot</a:t>
            </a:r>
            <a:endParaRPr lang="en-US" sz="750" dirty="0"/>
          </a:p>
        </p:txBody>
      </p:sp>
      <p:sp>
        <p:nvSpPr>
          <p:cNvPr id="17" name="Shape 14"/>
          <p:cNvSpPr/>
          <p:nvPr/>
        </p:nvSpPr>
        <p:spPr>
          <a:xfrm>
            <a:off x="932688" y="3721608"/>
            <a:ext cx="633222" cy="182880"/>
          </a:xfrm>
          <a:prstGeom prst="roundRect">
            <a:avLst>
              <a:gd name="adj" fmla="val 50000"/>
            </a:avLst>
          </a:prstGeom>
          <a:solidFill>
            <a:srgbClr val="FDE9D3"/>
          </a:solidFill>
          <a:ln/>
        </p:spPr>
      </p:sp>
      <p:sp>
        <p:nvSpPr>
          <p:cNvPr id="18" name="Text 15"/>
          <p:cNvSpPr txBox="1"/>
          <p:nvPr/>
        </p:nvSpPr>
        <p:spPr>
          <a:xfrm>
            <a:off x="932688" y="3721608"/>
            <a:ext cx="633222"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19" name="Shape 16"/>
          <p:cNvSpPr/>
          <p:nvPr/>
        </p:nvSpPr>
        <p:spPr>
          <a:xfrm>
            <a:off x="2029968" y="2423160"/>
            <a:ext cx="1512418" cy="201168"/>
          </a:xfrm>
          <a:prstGeom prst="roundRect">
            <a:avLst>
              <a:gd name="adj" fmla="val 50000"/>
            </a:avLst>
          </a:prstGeom>
          <a:solidFill>
            <a:srgbClr val="ECEBFF"/>
          </a:solidFill>
          <a:ln/>
        </p:spPr>
      </p:sp>
      <p:sp>
        <p:nvSpPr>
          <p:cNvPr id="20" name="Text 17"/>
          <p:cNvSpPr txBox="1"/>
          <p:nvPr/>
        </p:nvSpPr>
        <p:spPr>
          <a:xfrm>
            <a:off x="2029968" y="2423160"/>
            <a:ext cx="1512418" cy="201168"/>
          </a:xfrm>
          <a:prstGeom prst="rect">
            <a:avLst/>
          </a:prstGeom>
          <a:noFill/>
          <a:ln/>
        </p:spPr>
        <p:txBody>
          <a:bodyPr wrap="square" lIns="0" tIns="0" rIns="0" bIns="0" rtlCol="0" anchor="ctr"/>
          <a:lstStyle/>
          <a:p>
            <a:pPr algn="ctr" indent="0" marL="0">
              <a:buNone/>
            </a:pPr>
            <a:r>
              <a:rPr lang="en-US" sz="600" b="1" dirty="0">
                <a:solidFill>
                  <a:srgbClr val="7B6CF6"/>
                </a:solidFill>
                <a:latin typeface="Calibri" pitchFamily="34" charset="0"/>
                <a:ea typeface="Calibri" pitchFamily="34" charset="-122"/>
                <a:cs typeface="Calibri" pitchFamily="34" charset="-120"/>
              </a:rPr>
              <a:t>FOUNDER &amp; MANAGING DIRECTOR</a:t>
            </a:r>
            <a:endParaRPr lang="en-US" sz="600" dirty="0"/>
          </a:p>
        </p:txBody>
      </p:sp>
      <p:sp>
        <p:nvSpPr>
          <p:cNvPr id="21" name="Text 18"/>
          <p:cNvSpPr txBox="1"/>
          <p:nvPr/>
        </p:nvSpPr>
        <p:spPr>
          <a:xfrm>
            <a:off x="2029968" y="2697480"/>
            <a:ext cx="1645920" cy="32004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Gaurav Goyal</a:t>
            </a:r>
            <a:endParaRPr lang="en-US" sz="1300" dirty="0"/>
          </a:p>
        </p:txBody>
      </p:sp>
      <p:sp>
        <p:nvSpPr>
          <p:cNvPr id="22" name="Text 19"/>
          <p:cNvSpPr txBox="1"/>
          <p:nvPr/>
        </p:nvSpPr>
        <p:spPr>
          <a:xfrm>
            <a:off x="886968" y="4023360"/>
            <a:ext cx="2724912" cy="1325880"/>
          </a:xfrm>
          <a:prstGeom prst="rect">
            <a:avLst/>
          </a:prstGeom>
          <a:noFill/>
          <a:ln/>
        </p:spPr>
        <p:txBody>
          <a:bodyPr wrap="square" lIns="0" tIns="0" rIns="0" bIns="0" rtlCol="0" anchor="t"/>
          <a:lstStyle/>
          <a:p>
            <a:pPr indent="0" marL="0">
              <a:buNone/>
            </a:pPr>
            <a:r>
              <a:rPr lang="en-US" sz="730" dirty="0">
                <a:solidFill>
                  <a:srgbClr val="5F6075"/>
                </a:solidFill>
                <a:latin typeface="Calibri" pitchFamily="34" charset="0"/>
                <a:ea typeface="Calibri" pitchFamily="34" charset="-122"/>
                <a:cs typeface="Calibri" pitchFamily="34" charset="-120"/>
              </a:rPr>
              <a:t>Gaurav Goyal brings a technical foundation and industry experience to the leadership of Omaginfo LLC. With an academic background in electronics engineering and a professional association with the telecommunications sector, he brings an understanding of network technologies and the operational requirements of the telecom industry.</a:t>
            </a:r>
            <a:endParaRPr lang="en-US" sz="730" dirty="0"/>
          </a:p>
        </p:txBody>
      </p:sp>
      <p:sp>
        <p:nvSpPr>
          <p:cNvPr id="23" name="Text 20"/>
          <p:cNvSpPr txBox="1"/>
          <p:nvPr/>
        </p:nvSpPr>
        <p:spPr>
          <a:xfrm>
            <a:off x="886968" y="5349240"/>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24" name="Text 21"/>
          <p:cNvSpPr txBox="1"/>
          <p:nvPr/>
        </p:nvSpPr>
        <p:spPr>
          <a:xfrm>
            <a:off x="1664208" y="53035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5" name="Shape 22"/>
          <p:cNvSpPr/>
          <p:nvPr/>
        </p:nvSpPr>
        <p:spPr>
          <a:xfrm>
            <a:off x="886968" y="5623560"/>
            <a:ext cx="2724912" cy="0"/>
          </a:xfrm>
          <a:prstGeom prst="line">
            <a:avLst/>
          </a:prstGeom>
          <a:noFill/>
          <a:ln w="12700">
            <a:solidFill>
              <a:srgbClr val="E4E3EF"/>
            </a:solidFill>
            <a:prstDash val="solid"/>
          </a:ln>
        </p:spPr>
      </p:sp>
      <p:sp>
        <p:nvSpPr>
          <p:cNvPr id="26" name="Text 23"/>
          <p:cNvSpPr txBox="1"/>
          <p:nvPr/>
        </p:nvSpPr>
        <p:spPr>
          <a:xfrm>
            <a:off x="886968" y="5696712"/>
            <a:ext cx="914400" cy="164592"/>
          </a:xfrm>
          <a:prstGeom prst="rect">
            <a:avLst/>
          </a:prstGeom>
          <a:noFill/>
          <a:ln/>
        </p:spPr>
        <p:txBody>
          <a:bodyPr wrap="square" lIns="0" tIns="0" rIns="0" bIns="0" rtlCol="0" anchor="t"/>
          <a:lstStyle/>
          <a:p>
            <a:pPr indent="0" marL="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27" name="Shape 24"/>
          <p:cNvSpPr/>
          <p:nvPr/>
        </p:nvSpPr>
        <p:spPr>
          <a:xfrm>
            <a:off x="886968" y="5870448"/>
            <a:ext cx="633222" cy="182880"/>
          </a:xfrm>
          <a:prstGeom prst="roundRect">
            <a:avLst>
              <a:gd name="adj" fmla="val 50000"/>
            </a:avLst>
          </a:prstGeom>
          <a:solidFill>
            <a:srgbClr val="FDE9D3"/>
          </a:solidFill>
          <a:ln/>
        </p:spPr>
      </p:sp>
      <p:sp>
        <p:nvSpPr>
          <p:cNvPr id="28" name="Text 25"/>
          <p:cNvSpPr txBox="1"/>
          <p:nvPr/>
        </p:nvSpPr>
        <p:spPr>
          <a:xfrm>
            <a:off x="886968" y="5870448"/>
            <a:ext cx="633222"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29" name="Shape 26"/>
          <p:cNvSpPr/>
          <p:nvPr/>
        </p:nvSpPr>
        <p:spPr>
          <a:xfrm>
            <a:off x="3063240" y="5733288"/>
            <a:ext cx="246888" cy="246888"/>
          </a:xfrm>
          <a:prstGeom prst="ellipse">
            <a:avLst/>
          </a:prstGeom>
          <a:solidFill>
            <a:srgbClr val="F3F2FA"/>
          </a:solidFill>
          <a:ln/>
        </p:spPr>
      </p:sp>
      <p:sp>
        <p:nvSpPr>
          <p:cNvPr id="30" name="Text 27"/>
          <p:cNvSpPr txBox="1"/>
          <p:nvPr/>
        </p:nvSpPr>
        <p:spPr>
          <a:xfrm>
            <a:off x="3063240" y="5733288"/>
            <a:ext cx="246888" cy="246888"/>
          </a:xfrm>
          <a:prstGeom prst="rect">
            <a:avLst/>
          </a:prstGeom>
          <a:noFill/>
          <a:ln/>
        </p:spPr>
        <p:txBody>
          <a:bodyPr wrap="square" lIns="0" tIns="0" rIns="0" bIns="0" rtlCol="0" anchor="ctr"/>
          <a:lstStyle/>
          <a:p>
            <a:pPr algn="ctr" indent="0" marL="0">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31" name="Shape 28"/>
          <p:cNvSpPr/>
          <p:nvPr/>
        </p:nvSpPr>
        <p:spPr>
          <a:xfrm>
            <a:off x="3364992" y="5733288"/>
            <a:ext cx="246888" cy="246888"/>
          </a:xfrm>
          <a:prstGeom prst="ellipse">
            <a:avLst/>
          </a:prstGeom>
          <a:solidFill>
            <a:srgbClr val="F3F2FA"/>
          </a:solidFill>
          <a:ln/>
        </p:spPr>
      </p:sp>
      <p:sp>
        <p:nvSpPr>
          <p:cNvPr id="32" name="Text 29"/>
          <p:cNvSpPr txBox="1"/>
          <p:nvPr/>
        </p:nvSpPr>
        <p:spPr>
          <a:xfrm>
            <a:off x="3364992" y="5733288"/>
            <a:ext cx="246888" cy="246888"/>
          </a:xfrm>
          <a:prstGeom prst="rect">
            <a:avLst/>
          </a:prstGeom>
          <a:noFill/>
          <a:ln/>
        </p:spPr>
        <p:txBody>
          <a:bodyPr wrap="square" lIns="0" tIns="0" rIns="0" bIns="0" rtlCol="0" anchor="ctr"/>
          <a:lstStyle/>
          <a:p>
            <a:pPr algn="ctr" indent="0" marL="0">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
        <p:nvSpPr>
          <p:cNvPr id="33" name="Shape 30"/>
          <p:cNvSpPr/>
          <p:nvPr/>
        </p:nvSpPr>
        <p:spPr>
          <a:xfrm>
            <a:off x="3877056" y="2240280"/>
            <a:ext cx="2999232" cy="3840480"/>
          </a:xfrm>
          <a:prstGeom prst="roundRect">
            <a:avLst>
              <a:gd name="adj" fmla="val 5488"/>
            </a:avLst>
          </a:prstGeom>
          <a:solidFill>
            <a:srgbClr val="FFFFFF"/>
          </a:solidFill>
          <a:ln w="9525">
            <a:solidFill>
              <a:srgbClr val="E4E3EF"/>
            </a:solidFill>
            <a:prstDash val="solid"/>
          </a:ln>
        </p:spPr>
      </p:sp>
      <p:sp>
        <p:nvSpPr>
          <p:cNvPr id="34" name="Shape 31"/>
          <p:cNvSpPr/>
          <p:nvPr/>
        </p:nvSpPr>
        <p:spPr>
          <a:xfrm>
            <a:off x="3986784" y="2350008"/>
            <a:ext cx="1051560" cy="1325880"/>
          </a:xfrm>
          <a:prstGeom prst="roundRect">
            <a:avLst>
              <a:gd name="adj" fmla="val 8696"/>
            </a:avLst>
          </a:prstGeom>
          <a:solidFill>
            <a:srgbClr val="ECEBFF"/>
          </a:solidFill>
          <a:ln w="9525">
            <a:solidFill>
              <a:srgbClr val="B3A8FF"/>
            </a:solidFill>
            <a:prstDash val="dash"/>
          </a:ln>
        </p:spPr>
      </p:sp>
      <p:pic>
        <p:nvPicPr>
          <p:cNvPr id="35" name="Image 1" descr="preencoded.png">    </p:cNvPr>
          <p:cNvPicPr>
            <a:picLocks noChangeAspect="1"/>
          </p:cNvPicPr>
          <p:nvPr/>
        </p:nvPicPr>
        <p:blipFill>
          <a:blip r:embed="rId2"/>
          <a:stretch>
            <a:fillRect/>
          </a:stretch>
        </p:blipFill>
        <p:spPr>
          <a:xfrm>
            <a:off x="4320540" y="2702052"/>
            <a:ext cx="384048" cy="384048"/>
          </a:xfrm>
          <a:prstGeom prst="rect">
            <a:avLst/>
          </a:prstGeom>
        </p:spPr>
      </p:pic>
      <p:sp>
        <p:nvSpPr>
          <p:cNvPr id="36" name="Text 32"/>
          <p:cNvSpPr txBox="1"/>
          <p:nvPr/>
        </p:nvSpPr>
        <p:spPr>
          <a:xfrm>
            <a:off x="4059936" y="3150108"/>
            <a:ext cx="905256" cy="384048"/>
          </a:xfrm>
          <a:prstGeom prst="rect">
            <a:avLst/>
          </a:prstGeom>
          <a:noFill/>
          <a:ln/>
        </p:spPr>
        <p:txBody>
          <a:bodyPr wrap="square" lIns="0" tIns="0" rIns="0" bIns="0" rtlCol="0" anchor="t"/>
          <a:lstStyle/>
          <a:p>
            <a:pPr algn="ctr" indent="0" marL="0">
              <a:buNone/>
            </a:pPr>
            <a:r>
              <a:rPr lang="en-US" sz="750" i="1" dirty="0">
                <a:solidFill>
                  <a:srgbClr val="5F6075"/>
                </a:solidFill>
                <a:latin typeface="Calibri" pitchFamily="34" charset="0"/>
                <a:ea typeface="Calibri" pitchFamily="34" charset="-122"/>
                <a:cs typeface="Calibri" pitchFamily="34" charset="-120"/>
              </a:rPr>
              <a:t>Headshot</a:t>
            </a:r>
            <a:endParaRPr lang="en-US" sz="750" dirty="0"/>
          </a:p>
        </p:txBody>
      </p:sp>
      <p:sp>
        <p:nvSpPr>
          <p:cNvPr id="37" name="Shape 33"/>
          <p:cNvSpPr/>
          <p:nvPr/>
        </p:nvSpPr>
        <p:spPr>
          <a:xfrm>
            <a:off x="4059936" y="3721608"/>
            <a:ext cx="633222" cy="182880"/>
          </a:xfrm>
          <a:prstGeom prst="roundRect">
            <a:avLst>
              <a:gd name="adj" fmla="val 50000"/>
            </a:avLst>
          </a:prstGeom>
          <a:solidFill>
            <a:srgbClr val="FDE9D3"/>
          </a:solidFill>
          <a:ln/>
        </p:spPr>
      </p:sp>
      <p:sp>
        <p:nvSpPr>
          <p:cNvPr id="38" name="Text 34"/>
          <p:cNvSpPr txBox="1"/>
          <p:nvPr/>
        </p:nvSpPr>
        <p:spPr>
          <a:xfrm>
            <a:off x="4059936" y="3721608"/>
            <a:ext cx="633222"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39" name="Shape 35"/>
          <p:cNvSpPr/>
          <p:nvPr/>
        </p:nvSpPr>
        <p:spPr>
          <a:xfrm>
            <a:off x="5157216" y="2423160"/>
            <a:ext cx="1227125" cy="201168"/>
          </a:xfrm>
          <a:prstGeom prst="roundRect">
            <a:avLst>
              <a:gd name="adj" fmla="val 50000"/>
            </a:avLst>
          </a:prstGeom>
          <a:solidFill>
            <a:srgbClr val="ECEBFF"/>
          </a:solidFill>
          <a:ln/>
        </p:spPr>
      </p:sp>
      <p:sp>
        <p:nvSpPr>
          <p:cNvPr id="40" name="Text 36"/>
          <p:cNvSpPr txBox="1"/>
          <p:nvPr/>
        </p:nvSpPr>
        <p:spPr>
          <a:xfrm>
            <a:off x="5157216" y="2423160"/>
            <a:ext cx="1227125" cy="201168"/>
          </a:xfrm>
          <a:prstGeom prst="rect">
            <a:avLst/>
          </a:prstGeom>
          <a:noFill/>
          <a:ln/>
        </p:spPr>
        <p:txBody>
          <a:bodyPr wrap="square" lIns="0" tIns="0" rIns="0" bIns="0" rtlCol="0" anchor="ctr"/>
          <a:lstStyle/>
          <a:p>
            <a:pPr algn="ctr" indent="0" marL="0">
              <a:buNone/>
            </a:pPr>
            <a:r>
              <a:rPr lang="en-US" sz="600" b="1" dirty="0">
                <a:solidFill>
                  <a:srgbClr val="7B6CF6"/>
                </a:solidFill>
                <a:latin typeface="Calibri" pitchFamily="34" charset="0"/>
                <a:ea typeface="Calibri" pitchFamily="34" charset="-122"/>
                <a:cs typeface="Calibri" pitchFamily="34" charset="-120"/>
              </a:rPr>
              <a:t>CO-FOUNDER &amp; DIRECTOR</a:t>
            </a:r>
            <a:endParaRPr lang="en-US" sz="600" dirty="0"/>
          </a:p>
        </p:txBody>
      </p:sp>
      <p:sp>
        <p:nvSpPr>
          <p:cNvPr id="41" name="Text 37"/>
          <p:cNvSpPr txBox="1"/>
          <p:nvPr/>
        </p:nvSpPr>
        <p:spPr>
          <a:xfrm>
            <a:off x="5157216" y="2697480"/>
            <a:ext cx="1645920" cy="32004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Aastha Gupta</a:t>
            </a:r>
            <a:endParaRPr lang="en-US" sz="1300" dirty="0"/>
          </a:p>
        </p:txBody>
      </p:sp>
      <p:sp>
        <p:nvSpPr>
          <p:cNvPr id="42" name="Text 38"/>
          <p:cNvSpPr txBox="1"/>
          <p:nvPr/>
        </p:nvSpPr>
        <p:spPr>
          <a:xfrm>
            <a:off x="4014216" y="4023360"/>
            <a:ext cx="2724912" cy="1325880"/>
          </a:xfrm>
          <a:prstGeom prst="rect">
            <a:avLst/>
          </a:prstGeom>
          <a:noFill/>
          <a:ln/>
        </p:spPr>
        <p:txBody>
          <a:bodyPr wrap="square" lIns="0" tIns="0" rIns="0" bIns="0" rtlCol="0" anchor="t"/>
          <a:lstStyle/>
          <a:p>
            <a:pPr indent="0" marL="0">
              <a:buNone/>
            </a:pPr>
            <a:r>
              <a:rPr lang="en-US" sz="730" dirty="0">
                <a:solidFill>
                  <a:srgbClr val="5F6075"/>
                </a:solidFill>
                <a:latin typeface="Calibri" pitchFamily="34" charset="0"/>
                <a:ea typeface="Calibri" pitchFamily="34" charset="-122"/>
                <a:cs typeface="Calibri" pitchFamily="34" charset="-120"/>
              </a:rPr>
              <a:t>Aastha Gupta brings professional experience in account management and telecommunications business relationships to Omaginfo LLC. Her background in managing customer accounts and coordinating with business partners supports the company's focus on service, collaboration, and long-term commercial relationships.</a:t>
            </a:r>
            <a:endParaRPr lang="en-US" sz="730" dirty="0"/>
          </a:p>
        </p:txBody>
      </p:sp>
      <p:sp>
        <p:nvSpPr>
          <p:cNvPr id="43" name="Text 39"/>
          <p:cNvSpPr txBox="1"/>
          <p:nvPr/>
        </p:nvSpPr>
        <p:spPr>
          <a:xfrm>
            <a:off x="4014216" y="5349240"/>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44" name="Text 40"/>
          <p:cNvSpPr txBox="1"/>
          <p:nvPr/>
        </p:nvSpPr>
        <p:spPr>
          <a:xfrm>
            <a:off x="4791456" y="53035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5" name="Shape 41"/>
          <p:cNvSpPr/>
          <p:nvPr/>
        </p:nvSpPr>
        <p:spPr>
          <a:xfrm>
            <a:off x="4014216" y="5623560"/>
            <a:ext cx="2724912" cy="0"/>
          </a:xfrm>
          <a:prstGeom prst="line">
            <a:avLst/>
          </a:prstGeom>
          <a:noFill/>
          <a:ln w="12700">
            <a:solidFill>
              <a:srgbClr val="E4E3EF"/>
            </a:solidFill>
            <a:prstDash val="solid"/>
          </a:ln>
        </p:spPr>
      </p:sp>
      <p:sp>
        <p:nvSpPr>
          <p:cNvPr id="46" name="Text 42"/>
          <p:cNvSpPr txBox="1"/>
          <p:nvPr/>
        </p:nvSpPr>
        <p:spPr>
          <a:xfrm>
            <a:off x="4014216" y="5696712"/>
            <a:ext cx="914400" cy="164592"/>
          </a:xfrm>
          <a:prstGeom prst="rect">
            <a:avLst/>
          </a:prstGeom>
          <a:noFill/>
          <a:ln/>
        </p:spPr>
        <p:txBody>
          <a:bodyPr wrap="square" lIns="0" tIns="0" rIns="0" bIns="0" rtlCol="0" anchor="t"/>
          <a:lstStyle/>
          <a:p>
            <a:pPr indent="0" marL="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47" name="Shape 43"/>
          <p:cNvSpPr/>
          <p:nvPr/>
        </p:nvSpPr>
        <p:spPr>
          <a:xfrm>
            <a:off x="4014216" y="5870448"/>
            <a:ext cx="633222" cy="182880"/>
          </a:xfrm>
          <a:prstGeom prst="roundRect">
            <a:avLst>
              <a:gd name="adj" fmla="val 50000"/>
            </a:avLst>
          </a:prstGeom>
          <a:solidFill>
            <a:srgbClr val="FDE9D3"/>
          </a:solidFill>
          <a:ln/>
        </p:spPr>
      </p:sp>
      <p:sp>
        <p:nvSpPr>
          <p:cNvPr id="48" name="Text 44"/>
          <p:cNvSpPr txBox="1"/>
          <p:nvPr/>
        </p:nvSpPr>
        <p:spPr>
          <a:xfrm>
            <a:off x="4014216" y="5870448"/>
            <a:ext cx="633222"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49" name="Shape 45"/>
          <p:cNvSpPr/>
          <p:nvPr/>
        </p:nvSpPr>
        <p:spPr>
          <a:xfrm>
            <a:off x="6190488" y="5733288"/>
            <a:ext cx="246888" cy="246888"/>
          </a:xfrm>
          <a:prstGeom prst="ellipse">
            <a:avLst/>
          </a:prstGeom>
          <a:solidFill>
            <a:srgbClr val="F3F2FA"/>
          </a:solidFill>
          <a:ln/>
        </p:spPr>
      </p:sp>
      <p:sp>
        <p:nvSpPr>
          <p:cNvPr id="50" name="Text 46"/>
          <p:cNvSpPr txBox="1"/>
          <p:nvPr/>
        </p:nvSpPr>
        <p:spPr>
          <a:xfrm>
            <a:off x="6190488" y="5733288"/>
            <a:ext cx="246888" cy="246888"/>
          </a:xfrm>
          <a:prstGeom prst="rect">
            <a:avLst/>
          </a:prstGeom>
          <a:noFill/>
          <a:ln/>
        </p:spPr>
        <p:txBody>
          <a:bodyPr wrap="square" lIns="0" tIns="0" rIns="0" bIns="0" rtlCol="0" anchor="ctr"/>
          <a:lstStyle/>
          <a:p>
            <a:pPr algn="ctr" indent="0" marL="0">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51" name="Shape 47"/>
          <p:cNvSpPr/>
          <p:nvPr/>
        </p:nvSpPr>
        <p:spPr>
          <a:xfrm>
            <a:off x="6492240" y="5733288"/>
            <a:ext cx="246888" cy="246888"/>
          </a:xfrm>
          <a:prstGeom prst="ellipse">
            <a:avLst/>
          </a:prstGeom>
          <a:solidFill>
            <a:srgbClr val="F3F2FA"/>
          </a:solidFill>
          <a:ln/>
        </p:spPr>
      </p:sp>
      <p:sp>
        <p:nvSpPr>
          <p:cNvPr id="52" name="Text 48"/>
          <p:cNvSpPr txBox="1"/>
          <p:nvPr/>
        </p:nvSpPr>
        <p:spPr>
          <a:xfrm>
            <a:off x="6492240" y="5733288"/>
            <a:ext cx="246888" cy="246888"/>
          </a:xfrm>
          <a:prstGeom prst="rect">
            <a:avLst/>
          </a:prstGeom>
          <a:noFill/>
          <a:ln/>
        </p:spPr>
        <p:txBody>
          <a:bodyPr wrap="square" lIns="0" tIns="0" rIns="0" bIns="0" rtlCol="0" anchor="ctr"/>
          <a:lstStyle/>
          <a:p>
            <a:pPr algn="ctr" indent="0" marL="0">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
        <p:nvSpPr>
          <p:cNvPr id="53" name="Text 49"/>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54" name="Shape 50"/>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55" name="Image 2" descr="preencoded.png">    </p:cNvPr>
          <p:cNvPicPr>
            <a:picLocks noChangeAspect="1"/>
          </p:cNvPicPr>
          <p:nvPr/>
        </p:nvPicPr>
        <p:blipFill>
          <a:blip r:embed="rId3"/>
          <a:stretch>
            <a:fillRect/>
          </a:stretch>
        </p:blipFill>
        <p:spPr>
          <a:xfrm>
            <a:off x="8011788" y="1591056"/>
            <a:ext cx="2995944" cy="822960"/>
          </a:xfrm>
          <a:prstGeom prst="rect">
            <a:avLst/>
          </a:prstGeom>
        </p:spPr>
      </p:pic>
      <p:sp>
        <p:nvSpPr>
          <p:cNvPr id="56" name="Shape 51"/>
          <p:cNvSpPr/>
          <p:nvPr/>
        </p:nvSpPr>
        <p:spPr>
          <a:xfrm>
            <a:off x="7360920" y="2587752"/>
            <a:ext cx="274320" cy="274320"/>
          </a:xfrm>
          <a:prstGeom prst="ellipse">
            <a:avLst/>
          </a:prstGeom>
          <a:solidFill>
            <a:srgbClr val="ECEBFF"/>
          </a:solidFill>
          <a:ln/>
        </p:spPr>
      </p:sp>
      <p:pic>
        <p:nvPicPr>
          <p:cNvPr id="57" name="Image 3" descr="preencoded.png">    </p:cNvPr>
          <p:cNvPicPr>
            <a:picLocks noChangeAspect="1"/>
          </p:cNvPicPr>
          <p:nvPr/>
        </p:nvPicPr>
        <p:blipFill>
          <a:blip r:embed="rId4"/>
          <a:stretch>
            <a:fillRect/>
          </a:stretch>
        </p:blipFill>
        <p:spPr>
          <a:xfrm>
            <a:off x="7429500" y="2656332"/>
            <a:ext cx="137160" cy="137160"/>
          </a:xfrm>
          <a:prstGeom prst="rect">
            <a:avLst/>
          </a:prstGeom>
        </p:spPr>
      </p:pic>
      <p:sp>
        <p:nvSpPr>
          <p:cNvPr id="58" name="Text 52"/>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59" name="Text 53"/>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Two founder cards side by side (sample format)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Photo, role pill, name, bio, footer row with experience + social</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Below 1080px: cards stack; below 600px photo moves on top</a:t>
            </a:r>
            <a:endParaRPr lang="en-US" sz="1100" dirty="0"/>
          </a:p>
        </p:txBody>
      </p:sp>
      <p:sp>
        <p:nvSpPr>
          <p:cNvPr id="60" name="Shape 54"/>
          <p:cNvSpPr/>
          <p:nvPr/>
        </p:nvSpPr>
        <p:spPr>
          <a:xfrm>
            <a:off x="7360920" y="3534156"/>
            <a:ext cx="274320" cy="274320"/>
          </a:xfrm>
          <a:prstGeom prst="ellipse">
            <a:avLst/>
          </a:prstGeom>
          <a:solidFill>
            <a:srgbClr val="ECEBFF"/>
          </a:solidFill>
          <a:ln/>
        </p:spPr>
      </p:sp>
      <p:pic>
        <p:nvPicPr>
          <p:cNvPr id="61" name="Image 4" descr="preencoded.png">    </p:cNvPr>
          <p:cNvPicPr>
            <a:picLocks noChangeAspect="1"/>
          </p:cNvPicPr>
          <p:nvPr/>
        </p:nvPicPr>
        <p:blipFill>
          <a:blip r:embed="rId5"/>
          <a:stretch>
            <a:fillRect/>
          </a:stretch>
        </p:blipFill>
        <p:spPr>
          <a:xfrm>
            <a:off x="7429500" y="3602736"/>
            <a:ext cx="137160" cy="137160"/>
          </a:xfrm>
          <a:prstGeom prst="rect">
            <a:avLst/>
          </a:prstGeom>
        </p:spPr>
      </p:pic>
      <p:sp>
        <p:nvSpPr>
          <p:cNvPr id="62" name="Text 55"/>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3" name="Text 56"/>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Names, titles and full 3-paragraph bios verbatim (item 5)</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First paragraph visible; 'Read full bio' ✱ expands the rest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quotes removed — add only if founders supply one</a:t>
            </a:r>
            <a:endParaRPr lang="en-US" sz="1100" dirty="0"/>
          </a:p>
        </p:txBody>
      </p:sp>
      <p:sp>
        <p:nvSpPr>
          <p:cNvPr id="64" name="Shape 57"/>
          <p:cNvSpPr/>
          <p:nvPr/>
        </p:nvSpPr>
        <p:spPr>
          <a:xfrm>
            <a:off x="7360920" y="4480560"/>
            <a:ext cx="274320" cy="274320"/>
          </a:xfrm>
          <a:prstGeom prst="ellipse">
            <a:avLst/>
          </a:prstGeom>
          <a:solidFill>
            <a:srgbClr val="ECEBFF"/>
          </a:solidFill>
          <a:ln/>
        </p:spPr>
      </p:sp>
      <p:pic>
        <p:nvPicPr>
          <p:cNvPr id="65" name="Image 5" descr="preencoded.png">    </p:cNvPr>
          <p:cNvPicPr>
            <a:picLocks noChangeAspect="1"/>
          </p:cNvPicPr>
          <p:nvPr/>
        </p:nvPicPr>
        <p:blipFill>
          <a:blip r:embed="rId6"/>
          <a:stretch>
            <a:fillRect/>
          </a:stretch>
        </p:blipFill>
        <p:spPr>
          <a:xfrm>
            <a:off x="7429500" y="4549140"/>
            <a:ext cx="137160" cy="137160"/>
          </a:xfrm>
          <a:prstGeom prst="rect">
            <a:avLst/>
          </a:prstGeom>
        </p:spPr>
      </p:pic>
      <p:sp>
        <p:nvSpPr>
          <p:cNvPr id="66" name="Text 58"/>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7" name="Text 59"/>
          <p:cNvSpPr txBox="1"/>
          <p:nvPr/>
        </p:nvSpPr>
        <p:spPr>
          <a:xfrm>
            <a:off x="7726680" y="4773168"/>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Professional headshots on purple gradient backgrounds (TBC)</a:t>
            </a:r>
            <a:endParaRPr lang="en-US" sz="1100" dirty="0"/>
          </a:p>
        </p:txBody>
      </p:sp>
      <p:sp>
        <p:nvSpPr>
          <p:cNvPr id="68" name="Shape 60"/>
          <p:cNvSpPr/>
          <p:nvPr/>
        </p:nvSpPr>
        <p:spPr>
          <a:xfrm>
            <a:off x="7360920" y="5088636"/>
            <a:ext cx="274320" cy="274320"/>
          </a:xfrm>
          <a:prstGeom prst="ellipse">
            <a:avLst/>
          </a:prstGeom>
          <a:solidFill>
            <a:srgbClr val="ECEBFF"/>
          </a:solidFill>
          <a:ln/>
        </p:spPr>
      </p:sp>
      <p:pic>
        <p:nvPicPr>
          <p:cNvPr id="69" name="Image 6" descr="preencoded.png">    </p:cNvPr>
          <p:cNvPicPr>
            <a:picLocks noChangeAspect="1"/>
          </p:cNvPicPr>
          <p:nvPr/>
        </p:nvPicPr>
        <p:blipFill>
          <a:blip r:embed="rId7"/>
          <a:stretch>
            <a:fillRect/>
          </a:stretch>
        </p:blipFill>
        <p:spPr>
          <a:xfrm>
            <a:off x="7429500" y="5157216"/>
            <a:ext cx="137160" cy="137160"/>
          </a:xfrm>
          <a:prstGeom prst="rect">
            <a:avLst/>
          </a:prstGeom>
        </p:spPr>
      </p:pic>
      <p:sp>
        <p:nvSpPr>
          <p:cNvPr id="70" name="Text 61"/>
          <p:cNvSpPr txBox="1"/>
          <p:nvPr/>
        </p:nvSpPr>
        <p:spPr>
          <a:xfrm>
            <a:off x="7726680" y="510692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71" name="Text 62"/>
          <p:cNvSpPr txBox="1"/>
          <p:nvPr/>
        </p:nvSpPr>
        <p:spPr>
          <a:xfrm>
            <a:off x="7726680" y="5381244"/>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Expand/collapse bio; LinkedIn icon opens profile in new tab</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Personal LinkedIn URLs / emails and years of experience TBC</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05</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Services pages</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A services overview plus dedicated pages for VoIP &amp; Voice Termination and SMS Connectivity.</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086600" y="1557302"/>
            <a:ext cx="4389120" cy="3743396"/>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Services overview page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SERVICES · OVERVIEW PAGE</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a:t>
            </a:r>
            <a:endParaRPr lang="en-US" sz="700" dirty="0"/>
          </a:p>
        </p:txBody>
      </p:sp>
      <p:sp>
        <p:nvSpPr>
          <p:cNvPr id="12" name="Shape 10"/>
          <p:cNvSpPr/>
          <p:nvPr/>
        </p:nvSpPr>
        <p:spPr>
          <a:xfrm>
            <a:off x="548640" y="1600200"/>
            <a:ext cx="6537960" cy="1005840"/>
          </a:xfrm>
          <a:prstGeom prst="rect">
            <a:avLst/>
          </a:prstGeom>
          <a:solidFill>
            <a:srgbClr val="F3F2FA"/>
          </a:solidFill>
          <a:ln/>
        </p:spPr>
      </p:sp>
      <p:sp>
        <p:nvSpPr>
          <p:cNvPr id="13" name="Text 11"/>
          <p:cNvSpPr txBox="1"/>
          <p:nvPr/>
        </p:nvSpPr>
        <p:spPr>
          <a:xfrm>
            <a:off x="749808" y="1737360"/>
            <a:ext cx="1828800" cy="182880"/>
          </a:xfrm>
          <a:prstGeom prst="rect">
            <a:avLst/>
          </a:prstGeom>
          <a:noFill/>
          <a:ln/>
        </p:spPr>
        <p:txBody>
          <a:bodyPr wrap="square" lIns="0" tIns="0" rIns="0" bIns="0" rtlCol="0" anchor="t"/>
          <a:lstStyle/>
          <a:p>
            <a:pPr indent="0" marL="0">
              <a:buNone/>
            </a:pPr>
            <a:r>
              <a:rPr lang="en-US" sz="750" dirty="0">
                <a:solidFill>
                  <a:srgbClr val="8B8BA3"/>
                </a:solidFill>
                <a:latin typeface="Calibri" pitchFamily="34" charset="0"/>
                <a:ea typeface="Calibri" pitchFamily="34" charset="-122"/>
                <a:cs typeface="Calibri" pitchFamily="34" charset="-120"/>
              </a:rPr>
              <a:t>Home  /  Services</a:t>
            </a:r>
            <a:endParaRPr lang="en-US" sz="750" dirty="0"/>
          </a:p>
        </p:txBody>
      </p:sp>
      <p:sp>
        <p:nvSpPr>
          <p:cNvPr id="14" name="Text 12"/>
          <p:cNvSpPr txBox="1"/>
          <p:nvPr/>
        </p:nvSpPr>
        <p:spPr>
          <a:xfrm>
            <a:off x="749808" y="1965960"/>
            <a:ext cx="3657600" cy="365760"/>
          </a:xfrm>
          <a:prstGeom prst="rect">
            <a:avLst/>
          </a:prstGeom>
          <a:noFill/>
          <a:ln/>
        </p:spPr>
        <p:txBody>
          <a:bodyPr wrap="square" lIns="0" tIns="0" rIns="0" bIns="0" rtlCol="0" anchor="t"/>
          <a:lstStyle/>
          <a:p>
            <a:pPr indent="0" marL="0">
              <a:buNone/>
            </a:pPr>
            <a:r>
              <a:rPr lang="en-US" sz="1800" b="1" dirty="0">
                <a:solidFill>
                  <a:srgbClr val="16161F"/>
                </a:solidFill>
                <a:latin typeface="Calibri" pitchFamily="34" charset="0"/>
                <a:ea typeface="Calibri" pitchFamily="34" charset="-122"/>
                <a:cs typeface="Calibri" pitchFamily="34" charset="-120"/>
              </a:rPr>
              <a:t>Our Services</a:t>
            </a:r>
            <a:endParaRPr lang="en-US" sz="1800" dirty="0"/>
          </a:p>
        </p:txBody>
      </p:sp>
      <p:sp>
        <p:nvSpPr>
          <p:cNvPr id="15" name="Text 13"/>
          <p:cNvSpPr txBox="1"/>
          <p:nvPr/>
        </p:nvSpPr>
        <p:spPr>
          <a:xfrm>
            <a:off x="749808" y="2304288"/>
            <a:ext cx="3657600" cy="201168"/>
          </a:xfrm>
          <a:prstGeom prst="rect">
            <a:avLst/>
          </a:prstGeom>
          <a:noFill/>
          <a:ln/>
        </p:spPr>
        <p:txBody>
          <a:bodyPr wrap="square" lIns="0" tIns="0" rIns="0" bIns="0" rtlCol="0" anchor="t"/>
          <a:lstStyle/>
          <a:p>
            <a:pPr indent="0" marL="0">
              <a:buNone/>
            </a:pPr>
            <a:r>
              <a:rPr lang="en-US" sz="900" i="1" dirty="0">
                <a:solidFill>
                  <a:srgbClr val="7B6CF6"/>
                </a:solidFill>
                <a:latin typeface="Calibri" pitchFamily="34" charset="0"/>
                <a:ea typeface="Calibri" pitchFamily="34" charset="-122"/>
                <a:cs typeface="Calibri" pitchFamily="34" charset="-120"/>
              </a:rPr>
              <a:t>Global Connectivity. Trusted Partnerships.</a:t>
            </a:r>
            <a:endParaRPr lang="en-US" sz="900" dirty="0"/>
          </a:p>
        </p:txBody>
      </p:sp>
      <p:sp>
        <p:nvSpPr>
          <p:cNvPr id="16" name="Shape 14"/>
          <p:cNvSpPr/>
          <p:nvPr/>
        </p:nvSpPr>
        <p:spPr>
          <a:xfrm>
            <a:off x="749808" y="2788920"/>
            <a:ext cx="3008376" cy="1554480"/>
          </a:xfrm>
          <a:prstGeom prst="roundRect">
            <a:avLst>
              <a:gd name="adj" fmla="val 8235"/>
            </a:avLst>
          </a:prstGeom>
          <a:solidFill>
            <a:srgbClr val="1B1B28"/>
          </a:solidFill>
          <a:ln/>
        </p:spPr>
      </p:sp>
      <p:sp>
        <p:nvSpPr>
          <p:cNvPr id="17" name="Shape 15"/>
          <p:cNvSpPr/>
          <p:nvPr/>
        </p:nvSpPr>
        <p:spPr>
          <a:xfrm>
            <a:off x="886968" y="2926080"/>
            <a:ext cx="347472" cy="347472"/>
          </a:xfrm>
          <a:prstGeom prst="ellipse">
            <a:avLst/>
          </a:prstGeom>
          <a:solidFill>
            <a:srgbClr val="3A3360"/>
          </a:solidFill>
          <a:ln/>
        </p:spPr>
      </p:sp>
      <p:pic>
        <p:nvPicPr>
          <p:cNvPr id="18" name="Image 0" descr="preencoded.png">    </p:cNvPr>
          <p:cNvPicPr>
            <a:picLocks noChangeAspect="1"/>
          </p:cNvPicPr>
          <p:nvPr/>
        </p:nvPicPr>
        <p:blipFill>
          <a:blip r:embed="rId1"/>
          <a:stretch>
            <a:fillRect/>
          </a:stretch>
        </p:blipFill>
        <p:spPr>
          <a:xfrm>
            <a:off x="978408" y="3017520"/>
            <a:ext cx="164592" cy="164592"/>
          </a:xfrm>
          <a:prstGeom prst="rect">
            <a:avLst/>
          </a:prstGeom>
        </p:spPr>
      </p:pic>
      <p:sp>
        <p:nvSpPr>
          <p:cNvPr id="19" name="Text 16"/>
          <p:cNvSpPr txBox="1"/>
          <p:nvPr/>
        </p:nvSpPr>
        <p:spPr>
          <a:xfrm>
            <a:off x="886968" y="3337560"/>
            <a:ext cx="2734056" cy="347472"/>
          </a:xfrm>
          <a:prstGeom prst="rect">
            <a:avLst/>
          </a:prstGeom>
          <a:noFill/>
          <a:ln/>
        </p:spPr>
        <p:txBody>
          <a:bodyPr wrap="square" lIns="0" tIns="0" rIns="0" bIns="0" rtlCol="0" anchor="t"/>
          <a:lstStyle/>
          <a:p>
            <a:pPr indent="0" marL="0">
              <a:buNone/>
            </a:pPr>
            <a:r>
              <a:rPr lang="en-US" sz="850" b="1" dirty="0">
                <a:solidFill>
                  <a:srgbClr val="FFFFFF"/>
                </a:solidFill>
                <a:latin typeface="Calibri" pitchFamily="34" charset="0"/>
                <a:ea typeface="Calibri" pitchFamily="34" charset="-122"/>
                <a:cs typeface="Calibri" pitchFamily="34" charset="-120"/>
              </a:rPr>
              <a:t>VoIP &amp; International Voice Termination</a:t>
            </a:r>
            <a:endParaRPr lang="en-US" sz="850" dirty="0"/>
          </a:p>
        </p:txBody>
      </p:sp>
      <p:sp>
        <p:nvSpPr>
          <p:cNvPr id="20" name="Text 17"/>
          <p:cNvSpPr txBox="1"/>
          <p:nvPr/>
        </p:nvSpPr>
        <p:spPr>
          <a:xfrm>
            <a:off x="886968" y="3566160"/>
            <a:ext cx="2734056" cy="502920"/>
          </a:xfrm>
          <a:prstGeom prst="rect">
            <a:avLst/>
          </a:prstGeom>
          <a:noFill/>
          <a:ln/>
        </p:spPr>
        <p:txBody>
          <a:bodyPr wrap="square" lIns="0" tIns="0" rIns="0" bIns="0" rtlCol="0" anchor="t"/>
          <a:lstStyle/>
          <a:p>
            <a:pPr indent="0" marL="0">
              <a:buNone/>
            </a:pPr>
            <a:r>
              <a:rPr lang="en-US" sz="700" dirty="0">
                <a:solidFill>
                  <a:srgbClr val="A9A9C0"/>
                </a:solidFill>
                <a:latin typeface="Calibri" pitchFamily="34" charset="0"/>
                <a:ea typeface="Calibri" pitchFamily="34" charset="-122"/>
                <a:cs typeface="Calibri" pitchFamily="34" charset="-120"/>
              </a:rPr>
              <a:t>Voice connectivity and A–Z termination solutions for international telecom operators, carriers, and service providers.</a:t>
            </a:r>
            <a:endParaRPr lang="en-US" sz="700" dirty="0"/>
          </a:p>
        </p:txBody>
      </p:sp>
      <p:sp>
        <p:nvSpPr>
          <p:cNvPr id="21" name="Text 18"/>
          <p:cNvSpPr txBox="1"/>
          <p:nvPr/>
        </p:nvSpPr>
        <p:spPr>
          <a:xfrm>
            <a:off x="886968" y="4096512"/>
            <a:ext cx="1371600" cy="182880"/>
          </a:xfrm>
          <a:prstGeom prst="rect">
            <a:avLst/>
          </a:prstGeom>
          <a:noFill/>
          <a:ln/>
        </p:spPr>
        <p:txBody>
          <a:bodyPr wrap="square" lIns="0" tIns="0" rIns="0" bIns="0" rtlCol="0" anchor="t"/>
          <a:lstStyle/>
          <a:p>
            <a:pPr indent="0" marL="0">
              <a:buNone/>
            </a:pPr>
            <a:r>
              <a:rPr lang="en-US" sz="750" b="1" dirty="0">
                <a:solidFill>
                  <a:srgbClr val="9DF0D4"/>
                </a:solidFill>
                <a:latin typeface="Calibri" pitchFamily="34" charset="0"/>
                <a:ea typeface="Calibri" pitchFamily="34" charset="-122"/>
                <a:cs typeface="Calibri" pitchFamily="34" charset="-120"/>
              </a:rPr>
              <a:t>VoIP page →</a:t>
            </a:r>
            <a:endParaRPr lang="en-US" sz="750" dirty="0"/>
          </a:p>
        </p:txBody>
      </p:sp>
      <p:sp>
        <p:nvSpPr>
          <p:cNvPr id="22" name="Shape 19"/>
          <p:cNvSpPr/>
          <p:nvPr/>
        </p:nvSpPr>
        <p:spPr>
          <a:xfrm>
            <a:off x="3877056" y="2788920"/>
            <a:ext cx="3008376" cy="1554480"/>
          </a:xfrm>
          <a:prstGeom prst="roundRect">
            <a:avLst>
              <a:gd name="adj" fmla="val 8235"/>
            </a:avLst>
          </a:prstGeom>
          <a:solidFill>
            <a:srgbClr val="FFFFFF"/>
          </a:solidFill>
          <a:ln w="9525">
            <a:solidFill>
              <a:srgbClr val="E4E3EF"/>
            </a:solidFill>
            <a:prstDash val="solid"/>
          </a:ln>
        </p:spPr>
      </p:sp>
      <p:sp>
        <p:nvSpPr>
          <p:cNvPr id="23" name="Shape 20"/>
          <p:cNvSpPr/>
          <p:nvPr/>
        </p:nvSpPr>
        <p:spPr>
          <a:xfrm>
            <a:off x="4014216" y="2926080"/>
            <a:ext cx="347472" cy="347472"/>
          </a:xfrm>
          <a:prstGeom prst="ellipse">
            <a:avLst/>
          </a:prstGeom>
          <a:solidFill>
            <a:srgbClr val="ECEBFF"/>
          </a:solidFill>
          <a:ln/>
        </p:spPr>
      </p:sp>
      <p:pic>
        <p:nvPicPr>
          <p:cNvPr id="24" name="Image 1" descr="preencoded.png">    </p:cNvPr>
          <p:cNvPicPr>
            <a:picLocks noChangeAspect="1"/>
          </p:cNvPicPr>
          <p:nvPr/>
        </p:nvPicPr>
        <p:blipFill>
          <a:blip r:embed="rId2"/>
          <a:stretch>
            <a:fillRect/>
          </a:stretch>
        </p:blipFill>
        <p:spPr>
          <a:xfrm>
            <a:off x="4105656" y="3017520"/>
            <a:ext cx="164592" cy="164592"/>
          </a:xfrm>
          <a:prstGeom prst="rect">
            <a:avLst/>
          </a:prstGeom>
        </p:spPr>
      </p:pic>
      <p:sp>
        <p:nvSpPr>
          <p:cNvPr id="25" name="Text 21"/>
          <p:cNvSpPr txBox="1"/>
          <p:nvPr/>
        </p:nvSpPr>
        <p:spPr>
          <a:xfrm>
            <a:off x="4014216" y="3337560"/>
            <a:ext cx="2734056" cy="347472"/>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SMS Routing &amp; Connectivity</a:t>
            </a:r>
            <a:endParaRPr lang="en-US" sz="850" dirty="0"/>
          </a:p>
        </p:txBody>
      </p:sp>
      <p:sp>
        <p:nvSpPr>
          <p:cNvPr id="26" name="Text 22"/>
          <p:cNvSpPr txBox="1"/>
          <p:nvPr/>
        </p:nvSpPr>
        <p:spPr>
          <a:xfrm>
            <a:off x="4014216" y="3566160"/>
            <a:ext cx="2734056" cy="50292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SMS routing and traffic solutions designed to support messaging requirements across available international destinations.</a:t>
            </a:r>
            <a:endParaRPr lang="en-US" sz="700" dirty="0"/>
          </a:p>
        </p:txBody>
      </p:sp>
      <p:sp>
        <p:nvSpPr>
          <p:cNvPr id="27" name="Text 23"/>
          <p:cNvSpPr txBox="1"/>
          <p:nvPr/>
        </p:nvSpPr>
        <p:spPr>
          <a:xfrm>
            <a:off x="4014216" y="4096512"/>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SMS page →</a:t>
            </a:r>
            <a:endParaRPr lang="en-US" sz="750" dirty="0"/>
          </a:p>
        </p:txBody>
      </p:sp>
      <p:sp>
        <p:nvSpPr>
          <p:cNvPr id="28" name="Shape 24"/>
          <p:cNvSpPr/>
          <p:nvPr/>
        </p:nvSpPr>
        <p:spPr>
          <a:xfrm>
            <a:off x="749808" y="4480560"/>
            <a:ext cx="1965960" cy="1600200"/>
          </a:xfrm>
          <a:prstGeom prst="roundRect">
            <a:avLst>
              <a:gd name="adj" fmla="val 8000"/>
            </a:avLst>
          </a:prstGeom>
          <a:solidFill>
            <a:srgbClr val="FFFFFF"/>
          </a:solidFill>
          <a:ln w="9525">
            <a:solidFill>
              <a:srgbClr val="E4E3EF"/>
            </a:solidFill>
            <a:prstDash val="solid"/>
          </a:ln>
        </p:spPr>
      </p:sp>
      <p:sp>
        <p:nvSpPr>
          <p:cNvPr id="29" name="Shape 25"/>
          <p:cNvSpPr/>
          <p:nvPr/>
        </p:nvSpPr>
        <p:spPr>
          <a:xfrm>
            <a:off x="886968" y="4617720"/>
            <a:ext cx="347472" cy="347472"/>
          </a:xfrm>
          <a:prstGeom prst="ellipse">
            <a:avLst/>
          </a:prstGeom>
          <a:solidFill>
            <a:srgbClr val="ECEBFF"/>
          </a:solidFill>
          <a:ln/>
        </p:spPr>
      </p:sp>
      <p:pic>
        <p:nvPicPr>
          <p:cNvPr id="30" name="Image 2" descr="preencoded.png">    </p:cNvPr>
          <p:cNvPicPr>
            <a:picLocks noChangeAspect="1"/>
          </p:cNvPicPr>
          <p:nvPr/>
        </p:nvPicPr>
        <p:blipFill>
          <a:blip r:embed="rId3"/>
          <a:stretch>
            <a:fillRect/>
          </a:stretch>
        </p:blipFill>
        <p:spPr>
          <a:xfrm>
            <a:off x="978408" y="4709160"/>
            <a:ext cx="164592" cy="164592"/>
          </a:xfrm>
          <a:prstGeom prst="rect">
            <a:avLst/>
          </a:prstGeom>
        </p:spPr>
      </p:pic>
      <p:sp>
        <p:nvSpPr>
          <p:cNvPr id="31" name="Text 26"/>
          <p:cNvSpPr txBox="1"/>
          <p:nvPr/>
        </p:nvSpPr>
        <p:spPr>
          <a:xfrm>
            <a:off x="886968" y="5029200"/>
            <a:ext cx="1691640" cy="347472"/>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Direct Route Solutions</a:t>
            </a:r>
            <a:endParaRPr lang="en-US" sz="850" dirty="0"/>
          </a:p>
        </p:txBody>
      </p:sp>
      <p:sp>
        <p:nvSpPr>
          <p:cNvPr id="32" name="Text 27"/>
          <p:cNvSpPr txBox="1"/>
          <p:nvPr/>
        </p:nvSpPr>
        <p:spPr>
          <a:xfrm>
            <a:off x="886968" y="5376672"/>
            <a:ext cx="1691640" cy="50292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Access to available direct fixed and mobile routes to support routing efficiency and connectivity requirements.</a:t>
            </a:r>
            <a:endParaRPr lang="en-US" sz="700" dirty="0"/>
          </a:p>
        </p:txBody>
      </p:sp>
      <p:sp>
        <p:nvSpPr>
          <p:cNvPr id="33" name="Text 28"/>
          <p:cNvSpPr txBox="1"/>
          <p:nvPr/>
        </p:nvSpPr>
        <p:spPr>
          <a:xfrm>
            <a:off x="886968" y="5833872"/>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Enquire →</a:t>
            </a:r>
            <a:endParaRPr lang="en-US" sz="750" dirty="0"/>
          </a:p>
        </p:txBody>
      </p:sp>
      <p:sp>
        <p:nvSpPr>
          <p:cNvPr id="34" name="Text 29"/>
          <p:cNvSpPr txBox="1"/>
          <p:nvPr/>
        </p:nvSpPr>
        <p:spPr>
          <a:xfrm>
            <a:off x="1435608" y="578815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5" name="Shape 30"/>
          <p:cNvSpPr/>
          <p:nvPr/>
        </p:nvSpPr>
        <p:spPr>
          <a:xfrm>
            <a:off x="2834640" y="4480560"/>
            <a:ext cx="1965960" cy="1600200"/>
          </a:xfrm>
          <a:prstGeom prst="roundRect">
            <a:avLst>
              <a:gd name="adj" fmla="val 8000"/>
            </a:avLst>
          </a:prstGeom>
          <a:solidFill>
            <a:srgbClr val="FFFFFF"/>
          </a:solidFill>
          <a:ln w="9525">
            <a:solidFill>
              <a:srgbClr val="E4E3EF"/>
            </a:solidFill>
            <a:prstDash val="solid"/>
          </a:ln>
        </p:spPr>
      </p:sp>
      <p:sp>
        <p:nvSpPr>
          <p:cNvPr id="36" name="Shape 31"/>
          <p:cNvSpPr/>
          <p:nvPr/>
        </p:nvSpPr>
        <p:spPr>
          <a:xfrm>
            <a:off x="2971800" y="4617720"/>
            <a:ext cx="347472" cy="347472"/>
          </a:xfrm>
          <a:prstGeom prst="ellipse">
            <a:avLst/>
          </a:prstGeom>
          <a:solidFill>
            <a:srgbClr val="ECEBFF"/>
          </a:solidFill>
          <a:ln/>
        </p:spPr>
      </p:sp>
      <p:pic>
        <p:nvPicPr>
          <p:cNvPr id="37" name="Image 3" descr="preencoded.png">    </p:cNvPr>
          <p:cNvPicPr>
            <a:picLocks noChangeAspect="1"/>
          </p:cNvPicPr>
          <p:nvPr/>
        </p:nvPicPr>
        <p:blipFill>
          <a:blip r:embed="rId4"/>
          <a:stretch>
            <a:fillRect/>
          </a:stretch>
        </p:blipFill>
        <p:spPr>
          <a:xfrm>
            <a:off x="3063240" y="4709160"/>
            <a:ext cx="164592" cy="164592"/>
          </a:xfrm>
          <a:prstGeom prst="rect">
            <a:avLst/>
          </a:prstGeom>
        </p:spPr>
      </p:pic>
      <p:sp>
        <p:nvSpPr>
          <p:cNvPr id="38" name="Text 32"/>
          <p:cNvSpPr txBox="1"/>
          <p:nvPr/>
        </p:nvSpPr>
        <p:spPr>
          <a:xfrm>
            <a:off x="2971800" y="5029200"/>
            <a:ext cx="1691640" cy="347472"/>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Global Telecom Partnerships</a:t>
            </a:r>
            <a:endParaRPr lang="en-US" sz="850" dirty="0"/>
          </a:p>
        </p:txBody>
      </p:sp>
      <p:sp>
        <p:nvSpPr>
          <p:cNvPr id="39" name="Text 33"/>
          <p:cNvSpPr txBox="1"/>
          <p:nvPr/>
        </p:nvSpPr>
        <p:spPr>
          <a:xfrm>
            <a:off x="2971800" y="5376672"/>
            <a:ext cx="1691640" cy="50292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Flexible commercial arrangements and collaboration opportunities for operators and carriers seeking to expand their international reach.</a:t>
            </a:r>
            <a:endParaRPr lang="en-US" sz="700" dirty="0"/>
          </a:p>
        </p:txBody>
      </p:sp>
      <p:sp>
        <p:nvSpPr>
          <p:cNvPr id="40" name="Text 34"/>
          <p:cNvSpPr txBox="1"/>
          <p:nvPr/>
        </p:nvSpPr>
        <p:spPr>
          <a:xfrm>
            <a:off x="2971800" y="5833872"/>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Enquire →</a:t>
            </a:r>
            <a:endParaRPr lang="en-US" sz="750" dirty="0"/>
          </a:p>
        </p:txBody>
      </p:sp>
      <p:sp>
        <p:nvSpPr>
          <p:cNvPr id="41" name="Text 35"/>
          <p:cNvSpPr txBox="1"/>
          <p:nvPr/>
        </p:nvSpPr>
        <p:spPr>
          <a:xfrm>
            <a:off x="3520440" y="578815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2" name="Shape 36"/>
          <p:cNvSpPr/>
          <p:nvPr/>
        </p:nvSpPr>
        <p:spPr>
          <a:xfrm>
            <a:off x="4919472" y="4480560"/>
            <a:ext cx="1965960" cy="1600200"/>
          </a:xfrm>
          <a:prstGeom prst="roundRect">
            <a:avLst>
              <a:gd name="adj" fmla="val 8000"/>
            </a:avLst>
          </a:prstGeom>
          <a:solidFill>
            <a:srgbClr val="FFFFFF"/>
          </a:solidFill>
          <a:ln w="9525">
            <a:solidFill>
              <a:srgbClr val="E4E3EF"/>
            </a:solidFill>
            <a:prstDash val="solid"/>
          </a:ln>
        </p:spPr>
      </p:sp>
      <p:sp>
        <p:nvSpPr>
          <p:cNvPr id="43" name="Shape 37"/>
          <p:cNvSpPr/>
          <p:nvPr/>
        </p:nvSpPr>
        <p:spPr>
          <a:xfrm>
            <a:off x="5056632" y="4617720"/>
            <a:ext cx="347472" cy="347472"/>
          </a:xfrm>
          <a:prstGeom prst="ellipse">
            <a:avLst/>
          </a:prstGeom>
          <a:solidFill>
            <a:srgbClr val="ECEBFF"/>
          </a:solidFill>
          <a:ln/>
        </p:spPr>
      </p:sp>
      <p:pic>
        <p:nvPicPr>
          <p:cNvPr id="44" name="Image 4" descr="preencoded.png">    </p:cNvPr>
          <p:cNvPicPr>
            <a:picLocks noChangeAspect="1"/>
          </p:cNvPicPr>
          <p:nvPr/>
        </p:nvPicPr>
        <p:blipFill>
          <a:blip r:embed="rId5"/>
          <a:stretch>
            <a:fillRect/>
          </a:stretch>
        </p:blipFill>
        <p:spPr>
          <a:xfrm>
            <a:off x="5148072" y="4709160"/>
            <a:ext cx="164592" cy="164592"/>
          </a:xfrm>
          <a:prstGeom prst="rect">
            <a:avLst/>
          </a:prstGeom>
        </p:spPr>
      </p:pic>
      <p:sp>
        <p:nvSpPr>
          <p:cNvPr id="45" name="Text 38"/>
          <p:cNvSpPr txBox="1"/>
          <p:nvPr/>
        </p:nvSpPr>
        <p:spPr>
          <a:xfrm>
            <a:off x="5056632" y="5029200"/>
            <a:ext cx="1691640" cy="347472"/>
          </a:xfrm>
          <a:prstGeom prst="rect">
            <a:avLst/>
          </a:prstGeom>
          <a:noFill/>
          <a:ln/>
        </p:spPr>
        <p:txBody>
          <a:bodyPr wrap="square" lIns="0" tIns="0" rIns="0" bIns="0" rtlCol="0" anchor="t"/>
          <a:lstStyle/>
          <a:p>
            <a:pPr indent="0" marL="0">
              <a:buNone/>
            </a:pPr>
            <a:r>
              <a:rPr lang="en-US" sz="850" b="1" dirty="0">
                <a:solidFill>
                  <a:srgbClr val="16161F"/>
                </a:solidFill>
                <a:latin typeface="Calibri" pitchFamily="34" charset="0"/>
                <a:ea typeface="Calibri" pitchFamily="34" charset="-122"/>
                <a:cs typeface="Calibri" pitchFamily="34" charset="-120"/>
              </a:rPr>
              <a:t>Tailored Connectivity Solutions</a:t>
            </a:r>
            <a:endParaRPr lang="en-US" sz="850" dirty="0"/>
          </a:p>
        </p:txBody>
      </p:sp>
      <p:sp>
        <p:nvSpPr>
          <p:cNvPr id="46" name="Text 39"/>
          <p:cNvSpPr txBox="1"/>
          <p:nvPr/>
        </p:nvSpPr>
        <p:spPr>
          <a:xfrm>
            <a:off x="5056632" y="5376672"/>
            <a:ext cx="1691640" cy="50292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Business-focused voice and messaging options developed around partner requirements, traffic needs, and commercial objectives.</a:t>
            </a:r>
            <a:endParaRPr lang="en-US" sz="700" dirty="0"/>
          </a:p>
        </p:txBody>
      </p:sp>
      <p:sp>
        <p:nvSpPr>
          <p:cNvPr id="47" name="Text 40"/>
          <p:cNvSpPr txBox="1"/>
          <p:nvPr/>
        </p:nvSpPr>
        <p:spPr>
          <a:xfrm>
            <a:off x="5056632" y="5833872"/>
            <a:ext cx="1371600" cy="182880"/>
          </a:xfrm>
          <a:prstGeom prst="rect">
            <a:avLst/>
          </a:prstGeom>
          <a:noFill/>
          <a:ln/>
        </p:spPr>
        <p:txBody>
          <a:bodyPr wrap="square" lIns="0" tIns="0" rIns="0" bIns="0" rtlCol="0" anchor="t"/>
          <a:lstStyle/>
          <a:p>
            <a:pPr indent="0" marL="0">
              <a:buNone/>
            </a:pPr>
            <a:r>
              <a:rPr lang="en-US" sz="750" b="1" dirty="0">
                <a:solidFill>
                  <a:srgbClr val="7B6CF6"/>
                </a:solidFill>
                <a:latin typeface="Calibri" pitchFamily="34" charset="0"/>
                <a:ea typeface="Calibri" pitchFamily="34" charset="-122"/>
                <a:cs typeface="Calibri" pitchFamily="34" charset="-120"/>
              </a:rPr>
              <a:t>Enquire →</a:t>
            </a:r>
            <a:endParaRPr lang="en-US" sz="750" dirty="0"/>
          </a:p>
        </p:txBody>
      </p:sp>
      <p:sp>
        <p:nvSpPr>
          <p:cNvPr id="48" name="Text 41"/>
          <p:cNvSpPr txBox="1"/>
          <p:nvPr/>
        </p:nvSpPr>
        <p:spPr>
          <a:xfrm>
            <a:off x="5605272" y="578815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9" name="Shape 42"/>
          <p:cNvSpPr/>
          <p:nvPr/>
        </p:nvSpPr>
        <p:spPr>
          <a:xfrm>
            <a:off x="749808" y="6217920"/>
            <a:ext cx="6135624" cy="0"/>
          </a:xfrm>
          <a:prstGeom prst="roundRect">
            <a:avLst>
              <a:gd name="adj" fmla="val Infinity"/>
            </a:avLst>
          </a:prstGeom>
          <a:solidFill>
            <a:srgbClr val="FFFFFF"/>
          </a:solidFill>
          <a:ln/>
        </p:spPr>
      </p:sp>
      <p:sp>
        <p:nvSpPr>
          <p:cNvPr id="50" name="Text 43"/>
          <p:cNvSpPr txBox="1"/>
          <p:nvPr/>
        </p:nvSpPr>
        <p:spPr>
          <a:xfrm>
            <a:off x="749808" y="6172200"/>
            <a:ext cx="6135624" cy="182880"/>
          </a:xfrm>
          <a:prstGeom prst="rect">
            <a:avLst/>
          </a:prstGeom>
          <a:noFill/>
          <a:ln/>
        </p:spPr>
        <p:txBody>
          <a:bodyPr wrap="square" lIns="0" tIns="0" rIns="0" bIns="0" rtlCol="0" anchor="t"/>
          <a:lstStyle/>
          <a:p>
            <a:pPr algn="ctr" indent="0" marL="0">
              <a:buNone/>
            </a:pPr>
            <a:r>
              <a:rPr lang="en-US" sz="800" i="1" dirty="0">
                <a:solidFill>
                  <a:srgbClr val="8B8BA3"/>
                </a:solidFill>
                <a:latin typeface="Calibri" pitchFamily="34" charset="0"/>
                <a:ea typeface="Calibri" pitchFamily="34" charset="-122"/>
                <a:cs typeface="Calibri" pitchFamily="34" charset="-120"/>
              </a:rPr>
              <a:t>Closing CTA band: 'Building connections. Enabling growth.'</a:t>
            </a:r>
            <a:endParaRPr lang="en-US" sz="800" dirty="0"/>
          </a:p>
        </p:txBody>
      </p:sp>
      <p:sp>
        <p:nvSpPr>
          <p:cNvPr id="51" name="Shape 44"/>
          <p:cNvSpPr/>
          <p:nvPr/>
        </p:nvSpPr>
        <p:spPr>
          <a:xfrm>
            <a:off x="7360920" y="1325880"/>
            <a:ext cx="274320" cy="274320"/>
          </a:xfrm>
          <a:prstGeom prst="ellipse">
            <a:avLst/>
          </a:prstGeom>
          <a:solidFill>
            <a:srgbClr val="ECEBFF"/>
          </a:solidFill>
          <a:ln/>
        </p:spPr>
      </p:sp>
      <p:pic>
        <p:nvPicPr>
          <p:cNvPr id="52" name="Image 5" descr="preencoded.png">    </p:cNvPr>
          <p:cNvPicPr>
            <a:picLocks noChangeAspect="1"/>
          </p:cNvPicPr>
          <p:nvPr/>
        </p:nvPicPr>
        <p:blipFill>
          <a:blip r:embed="rId6"/>
          <a:stretch>
            <a:fillRect/>
          </a:stretch>
        </p:blipFill>
        <p:spPr>
          <a:xfrm>
            <a:off x="7429500" y="1394460"/>
            <a:ext cx="137160" cy="137160"/>
          </a:xfrm>
          <a:prstGeom prst="rect">
            <a:avLst/>
          </a:prstGeom>
        </p:spPr>
      </p:pic>
      <p:sp>
        <p:nvSpPr>
          <p:cNvPr id="53" name="Text 45"/>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54" name="Text 46"/>
          <p:cNvSpPr txBox="1"/>
          <p:nvPr/>
        </p:nvSpPr>
        <p:spPr>
          <a:xfrm>
            <a:off x="7726680" y="161848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Header band (breadcrumb, H1 'Our Services', tagline)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Row 1: two large cards for the services with their own pages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Row 2: three cards for the remaining services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Global CTA band, then footer</a:t>
            </a:r>
            <a:endParaRPr lang="en-US" sz="1100" dirty="0"/>
          </a:p>
        </p:txBody>
      </p:sp>
      <p:sp>
        <p:nvSpPr>
          <p:cNvPr id="55" name="Shape 47"/>
          <p:cNvSpPr/>
          <p:nvPr/>
        </p:nvSpPr>
        <p:spPr>
          <a:xfrm>
            <a:off x="7360920" y="2441448"/>
            <a:ext cx="274320" cy="274320"/>
          </a:xfrm>
          <a:prstGeom prst="ellipse">
            <a:avLst/>
          </a:prstGeom>
          <a:solidFill>
            <a:srgbClr val="ECEBFF"/>
          </a:solidFill>
          <a:ln/>
        </p:spPr>
      </p:sp>
      <p:pic>
        <p:nvPicPr>
          <p:cNvPr id="56" name="Image 6" descr="preencoded.png">    </p:cNvPr>
          <p:cNvPicPr>
            <a:picLocks noChangeAspect="1"/>
          </p:cNvPicPr>
          <p:nvPr/>
        </p:nvPicPr>
        <p:blipFill>
          <a:blip r:embed="rId7"/>
          <a:stretch>
            <a:fillRect/>
          </a:stretch>
        </p:blipFill>
        <p:spPr>
          <a:xfrm>
            <a:off x="7429500" y="2510028"/>
            <a:ext cx="137160" cy="137160"/>
          </a:xfrm>
          <a:prstGeom prst="rect">
            <a:avLst/>
          </a:prstGeom>
        </p:spPr>
      </p:pic>
      <p:sp>
        <p:nvSpPr>
          <p:cNvPr id="57" name="Text 48"/>
          <p:cNvSpPr txBox="1"/>
          <p:nvPr/>
        </p:nvSpPr>
        <p:spPr>
          <a:xfrm>
            <a:off x="7726680" y="245973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8" name="Text 49"/>
          <p:cNvSpPr txBox="1"/>
          <p:nvPr/>
        </p:nvSpPr>
        <p:spPr>
          <a:xfrm>
            <a:off x="7726680" y="273405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All five titles and descriptions verbatim (item 4)</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 labels: 'VoIP page →', 'SMS page →', 'Enquire →' ✱</a:t>
            </a:r>
            <a:endParaRPr lang="en-US" sz="1100" dirty="0"/>
          </a:p>
        </p:txBody>
      </p:sp>
      <p:sp>
        <p:nvSpPr>
          <p:cNvPr id="59" name="Shape 50"/>
          <p:cNvSpPr/>
          <p:nvPr/>
        </p:nvSpPr>
        <p:spPr>
          <a:xfrm>
            <a:off x="7360920" y="3218688"/>
            <a:ext cx="274320" cy="274320"/>
          </a:xfrm>
          <a:prstGeom prst="ellipse">
            <a:avLst/>
          </a:prstGeom>
          <a:solidFill>
            <a:srgbClr val="ECEBFF"/>
          </a:solidFill>
          <a:ln/>
        </p:spPr>
      </p:sp>
      <p:pic>
        <p:nvPicPr>
          <p:cNvPr id="60" name="Image 7" descr="preencoded.png">    </p:cNvPr>
          <p:cNvPicPr>
            <a:picLocks noChangeAspect="1"/>
          </p:cNvPicPr>
          <p:nvPr/>
        </p:nvPicPr>
        <p:blipFill>
          <a:blip r:embed="rId8"/>
          <a:stretch>
            <a:fillRect/>
          </a:stretch>
        </p:blipFill>
        <p:spPr>
          <a:xfrm>
            <a:off x="7429500" y="3287268"/>
            <a:ext cx="137160" cy="137160"/>
          </a:xfrm>
          <a:prstGeom prst="rect">
            <a:avLst/>
          </a:prstGeom>
        </p:spPr>
      </p:pic>
      <p:sp>
        <p:nvSpPr>
          <p:cNvPr id="61" name="Text 51"/>
          <p:cNvSpPr txBox="1"/>
          <p:nvPr/>
        </p:nvSpPr>
        <p:spPr>
          <a:xfrm>
            <a:off x="7726680" y="323697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2" name="Text 52"/>
          <p:cNvSpPr txBox="1"/>
          <p:nvPr/>
        </p:nvSpPr>
        <p:spPr>
          <a:xfrm>
            <a:off x="7726680" y="3511296"/>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Icons in soft circles; VoIP card dark for emphasis</a:t>
            </a:r>
            <a:endParaRPr lang="en-US" sz="1100" dirty="0"/>
          </a:p>
        </p:txBody>
      </p:sp>
      <p:sp>
        <p:nvSpPr>
          <p:cNvPr id="63" name="Shape 53"/>
          <p:cNvSpPr/>
          <p:nvPr/>
        </p:nvSpPr>
        <p:spPr>
          <a:xfrm>
            <a:off x="7360920" y="3826764"/>
            <a:ext cx="274320" cy="274320"/>
          </a:xfrm>
          <a:prstGeom prst="ellipse">
            <a:avLst/>
          </a:prstGeom>
          <a:solidFill>
            <a:srgbClr val="ECEBFF"/>
          </a:solidFill>
          <a:ln/>
        </p:spPr>
      </p:sp>
      <p:pic>
        <p:nvPicPr>
          <p:cNvPr id="64" name="Image 8" descr="preencoded.png">    </p:cNvPr>
          <p:cNvPicPr>
            <a:picLocks noChangeAspect="1"/>
          </p:cNvPicPr>
          <p:nvPr/>
        </p:nvPicPr>
        <p:blipFill>
          <a:blip r:embed="rId9"/>
          <a:stretch>
            <a:fillRect/>
          </a:stretch>
        </p:blipFill>
        <p:spPr>
          <a:xfrm>
            <a:off x="7429500" y="3895344"/>
            <a:ext cx="137160" cy="137160"/>
          </a:xfrm>
          <a:prstGeom prst="rect">
            <a:avLst/>
          </a:prstGeom>
        </p:spPr>
      </p:pic>
      <p:sp>
        <p:nvSpPr>
          <p:cNvPr id="65" name="Text 54"/>
          <p:cNvSpPr txBox="1"/>
          <p:nvPr/>
        </p:nvSpPr>
        <p:spPr>
          <a:xfrm>
            <a:off x="7726680" y="384505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6" name="Text 55"/>
          <p:cNvSpPr txBox="1"/>
          <p:nvPr/>
        </p:nvSpPr>
        <p:spPr>
          <a:xfrm>
            <a:off x="7726680" y="4119372"/>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VoIP / SMS cards open their pages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Other three open Contact Us with 'General / Partnership' pre-selected</a:t>
            </a:r>
            <a:endParaRPr lang="en-US" sz="1100" dirty="0"/>
          </a:p>
        </p:txBody>
      </p:sp>
      <p:sp>
        <p:nvSpPr>
          <p:cNvPr id="67" name="Shape 56"/>
          <p:cNvSpPr/>
          <p:nvPr/>
        </p:nvSpPr>
        <p:spPr>
          <a:xfrm>
            <a:off x="7360920" y="4773168"/>
            <a:ext cx="274320" cy="274320"/>
          </a:xfrm>
          <a:prstGeom prst="ellipse">
            <a:avLst/>
          </a:prstGeom>
          <a:solidFill>
            <a:srgbClr val="ECEBFF"/>
          </a:solidFill>
          <a:ln/>
        </p:spPr>
      </p:sp>
      <p:pic>
        <p:nvPicPr>
          <p:cNvPr id="68" name="Image 9" descr="preencoded.png">    </p:cNvPr>
          <p:cNvPicPr>
            <a:picLocks noChangeAspect="1"/>
          </p:cNvPicPr>
          <p:nvPr/>
        </p:nvPicPr>
        <p:blipFill>
          <a:blip r:embed="rId10"/>
          <a:stretch>
            <a:fillRect/>
          </a:stretch>
        </p:blipFill>
        <p:spPr>
          <a:xfrm>
            <a:off x="7429500" y="4841748"/>
            <a:ext cx="137160" cy="137160"/>
          </a:xfrm>
          <a:prstGeom prst="rect">
            <a:avLst/>
          </a:prstGeom>
        </p:spPr>
      </p:pic>
      <p:sp>
        <p:nvSpPr>
          <p:cNvPr id="69" name="Text 57"/>
          <p:cNvSpPr txBox="1"/>
          <p:nvPr/>
        </p:nvSpPr>
        <p:spPr>
          <a:xfrm>
            <a:off x="7726680" y="479145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Notes</a:t>
            </a:r>
            <a:endParaRPr lang="en-US" sz="1200" dirty="0"/>
          </a:p>
        </p:txBody>
      </p:sp>
      <p:sp>
        <p:nvSpPr>
          <p:cNvPr id="70" name="Text 58"/>
          <p:cNvSpPr txBox="1"/>
          <p:nvPr/>
        </p:nvSpPr>
        <p:spPr>
          <a:xfrm>
            <a:off x="7726680" y="506577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Client to confirm: should Direct Routes, Partnerships or Tailored Solutions get their own pages later?</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VoIP hero and introduction</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VOIP PAGE · SECTION 1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omaginfo.com/services/voip</a:t>
            </a:r>
            <a:endParaRPr lang="en-US" sz="700" dirty="0"/>
          </a:p>
        </p:txBody>
      </p:sp>
      <p:sp>
        <p:nvSpPr>
          <p:cNvPr id="12" name="Text 10"/>
          <p:cNvSpPr txBox="1"/>
          <p:nvPr/>
        </p:nvSpPr>
        <p:spPr>
          <a:xfrm>
            <a:off x="749808" y="1737360"/>
            <a:ext cx="2743200" cy="182880"/>
          </a:xfrm>
          <a:prstGeom prst="rect">
            <a:avLst/>
          </a:prstGeom>
          <a:noFill/>
          <a:ln/>
        </p:spPr>
        <p:txBody>
          <a:bodyPr wrap="square" lIns="0" tIns="0" rIns="0" bIns="0" rtlCol="0" anchor="t"/>
          <a:lstStyle/>
          <a:p>
            <a:pPr indent="0" marL="0">
              <a:buNone/>
            </a:pPr>
            <a:r>
              <a:rPr lang="en-US" sz="750" dirty="0">
                <a:solidFill>
                  <a:srgbClr val="8B8BA3"/>
                </a:solidFill>
                <a:latin typeface="Calibri" pitchFamily="34" charset="0"/>
                <a:ea typeface="Calibri" pitchFamily="34" charset="-122"/>
                <a:cs typeface="Calibri" pitchFamily="34" charset="-120"/>
              </a:rPr>
              <a:t>Home  /  Services  /  VoIP</a:t>
            </a:r>
            <a:endParaRPr lang="en-US" sz="750" dirty="0"/>
          </a:p>
        </p:txBody>
      </p:sp>
      <p:sp>
        <p:nvSpPr>
          <p:cNvPr id="13" name="Shape 11"/>
          <p:cNvSpPr/>
          <p:nvPr/>
        </p:nvSpPr>
        <p:spPr>
          <a:xfrm>
            <a:off x="749808" y="2011680"/>
            <a:ext cx="981608" cy="201168"/>
          </a:xfrm>
          <a:prstGeom prst="roundRect">
            <a:avLst>
              <a:gd name="adj" fmla="val 50000"/>
            </a:avLst>
          </a:prstGeom>
          <a:solidFill>
            <a:srgbClr val="ECEBFF"/>
          </a:solidFill>
          <a:ln/>
        </p:spPr>
      </p:sp>
      <p:sp>
        <p:nvSpPr>
          <p:cNvPr id="14" name="Text 12"/>
          <p:cNvSpPr txBox="1"/>
          <p:nvPr/>
        </p:nvSpPr>
        <p:spPr>
          <a:xfrm>
            <a:off x="749808" y="2011680"/>
            <a:ext cx="981608"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VOIP SERVICES</a:t>
            </a:r>
            <a:endParaRPr lang="en-US" sz="700" dirty="0"/>
          </a:p>
        </p:txBody>
      </p:sp>
      <p:sp>
        <p:nvSpPr>
          <p:cNvPr id="15" name="Text 13"/>
          <p:cNvSpPr txBox="1"/>
          <p:nvPr/>
        </p:nvSpPr>
        <p:spPr>
          <a:xfrm>
            <a:off x="1664208" y="194767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16" name="Text 14"/>
          <p:cNvSpPr txBox="1"/>
          <p:nvPr/>
        </p:nvSpPr>
        <p:spPr>
          <a:xfrm>
            <a:off x="749808" y="2304288"/>
            <a:ext cx="3200400" cy="868680"/>
          </a:xfrm>
          <a:prstGeom prst="rect">
            <a:avLst/>
          </a:prstGeom>
          <a:noFill/>
          <a:ln/>
        </p:spPr>
        <p:txBody>
          <a:bodyPr wrap="square" lIns="0" tIns="0" rIns="0" bIns="0" rtlCol="0" anchor="t"/>
          <a:lstStyle/>
          <a:p>
            <a:pPr indent="0" marL="0">
              <a:buNone/>
            </a:pPr>
            <a:r>
              <a:rPr lang="en-US" sz="1800" b="1" dirty="0">
                <a:solidFill>
                  <a:srgbClr val="16161F"/>
                </a:solidFill>
                <a:latin typeface="Calibri" pitchFamily="34" charset="0"/>
                <a:ea typeface="Calibri" pitchFamily="34" charset="-122"/>
                <a:cs typeface="Calibri" pitchFamily="34" charset="-120"/>
              </a:rPr>
              <a:t>Global Voice Connectivity with Omaginfo LLC</a:t>
            </a:r>
            <a:endParaRPr lang="en-US" sz="1800" dirty="0"/>
          </a:p>
        </p:txBody>
      </p:sp>
      <p:sp>
        <p:nvSpPr>
          <p:cNvPr id="17" name="Text 15"/>
          <p:cNvSpPr txBox="1"/>
          <p:nvPr/>
        </p:nvSpPr>
        <p:spPr>
          <a:xfrm>
            <a:off x="749808" y="3200400"/>
            <a:ext cx="3108960" cy="1051560"/>
          </a:xfrm>
          <a:prstGeom prst="rect">
            <a:avLst/>
          </a:prstGeom>
          <a:noFill/>
          <a:ln/>
        </p:spPr>
        <p:txBody>
          <a:bodyPr wrap="square" lIns="0" tIns="0" rIns="0" bIns="0" rtlCol="0" anchor="t"/>
          <a:lstStyle/>
          <a:p>
            <a:pPr indent="0" marL="0">
              <a:buNone/>
            </a:pPr>
            <a:r>
              <a:rPr lang="en-US" sz="800" dirty="0">
                <a:solidFill>
                  <a:srgbClr val="5F6075"/>
                </a:solidFill>
                <a:latin typeface="Calibri" pitchFamily="34" charset="0"/>
                <a:ea typeface="Calibri" pitchFamily="34" charset="-122"/>
                <a:cs typeface="Calibri" pitchFamily="34" charset="-120"/>
              </a:rPr>
              <a:t>At Omaginfo LLC, we provide international voice connectivity solutions designed to meet the needs of telecom operators, carriers, and service providers. Our VoIP and voice termination services help partners connect across international destinations through flexible routing options and commercially competitive solutions.</a:t>
            </a:r>
            <a:endParaRPr lang="en-US" sz="800" dirty="0"/>
          </a:p>
        </p:txBody>
      </p:sp>
      <p:sp>
        <p:nvSpPr>
          <p:cNvPr id="18" name="Shape 16"/>
          <p:cNvSpPr/>
          <p:nvPr/>
        </p:nvSpPr>
        <p:spPr>
          <a:xfrm>
            <a:off x="749808" y="4343400"/>
            <a:ext cx="1411834" cy="256032"/>
          </a:xfrm>
          <a:prstGeom prst="roundRect">
            <a:avLst>
              <a:gd name="adj" fmla="val 50000"/>
            </a:avLst>
          </a:prstGeom>
          <a:solidFill>
            <a:srgbClr val="7B6CF6"/>
          </a:solidFill>
          <a:ln/>
        </p:spPr>
      </p:sp>
      <p:sp>
        <p:nvSpPr>
          <p:cNvPr id="19" name="Text 17"/>
          <p:cNvSpPr txBox="1"/>
          <p:nvPr/>
        </p:nvSpPr>
        <p:spPr>
          <a:xfrm>
            <a:off x="749808" y="4343400"/>
            <a:ext cx="141183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Discuss Voice Routes</a:t>
            </a:r>
            <a:endParaRPr lang="en-US" sz="850" dirty="0"/>
          </a:p>
        </p:txBody>
      </p:sp>
      <p:sp>
        <p:nvSpPr>
          <p:cNvPr id="20" name="Text 18"/>
          <p:cNvSpPr txBox="1"/>
          <p:nvPr/>
        </p:nvSpPr>
        <p:spPr>
          <a:xfrm>
            <a:off x="2143354" y="429768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1" name="Shape 19"/>
          <p:cNvSpPr/>
          <p:nvPr/>
        </p:nvSpPr>
        <p:spPr>
          <a:xfrm>
            <a:off x="2271370" y="4343400"/>
            <a:ext cx="1355872" cy="256032"/>
          </a:xfrm>
          <a:prstGeom prst="roundRect">
            <a:avLst>
              <a:gd name="adj" fmla="val 50000"/>
            </a:avLst>
          </a:prstGeom>
          <a:solidFill>
            <a:srgbClr val="F3F2FA"/>
          </a:solidFill>
          <a:ln w="9525">
            <a:solidFill>
              <a:srgbClr val="E4E3EF"/>
            </a:solidFill>
            <a:prstDash val="solid"/>
          </a:ln>
        </p:spPr>
      </p:sp>
      <p:sp>
        <p:nvSpPr>
          <p:cNvPr id="22" name="Text 20"/>
          <p:cNvSpPr txBox="1"/>
          <p:nvPr/>
        </p:nvSpPr>
        <p:spPr>
          <a:xfrm>
            <a:off x="2271370" y="4343400"/>
            <a:ext cx="1355872" cy="256032"/>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Our VoIP Services ↓</a:t>
            </a:r>
            <a:endParaRPr lang="en-US" sz="850" dirty="0"/>
          </a:p>
        </p:txBody>
      </p:sp>
      <p:sp>
        <p:nvSpPr>
          <p:cNvPr id="23" name="Shape 21"/>
          <p:cNvSpPr/>
          <p:nvPr/>
        </p:nvSpPr>
        <p:spPr>
          <a:xfrm>
            <a:off x="4133088" y="2011680"/>
            <a:ext cx="2743200" cy="2606040"/>
          </a:xfrm>
          <a:prstGeom prst="roundRect">
            <a:avLst>
              <a:gd name="adj" fmla="val 3509"/>
            </a:avLst>
          </a:prstGeom>
          <a:solidFill>
            <a:srgbClr val="ECEBFF"/>
          </a:solidFill>
          <a:ln w="9525">
            <a:solidFill>
              <a:srgbClr val="B3A8FF"/>
            </a:solidFill>
            <a:prstDash val="dash"/>
          </a:ln>
        </p:spPr>
      </p:sp>
      <p:pic>
        <p:nvPicPr>
          <p:cNvPr id="24" name="Image 0" descr="preencoded.png">    </p:cNvPr>
          <p:cNvPicPr>
            <a:picLocks noChangeAspect="1"/>
          </p:cNvPicPr>
          <p:nvPr/>
        </p:nvPicPr>
        <p:blipFill>
          <a:blip r:embed="rId1"/>
          <a:stretch>
            <a:fillRect/>
          </a:stretch>
        </p:blipFill>
        <p:spPr>
          <a:xfrm>
            <a:off x="5312664" y="3003804"/>
            <a:ext cx="384048" cy="384048"/>
          </a:xfrm>
          <a:prstGeom prst="rect">
            <a:avLst/>
          </a:prstGeom>
        </p:spPr>
      </p:pic>
      <p:sp>
        <p:nvSpPr>
          <p:cNvPr id="25" name="Text 22"/>
          <p:cNvSpPr txBox="1"/>
          <p:nvPr/>
        </p:nvSpPr>
        <p:spPr>
          <a:xfrm>
            <a:off x="4206240" y="3451860"/>
            <a:ext cx="2596896" cy="384048"/>
          </a:xfrm>
          <a:prstGeom prst="rect">
            <a:avLst/>
          </a:prstGeom>
          <a:noFill/>
          <a:ln/>
        </p:spPr>
        <p:txBody>
          <a:bodyPr wrap="square" lIns="0" tIns="0" rIns="0" bIns="0" rtlCol="0" anchor="t"/>
          <a:lstStyle/>
          <a:p>
            <a:pPr algn="ctr" indent="0" marL="0">
              <a:buNone/>
            </a:pPr>
            <a:r>
              <a:rPr lang="en-US" sz="750" i="1" dirty="0">
                <a:solidFill>
                  <a:srgbClr val="5F6075"/>
                </a:solidFill>
                <a:latin typeface="Calibri" pitchFamily="34" charset="0"/>
                <a:ea typeface="Calibri" pitchFamily="34" charset="-122"/>
                <a:cs typeface="Calibri" pitchFamily="34" charset="-120"/>
              </a:rPr>
              <a:t>Isometric phone handset with voice waves travelling along routes across a globe</a:t>
            </a:r>
            <a:endParaRPr lang="en-US" sz="750" dirty="0"/>
          </a:p>
        </p:txBody>
      </p:sp>
      <p:sp>
        <p:nvSpPr>
          <p:cNvPr id="26" name="Shape 23"/>
          <p:cNvSpPr/>
          <p:nvPr/>
        </p:nvSpPr>
        <p:spPr>
          <a:xfrm>
            <a:off x="749808" y="4846320"/>
            <a:ext cx="6135624" cy="1005840"/>
          </a:xfrm>
          <a:prstGeom prst="roundRect">
            <a:avLst>
              <a:gd name="adj" fmla="val 12727"/>
            </a:avLst>
          </a:prstGeom>
          <a:solidFill>
            <a:srgbClr val="FFFFFF"/>
          </a:solidFill>
          <a:ln w="9525">
            <a:solidFill>
              <a:srgbClr val="E4E3EF"/>
            </a:solidFill>
            <a:prstDash val="solid"/>
          </a:ln>
        </p:spPr>
      </p:sp>
      <p:sp>
        <p:nvSpPr>
          <p:cNvPr id="27" name="Text 24"/>
          <p:cNvSpPr txBox="1"/>
          <p:nvPr/>
        </p:nvSpPr>
        <p:spPr>
          <a:xfrm>
            <a:off x="932688" y="4983480"/>
            <a:ext cx="2880360" cy="105156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We understand that successful voice traffic management depends on route availability, call quality, efficient routing, and responsive technical coordination. Our focus is to help partners meet their connectivity requirements while supporting their commercial objectives in an evolving telecommunications market.</a:t>
            </a:r>
            <a:endParaRPr lang="en-US" sz="750" dirty="0"/>
          </a:p>
        </p:txBody>
      </p:sp>
      <p:sp>
        <p:nvSpPr>
          <p:cNvPr id="28" name="Text 25"/>
          <p:cNvSpPr txBox="1"/>
          <p:nvPr/>
        </p:nvSpPr>
        <p:spPr>
          <a:xfrm>
            <a:off x="3995928" y="4983480"/>
            <a:ext cx="2697480" cy="105156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Whether you are expanding your international voice coverage or looking for new routing partnerships, Omaginfo LLC offers a business-focused approach to global voice connectivity.</a:t>
            </a:r>
            <a:endParaRPr lang="en-US" sz="750" dirty="0"/>
          </a:p>
        </p:txBody>
      </p:sp>
      <p:sp>
        <p:nvSpPr>
          <p:cNvPr id="29" name="Text 26"/>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30" name="Shape 27"/>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31" name="Image 1" descr="preencoded.png">    </p:cNvPr>
          <p:cNvPicPr>
            <a:picLocks noChangeAspect="1"/>
          </p:cNvPicPr>
          <p:nvPr/>
        </p:nvPicPr>
        <p:blipFill>
          <a:blip r:embed="rId2"/>
          <a:stretch>
            <a:fillRect/>
          </a:stretch>
        </p:blipFill>
        <p:spPr>
          <a:xfrm>
            <a:off x="8713030" y="1591056"/>
            <a:ext cx="1593460" cy="822960"/>
          </a:xfrm>
          <a:prstGeom prst="rect">
            <a:avLst/>
          </a:prstGeom>
        </p:spPr>
      </p:pic>
      <p:sp>
        <p:nvSpPr>
          <p:cNvPr id="32" name="Shape 28"/>
          <p:cNvSpPr/>
          <p:nvPr/>
        </p:nvSpPr>
        <p:spPr>
          <a:xfrm>
            <a:off x="7360920" y="2587752"/>
            <a:ext cx="274320" cy="274320"/>
          </a:xfrm>
          <a:prstGeom prst="ellipse">
            <a:avLst/>
          </a:prstGeom>
          <a:solidFill>
            <a:srgbClr val="ECEBFF"/>
          </a:solidFill>
          <a:ln/>
        </p:spPr>
      </p:sp>
      <p:pic>
        <p:nvPicPr>
          <p:cNvPr id="33" name="Image 2" descr="preencoded.png">    </p:cNvPr>
          <p:cNvPicPr>
            <a:picLocks noChangeAspect="1"/>
          </p:cNvPicPr>
          <p:nvPr/>
        </p:nvPicPr>
        <p:blipFill>
          <a:blip r:embed="rId3"/>
          <a:stretch>
            <a:fillRect/>
          </a:stretch>
        </p:blipFill>
        <p:spPr>
          <a:xfrm>
            <a:off x="7429500" y="2656332"/>
            <a:ext cx="137160" cy="137160"/>
          </a:xfrm>
          <a:prstGeom prst="rect">
            <a:avLst/>
          </a:prstGeom>
        </p:spPr>
      </p:pic>
      <p:sp>
        <p:nvSpPr>
          <p:cNvPr id="34" name="Text 29"/>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35" name="Text 30"/>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Breadcrumb + hero in the Home hero format (text left, art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Intro card below: two text columns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single column, art after buttons</a:t>
            </a:r>
            <a:endParaRPr lang="en-US" sz="1100" dirty="0"/>
          </a:p>
        </p:txBody>
      </p:sp>
      <p:sp>
        <p:nvSpPr>
          <p:cNvPr id="36" name="Shape 31"/>
          <p:cNvSpPr/>
          <p:nvPr/>
        </p:nvSpPr>
        <p:spPr>
          <a:xfrm>
            <a:off x="7360920" y="3534156"/>
            <a:ext cx="274320" cy="274320"/>
          </a:xfrm>
          <a:prstGeom prst="ellipse">
            <a:avLst/>
          </a:prstGeom>
          <a:solidFill>
            <a:srgbClr val="ECEBFF"/>
          </a:solidFill>
          <a:ln/>
        </p:spPr>
      </p:sp>
      <p:pic>
        <p:nvPicPr>
          <p:cNvPr id="37" name="Image 3" descr="preencoded.png">    </p:cNvPr>
          <p:cNvPicPr>
            <a:picLocks noChangeAspect="1"/>
          </p:cNvPicPr>
          <p:nvPr/>
        </p:nvPicPr>
        <p:blipFill>
          <a:blip r:embed="rId4"/>
          <a:stretch>
            <a:fillRect/>
          </a:stretch>
        </p:blipFill>
        <p:spPr>
          <a:xfrm>
            <a:off x="7429500" y="3602736"/>
            <a:ext cx="137160" cy="137160"/>
          </a:xfrm>
          <a:prstGeom prst="rect">
            <a:avLst/>
          </a:prstGeom>
        </p:spPr>
      </p:pic>
      <p:sp>
        <p:nvSpPr>
          <p:cNvPr id="38" name="Text 32"/>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39" name="Text 33"/>
          <p:cNvSpPr txBox="1"/>
          <p:nvPr/>
        </p:nvSpPr>
        <p:spPr>
          <a:xfrm>
            <a:off x="7726680" y="382676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H1 and three intro paragraphs verbatim (item 6)</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Eyebrow 'VoIP Services' ✱</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Buttons ✱: 'Discuss Voice Routes', 'Our VoIP Services ↓'</a:t>
            </a:r>
            <a:endParaRPr lang="en-US" sz="1100" dirty="0"/>
          </a:p>
        </p:txBody>
      </p:sp>
      <p:sp>
        <p:nvSpPr>
          <p:cNvPr id="40" name="Shape 34"/>
          <p:cNvSpPr/>
          <p:nvPr/>
        </p:nvSpPr>
        <p:spPr>
          <a:xfrm>
            <a:off x="7360920" y="4480560"/>
            <a:ext cx="274320" cy="274320"/>
          </a:xfrm>
          <a:prstGeom prst="ellipse">
            <a:avLst/>
          </a:prstGeom>
          <a:solidFill>
            <a:srgbClr val="ECEBFF"/>
          </a:solidFill>
          <a:ln/>
        </p:spPr>
      </p:sp>
      <p:pic>
        <p:nvPicPr>
          <p:cNvPr id="41" name="Image 4" descr="preencoded.png">    </p:cNvPr>
          <p:cNvPicPr>
            <a:picLocks noChangeAspect="1"/>
          </p:cNvPicPr>
          <p:nvPr/>
        </p:nvPicPr>
        <p:blipFill>
          <a:blip r:embed="rId5"/>
          <a:stretch>
            <a:fillRect/>
          </a:stretch>
        </p:blipFill>
        <p:spPr>
          <a:xfrm>
            <a:off x="7429500" y="4549140"/>
            <a:ext cx="137160" cy="137160"/>
          </a:xfrm>
          <a:prstGeom prst="rect">
            <a:avLst/>
          </a:prstGeom>
        </p:spPr>
      </p:pic>
      <p:sp>
        <p:nvSpPr>
          <p:cNvPr id="42" name="Text 35"/>
          <p:cNvSpPr txBox="1"/>
          <p:nvPr/>
        </p:nvSpPr>
        <p:spPr>
          <a:xfrm>
            <a:off x="7726680" y="449884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43" name="Text 36"/>
          <p:cNvSpPr txBox="1"/>
          <p:nvPr/>
        </p:nvSpPr>
        <p:spPr>
          <a:xfrm>
            <a:off x="7726680" y="477316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New isometric SVG: handset, voice waves, route arcs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Same purple glow background as Home hero</a:t>
            </a:r>
            <a:endParaRPr lang="en-US" sz="1100" dirty="0"/>
          </a:p>
        </p:txBody>
      </p:sp>
      <p:sp>
        <p:nvSpPr>
          <p:cNvPr id="44" name="Shape 37"/>
          <p:cNvSpPr/>
          <p:nvPr/>
        </p:nvSpPr>
        <p:spPr>
          <a:xfrm>
            <a:off x="7360920" y="5257800"/>
            <a:ext cx="274320" cy="274320"/>
          </a:xfrm>
          <a:prstGeom prst="ellipse">
            <a:avLst/>
          </a:prstGeom>
          <a:solidFill>
            <a:srgbClr val="ECEBFF"/>
          </a:solidFill>
          <a:ln/>
        </p:spPr>
      </p:sp>
      <p:pic>
        <p:nvPicPr>
          <p:cNvPr id="45" name="Image 5" descr="preencoded.png">    </p:cNvPr>
          <p:cNvPicPr>
            <a:picLocks noChangeAspect="1"/>
          </p:cNvPicPr>
          <p:nvPr/>
        </p:nvPicPr>
        <p:blipFill>
          <a:blip r:embed="rId6"/>
          <a:stretch>
            <a:fillRect/>
          </a:stretch>
        </p:blipFill>
        <p:spPr>
          <a:xfrm>
            <a:off x="7429500" y="5326380"/>
            <a:ext cx="137160" cy="137160"/>
          </a:xfrm>
          <a:prstGeom prst="rect">
            <a:avLst/>
          </a:prstGeom>
        </p:spPr>
      </p:pic>
      <p:sp>
        <p:nvSpPr>
          <p:cNvPr id="46" name="Text 38"/>
          <p:cNvSpPr txBox="1"/>
          <p:nvPr/>
        </p:nvSpPr>
        <p:spPr>
          <a:xfrm>
            <a:off x="7726680" y="527608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47" name="Text 39"/>
          <p:cNvSpPr txBox="1"/>
          <p:nvPr/>
        </p:nvSpPr>
        <p:spPr>
          <a:xfrm>
            <a:off x="7726680" y="555040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Discuss Voice Routes → Contact (Voice pre-selected)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Our VoIP Services ↓ smooth-scrolls to the services grid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Our VoIP Services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VOIP PAGE · SECTION 2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omaginfo.com/services/voip</a:t>
            </a:r>
            <a:endParaRPr lang="en-US" sz="700" dirty="0"/>
          </a:p>
        </p:txBody>
      </p:sp>
      <p:sp>
        <p:nvSpPr>
          <p:cNvPr id="12" name="Shape 10"/>
          <p:cNvSpPr/>
          <p:nvPr/>
        </p:nvSpPr>
        <p:spPr>
          <a:xfrm>
            <a:off x="3462833" y="1737360"/>
            <a:ext cx="709574" cy="201168"/>
          </a:xfrm>
          <a:prstGeom prst="roundRect">
            <a:avLst>
              <a:gd name="adj" fmla="val 50000"/>
            </a:avLst>
          </a:prstGeom>
          <a:solidFill>
            <a:srgbClr val="ECEBFF"/>
          </a:solidFill>
          <a:ln/>
        </p:spPr>
      </p:sp>
      <p:sp>
        <p:nvSpPr>
          <p:cNvPr id="13" name="Text 11"/>
          <p:cNvSpPr txBox="1"/>
          <p:nvPr/>
        </p:nvSpPr>
        <p:spPr>
          <a:xfrm>
            <a:off x="3462833" y="1737360"/>
            <a:ext cx="709574"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SERVICES</a:t>
            </a:r>
            <a:endParaRPr lang="en-US" sz="700" dirty="0"/>
          </a:p>
        </p:txBody>
      </p:sp>
      <p:sp>
        <p:nvSpPr>
          <p:cNvPr id="14" name="Text 12"/>
          <p:cNvSpPr txBox="1"/>
          <p:nvPr/>
        </p:nvSpPr>
        <p:spPr>
          <a:xfrm>
            <a:off x="4201668" y="167335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15" name="Text 13"/>
          <p:cNvSpPr txBox="1"/>
          <p:nvPr/>
        </p:nvSpPr>
        <p:spPr>
          <a:xfrm>
            <a:off x="749808" y="2011680"/>
            <a:ext cx="6135624" cy="365760"/>
          </a:xfrm>
          <a:prstGeom prst="rect">
            <a:avLst/>
          </a:prstGeom>
          <a:noFill/>
          <a:ln/>
        </p:spPr>
        <p:txBody>
          <a:bodyPr wrap="square" lIns="0" tIns="0" rIns="0" bIns="0" rtlCol="0" anchor="t"/>
          <a:lstStyle/>
          <a:p>
            <a:pPr algn="ctr" indent="0" marL="0">
              <a:buNone/>
            </a:pPr>
            <a:r>
              <a:rPr lang="en-US" sz="1700" b="1" dirty="0">
                <a:solidFill>
                  <a:srgbClr val="16161F"/>
                </a:solidFill>
                <a:latin typeface="Calibri" pitchFamily="34" charset="0"/>
                <a:ea typeface="Calibri" pitchFamily="34" charset="-122"/>
                <a:cs typeface="Calibri" pitchFamily="34" charset="-120"/>
              </a:rPr>
              <a:t>Our VoIP Services</a:t>
            </a:r>
            <a:endParaRPr lang="en-US" sz="1700" dirty="0"/>
          </a:p>
        </p:txBody>
      </p:sp>
      <p:sp>
        <p:nvSpPr>
          <p:cNvPr id="16" name="Shape 14"/>
          <p:cNvSpPr/>
          <p:nvPr/>
        </p:nvSpPr>
        <p:spPr>
          <a:xfrm>
            <a:off x="749808" y="2560320"/>
            <a:ext cx="2999232" cy="1645920"/>
          </a:xfrm>
          <a:prstGeom prst="roundRect">
            <a:avLst>
              <a:gd name="adj" fmla="val 8889"/>
            </a:avLst>
          </a:prstGeom>
          <a:solidFill>
            <a:srgbClr val="1B1B28"/>
          </a:solidFill>
          <a:ln/>
        </p:spPr>
      </p:sp>
      <p:sp>
        <p:nvSpPr>
          <p:cNvPr id="17" name="Shape 15"/>
          <p:cNvSpPr/>
          <p:nvPr/>
        </p:nvSpPr>
        <p:spPr>
          <a:xfrm>
            <a:off x="932688" y="2743200"/>
            <a:ext cx="457200" cy="457200"/>
          </a:xfrm>
          <a:prstGeom prst="ellipse">
            <a:avLst/>
          </a:prstGeom>
          <a:solidFill>
            <a:srgbClr val="3A3360"/>
          </a:solidFill>
          <a:ln/>
        </p:spPr>
      </p:sp>
      <p:pic>
        <p:nvPicPr>
          <p:cNvPr id="18" name="Image 0" descr="preencoded.png">    </p:cNvPr>
          <p:cNvPicPr>
            <a:picLocks noChangeAspect="1"/>
          </p:cNvPicPr>
          <p:nvPr/>
        </p:nvPicPr>
        <p:blipFill>
          <a:blip r:embed="rId1"/>
          <a:stretch>
            <a:fillRect/>
          </a:stretch>
        </p:blipFill>
        <p:spPr>
          <a:xfrm>
            <a:off x="1051560" y="2862072"/>
            <a:ext cx="219456" cy="219456"/>
          </a:xfrm>
          <a:prstGeom prst="rect">
            <a:avLst/>
          </a:prstGeom>
        </p:spPr>
      </p:pic>
      <p:sp>
        <p:nvSpPr>
          <p:cNvPr id="19" name="Text 16"/>
          <p:cNvSpPr txBox="1"/>
          <p:nvPr/>
        </p:nvSpPr>
        <p:spPr>
          <a:xfrm>
            <a:off x="1527048" y="2743200"/>
            <a:ext cx="21031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International Voice Termination</a:t>
            </a:r>
            <a:endParaRPr lang="en-US" sz="1100" dirty="0"/>
          </a:p>
        </p:txBody>
      </p:sp>
      <p:sp>
        <p:nvSpPr>
          <p:cNvPr id="20" name="Text 17"/>
          <p:cNvSpPr txBox="1"/>
          <p:nvPr/>
        </p:nvSpPr>
        <p:spPr>
          <a:xfrm>
            <a:off x="932688" y="3337560"/>
            <a:ext cx="2633472" cy="822960"/>
          </a:xfrm>
          <a:prstGeom prst="rect">
            <a:avLst/>
          </a:prstGeom>
          <a:noFill/>
          <a:ln/>
        </p:spPr>
        <p:txBody>
          <a:bodyPr wrap="square" lIns="0" tIns="0" rIns="0" bIns="0" rtlCol="0" anchor="t"/>
          <a:lstStyle/>
          <a:p>
            <a:pPr indent="0" marL="0">
              <a:buNone/>
            </a:pPr>
            <a:r>
              <a:rPr lang="en-US" sz="850" dirty="0">
                <a:solidFill>
                  <a:srgbClr val="C9C9DA"/>
                </a:solidFill>
                <a:latin typeface="Calibri" pitchFamily="34" charset="0"/>
                <a:ea typeface="Calibri" pitchFamily="34" charset="-122"/>
                <a:cs typeface="Calibri" pitchFamily="34" charset="-120"/>
              </a:rPr>
              <a:t>Access voice termination solutions across A–Z destinations, with routing options based on destination availability, traffic requirements, and commercial agreements.</a:t>
            </a:r>
            <a:endParaRPr lang="en-US" sz="850" dirty="0"/>
          </a:p>
        </p:txBody>
      </p:sp>
      <p:sp>
        <p:nvSpPr>
          <p:cNvPr id="21" name="Shape 18"/>
          <p:cNvSpPr/>
          <p:nvPr/>
        </p:nvSpPr>
        <p:spPr>
          <a:xfrm>
            <a:off x="3877056" y="2560320"/>
            <a:ext cx="2999232" cy="1645920"/>
          </a:xfrm>
          <a:prstGeom prst="roundRect">
            <a:avLst>
              <a:gd name="adj" fmla="val 8889"/>
            </a:avLst>
          </a:prstGeom>
          <a:solidFill>
            <a:srgbClr val="FFFFFF"/>
          </a:solidFill>
          <a:ln w="9525">
            <a:solidFill>
              <a:srgbClr val="E4E3EF"/>
            </a:solidFill>
            <a:prstDash val="solid"/>
          </a:ln>
        </p:spPr>
      </p:sp>
      <p:sp>
        <p:nvSpPr>
          <p:cNvPr id="22" name="Shape 19"/>
          <p:cNvSpPr/>
          <p:nvPr/>
        </p:nvSpPr>
        <p:spPr>
          <a:xfrm>
            <a:off x="4059936" y="2743200"/>
            <a:ext cx="457200" cy="457200"/>
          </a:xfrm>
          <a:prstGeom prst="ellipse">
            <a:avLst/>
          </a:prstGeom>
          <a:solidFill>
            <a:srgbClr val="ECEBFF"/>
          </a:solidFill>
          <a:ln/>
        </p:spPr>
      </p:sp>
      <p:pic>
        <p:nvPicPr>
          <p:cNvPr id="23" name="Image 1" descr="preencoded.png">    </p:cNvPr>
          <p:cNvPicPr>
            <a:picLocks noChangeAspect="1"/>
          </p:cNvPicPr>
          <p:nvPr/>
        </p:nvPicPr>
        <p:blipFill>
          <a:blip r:embed="rId2"/>
          <a:stretch>
            <a:fillRect/>
          </a:stretch>
        </p:blipFill>
        <p:spPr>
          <a:xfrm>
            <a:off x="4178808" y="2862072"/>
            <a:ext cx="219456" cy="219456"/>
          </a:xfrm>
          <a:prstGeom prst="rect">
            <a:avLst/>
          </a:prstGeom>
        </p:spPr>
      </p:pic>
      <p:sp>
        <p:nvSpPr>
          <p:cNvPr id="24" name="Text 20"/>
          <p:cNvSpPr txBox="1"/>
          <p:nvPr/>
        </p:nvSpPr>
        <p:spPr>
          <a:xfrm>
            <a:off x="4654296" y="2743200"/>
            <a:ext cx="2103120" cy="457200"/>
          </a:xfrm>
          <a:prstGeom prst="rect">
            <a:avLst/>
          </a:prstGeom>
          <a:noFill/>
          <a:ln/>
        </p:spPr>
        <p:txBody>
          <a:bodyPr wrap="square" lIns="0" tIns="0" rIns="0" bIns="0" rtlCol="0" anchor="ctr"/>
          <a:lstStyle/>
          <a:p>
            <a:pPr indent="0" marL="0">
              <a:buNone/>
            </a:pPr>
            <a:r>
              <a:rPr lang="en-US" sz="1100" b="1" dirty="0">
                <a:solidFill>
                  <a:srgbClr val="16161F"/>
                </a:solidFill>
                <a:latin typeface="Calibri" pitchFamily="34" charset="0"/>
                <a:ea typeface="Calibri" pitchFamily="34" charset="-122"/>
                <a:cs typeface="Calibri" pitchFamily="34" charset="-120"/>
              </a:rPr>
              <a:t>Quality-Focused Routing</a:t>
            </a:r>
            <a:endParaRPr lang="en-US" sz="1100" dirty="0"/>
          </a:p>
        </p:txBody>
      </p:sp>
      <p:sp>
        <p:nvSpPr>
          <p:cNvPr id="25" name="Text 21"/>
          <p:cNvSpPr txBox="1"/>
          <p:nvPr/>
        </p:nvSpPr>
        <p:spPr>
          <a:xfrm>
            <a:off x="4059936" y="3337560"/>
            <a:ext cx="2633472" cy="822960"/>
          </a:xfrm>
          <a:prstGeom prst="rect">
            <a:avLst/>
          </a:prstGeom>
          <a:noFill/>
          <a:ln/>
        </p:spPr>
        <p:txBody>
          <a:bodyPr wrap="square" lIns="0" tIns="0" rIns="0" bIns="0" rtlCol="0" anchor="t"/>
          <a:lstStyle/>
          <a:p>
            <a:pPr indent="0" marL="0">
              <a:buNone/>
            </a:pPr>
            <a:r>
              <a:rPr lang="en-US" sz="850" dirty="0">
                <a:solidFill>
                  <a:srgbClr val="5F6075"/>
                </a:solidFill>
                <a:latin typeface="Calibri" pitchFamily="34" charset="0"/>
                <a:ea typeface="Calibri" pitchFamily="34" charset="-122"/>
                <a:cs typeface="Calibri" pitchFamily="34" charset="-120"/>
              </a:rPr>
              <a:t>We prioritize route selection based on available quality information, agreed technical parameters, and partner requirements to support consistent voice connectivity.</a:t>
            </a:r>
            <a:endParaRPr lang="en-US" sz="850" dirty="0"/>
          </a:p>
        </p:txBody>
      </p:sp>
      <p:sp>
        <p:nvSpPr>
          <p:cNvPr id="26" name="Shape 22"/>
          <p:cNvSpPr/>
          <p:nvPr/>
        </p:nvSpPr>
        <p:spPr>
          <a:xfrm>
            <a:off x="749808" y="4343400"/>
            <a:ext cx="2999232" cy="1645920"/>
          </a:xfrm>
          <a:prstGeom prst="roundRect">
            <a:avLst>
              <a:gd name="adj" fmla="val 8889"/>
            </a:avLst>
          </a:prstGeom>
          <a:solidFill>
            <a:srgbClr val="FFFFFF"/>
          </a:solidFill>
          <a:ln w="9525">
            <a:solidFill>
              <a:srgbClr val="E4E3EF"/>
            </a:solidFill>
            <a:prstDash val="solid"/>
          </a:ln>
        </p:spPr>
      </p:sp>
      <p:sp>
        <p:nvSpPr>
          <p:cNvPr id="27" name="Shape 23"/>
          <p:cNvSpPr/>
          <p:nvPr/>
        </p:nvSpPr>
        <p:spPr>
          <a:xfrm>
            <a:off x="932688" y="4526280"/>
            <a:ext cx="457200" cy="457200"/>
          </a:xfrm>
          <a:prstGeom prst="ellipse">
            <a:avLst/>
          </a:prstGeom>
          <a:solidFill>
            <a:srgbClr val="ECEBFF"/>
          </a:solidFill>
          <a:ln/>
        </p:spPr>
      </p:sp>
      <p:pic>
        <p:nvPicPr>
          <p:cNvPr id="28" name="Image 2" descr="preencoded.png">    </p:cNvPr>
          <p:cNvPicPr>
            <a:picLocks noChangeAspect="1"/>
          </p:cNvPicPr>
          <p:nvPr/>
        </p:nvPicPr>
        <p:blipFill>
          <a:blip r:embed="rId3"/>
          <a:stretch>
            <a:fillRect/>
          </a:stretch>
        </p:blipFill>
        <p:spPr>
          <a:xfrm>
            <a:off x="1051560" y="4645152"/>
            <a:ext cx="219456" cy="219456"/>
          </a:xfrm>
          <a:prstGeom prst="rect">
            <a:avLst/>
          </a:prstGeom>
        </p:spPr>
      </p:pic>
      <p:sp>
        <p:nvSpPr>
          <p:cNvPr id="29" name="Text 24"/>
          <p:cNvSpPr txBox="1"/>
          <p:nvPr/>
        </p:nvSpPr>
        <p:spPr>
          <a:xfrm>
            <a:off x="1527048" y="4526280"/>
            <a:ext cx="2103120" cy="457200"/>
          </a:xfrm>
          <a:prstGeom prst="rect">
            <a:avLst/>
          </a:prstGeom>
          <a:noFill/>
          <a:ln/>
        </p:spPr>
        <p:txBody>
          <a:bodyPr wrap="square" lIns="0" tIns="0" rIns="0" bIns="0" rtlCol="0" anchor="ctr"/>
          <a:lstStyle/>
          <a:p>
            <a:pPr indent="0" marL="0">
              <a:buNone/>
            </a:pPr>
            <a:r>
              <a:rPr lang="en-US" sz="1100" b="1" dirty="0">
                <a:solidFill>
                  <a:srgbClr val="16161F"/>
                </a:solidFill>
                <a:latin typeface="Calibri" pitchFamily="34" charset="0"/>
                <a:ea typeface="Calibri" pitchFamily="34" charset="-122"/>
                <a:cs typeface="Calibri" pitchFamily="34" charset="-120"/>
              </a:rPr>
              <a:t>Flexible Connectivity Options</a:t>
            </a:r>
            <a:endParaRPr lang="en-US" sz="1100" dirty="0"/>
          </a:p>
        </p:txBody>
      </p:sp>
      <p:sp>
        <p:nvSpPr>
          <p:cNvPr id="30" name="Text 25"/>
          <p:cNvSpPr txBox="1"/>
          <p:nvPr/>
        </p:nvSpPr>
        <p:spPr>
          <a:xfrm>
            <a:off x="932688" y="5120640"/>
            <a:ext cx="2633472" cy="822960"/>
          </a:xfrm>
          <a:prstGeom prst="rect">
            <a:avLst/>
          </a:prstGeom>
          <a:noFill/>
          <a:ln/>
        </p:spPr>
        <p:txBody>
          <a:bodyPr wrap="square" lIns="0" tIns="0" rIns="0" bIns="0" rtlCol="0" anchor="t"/>
          <a:lstStyle/>
          <a:p>
            <a:pPr indent="0" marL="0">
              <a:buNone/>
            </a:pPr>
            <a:r>
              <a:rPr lang="en-US" sz="850" dirty="0">
                <a:solidFill>
                  <a:srgbClr val="5F6075"/>
                </a:solidFill>
                <a:latin typeface="Calibri" pitchFamily="34" charset="0"/>
                <a:ea typeface="Calibri" pitchFamily="34" charset="-122"/>
                <a:cs typeface="Calibri" pitchFamily="34" charset="-120"/>
              </a:rPr>
              <a:t>Our solutions are designed to accommodate different traffic profiles and interconnection needs, helping operators establish suitable routing arrangements for their businesses.</a:t>
            </a:r>
            <a:endParaRPr lang="en-US" sz="850" dirty="0"/>
          </a:p>
        </p:txBody>
      </p:sp>
      <p:sp>
        <p:nvSpPr>
          <p:cNvPr id="31" name="Shape 26"/>
          <p:cNvSpPr/>
          <p:nvPr/>
        </p:nvSpPr>
        <p:spPr>
          <a:xfrm>
            <a:off x="3877056" y="4343400"/>
            <a:ext cx="2999232" cy="1645920"/>
          </a:xfrm>
          <a:prstGeom prst="roundRect">
            <a:avLst>
              <a:gd name="adj" fmla="val 8889"/>
            </a:avLst>
          </a:prstGeom>
          <a:solidFill>
            <a:srgbClr val="1B1B28"/>
          </a:solidFill>
          <a:ln/>
        </p:spPr>
      </p:sp>
      <p:sp>
        <p:nvSpPr>
          <p:cNvPr id="32" name="Shape 27"/>
          <p:cNvSpPr/>
          <p:nvPr/>
        </p:nvSpPr>
        <p:spPr>
          <a:xfrm>
            <a:off x="4059936" y="4526280"/>
            <a:ext cx="457200" cy="457200"/>
          </a:xfrm>
          <a:prstGeom prst="ellipse">
            <a:avLst/>
          </a:prstGeom>
          <a:solidFill>
            <a:srgbClr val="3A3360"/>
          </a:solidFill>
          <a:ln/>
        </p:spPr>
      </p:sp>
      <p:pic>
        <p:nvPicPr>
          <p:cNvPr id="33" name="Image 3" descr="preencoded.png">    </p:cNvPr>
          <p:cNvPicPr>
            <a:picLocks noChangeAspect="1"/>
          </p:cNvPicPr>
          <p:nvPr/>
        </p:nvPicPr>
        <p:blipFill>
          <a:blip r:embed="rId4"/>
          <a:stretch>
            <a:fillRect/>
          </a:stretch>
        </p:blipFill>
        <p:spPr>
          <a:xfrm>
            <a:off x="4178808" y="4645152"/>
            <a:ext cx="219456" cy="219456"/>
          </a:xfrm>
          <a:prstGeom prst="rect">
            <a:avLst/>
          </a:prstGeom>
        </p:spPr>
      </p:pic>
      <p:sp>
        <p:nvSpPr>
          <p:cNvPr id="34" name="Text 28"/>
          <p:cNvSpPr txBox="1"/>
          <p:nvPr/>
        </p:nvSpPr>
        <p:spPr>
          <a:xfrm>
            <a:off x="4654296" y="4526280"/>
            <a:ext cx="21031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Partner Support</a:t>
            </a:r>
            <a:endParaRPr lang="en-US" sz="1100" dirty="0"/>
          </a:p>
        </p:txBody>
      </p:sp>
      <p:sp>
        <p:nvSpPr>
          <p:cNvPr id="35" name="Text 29"/>
          <p:cNvSpPr txBox="1"/>
          <p:nvPr/>
        </p:nvSpPr>
        <p:spPr>
          <a:xfrm>
            <a:off x="4059936" y="5120640"/>
            <a:ext cx="2633472" cy="822960"/>
          </a:xfrm>
          <a:prstGeom prst="rect">
            <a:avLst/>
          </a:prstGeom>
          <a:noFill/>
          <a:ln/>
        </p:spPr>
        <p:txBody>
          <a:bodyPr wrap="square" lIns="0" tIns="0" rIns="0" bIns="0" rtlCol="0" anchor="t"/>
          <a:lstStyle/>
          <a:p>
            <a:pPr indent="0" marL="0">
              <a:buNone/>
            </a:pPr>
            <a:r>
              <a:rPr lang="en-US" sz="850" dirty="0">
                <a:solidFill>
                  <a:srgbClr val="C9C9DA"/>
                </a:solidFill>
                <a:latin typeface="Calibri" pitchFamily="34" charset="0"/>
                <a:ea typeface="Calibri" pitchFamily="34" charset="-122"/>
                <a:cs typeface="Calibri" pitchFamily="34" charset="-120"/>
              </a:rPr>
              <a:t>Our team works with partners to coordinate service requirements, address technical queries, and facilitate communication regarding routing and connectivity matters.</a:t>
            </a:r>
            <a:endParaRPr lang="en-US" sz="850" dirty="0"/>
          </a:p>
        </p:txBody>
      </p:sp>
      <p:sp>
        <p:nvSpPr>
          <p:cNvPr id="36" name="Text 30"/>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37" name="Shape 31"/>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38" name="Image 4" descr="preencoded.png">    </p:cNvPr>
          <p:cNvPicPr>
            <a:picLocks noChangeAspect="1"/>
          </p:cNvPicPr>
          <p:nvPr/>
        </p:nvPicPr>
        <p:blipFill>
          <a:blip r:embed="rId5"/>
          <a:stretch>
            <a:fillRect/>
          </a:stretch>
        </p:blipFill>
        <p:spPr>
          <a:xfrm>
            <a:off x="8003325" y="1591056"/>
            <a:ext cx="3012871" cy="822960"/>
          </a:xfrm>
          <a:prstGeom prst="rect">
            <a:avLst/>
          </a:prstGeom>
        </p:spPr>
      </p:pic>
      <p:sp>
        <p:nvSpPr>
          <p:cNvPr id="39" name="Shape 32"/>
          <p:cNvSpPr/>
          <p:nvPr/>
        </p:nvSpPr>
        <p:spPr>
          <a:xfrm>
            <a:off x="7360920" y="2587752"/>
            <a:ext cx="274320" cy="274320"/>
          </a:xfrm>
          <a:prstGeom prst="ellipse">
            <a:avLst/>
          </a:prstGeom>
          <a:solidFill>
            <a:srgbClr val="ECEBFF"/>
          </a:solidFill>
          <a:ln/>
        </p:spPr>
      </p:sp>
      <p:pic>
        <p:nvPicPr>
          <p:cNvPr id="40" name="Image 5" descr="preencoded.png">    </p:cNvPr>
          <p:cNvPicPr>
            <a:picLocks noChangeAspect="1"/>
          </p:cNvPicPr>
          <p:nvPr/>
        </p:nvPicPr>
        <p:blipFill>
          <a:blip r:embed="rId6"/>
          <a:stretch>
            <a:fillRect/>
          </a:stretch>
        </p:blipFill>
        <p:spPr>
          <a:xfrm>
            <a:off x="7429500" y="2656332"/>
            <a:ext cx="137160" cy="137160"/>
          </a:xfrm>
          <a:prstGeom prst="rect">
            <a:avLst/>
          </a:prstGeom>
        </p:spPr>
      </p:pic>
      <p:sp>
        <p:nvSpPr>
          <p:cNvPr id="41" name="Text 33"/>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2" name="Text 34"/>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section heading</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2 × 2 card grid, alternating dark and light (checkerboard)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Tablet: 2 columns; phone: 1 column</a:t>
            </a:r>
            <a:endParaRPr lang="en-US" sz="1100" dirty="0"/>
          </a:p>
        </p:txBody>
      </p:sp>
      <p:sp>
        <p:nvSpPr>
          <p:cNvPr id="43" name="Shape 35"/>
          <p:cNvSpPr/>
          <p:nvPr/>
        </p:nvSpPr>
        <p:spPr>
          <a:xfrm>
            <a:off x="7360920" y="3534156"/>
            <a:ext cx="274320" cy="274320"/>
          </a:xfrm>
          <a:prstGeom prst="ellipse">
            <a:avLst/>
          </a:prstGeom>
          <a:solidFill>
            <a:srgbClr val="ECEBFF"/>
          </a:solidFill>
          <a:ln/>
        </p:spPr>
      </p:sp>
      <p:pic>
        <p:nvPicPr>
          <p:cNvPr id="44" name="Image 6" descr="preencoded.png">    </p:cNvPr>
          <p:cNvPicPr>
            <a:picLocks noChangeAspect="1"/>
          </p:cNvPicPr>
          <p:nvPr/>
        </p:nvPicPr>
        <p:blipFill>
          <a:blip r:embed="rId7"/>
          <a:stretch>
            <a:fillRect/>
          </a:stretch>
        </p:blipFill>
        <p:spPr>
          <a:xfrm>
            <a:off x="7429500" y="3602736"/>
            <a:ext cx="137160" cy="137160"/>
          </a:xfrm>
          <a:prstGeom prst="rect">
            <a:avLst/>
          </a:prstGeom>
        </p:spPr>
      </p:pic>
      <p:sp>
        <p:nvSpPr>
          <p:cNvPr id="45" name="Text 36"/>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6" name="Text 37"/>
          <p:cNvSpPr txBox="1"/>
          <p:nvPr/>
        </p:nvSpPr>
        <p:spPr>
          <a:xfrm>
            <a:off x="7726680" y="3826764"/>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and four service titles + descriptions verbatim (item 6)</a:t>
            </a:r>
            <a:endParaRPr lang="en-US" sz="1100" dirty="0"/>
          </a:p>
        </p:txBody>
      </p:sp>
      <p:sp>
        <p:nvSpPr>
          <p:cNvPr id="47" name="Shape 38"/>
          <p:cNvSpPr/>
          <p:nvPr/>
        </p:nvSpPr>
        <p:spPr>
          <a:xfrm>
            <a:off x="7360920" y="4142232"/>
            <a:ext cx="274320" cy="274320"/>
          </a:xfrm>
          <a:prstGeom prst="ellipse">
            <a:avLst/>
          </a:prstGeom>
          <a:solidFill>
            <a:srgbClr val="ECEBFF"/>
          </a:solidFill>
          <a:ln/>
        </p:spPr>
      </p:sp>
      <p:pic>
        <p:nvPicPr>
          <p:cNvPr id="48" name="Image 7" descr="preencoded.png">    </p:cNvPr>
          <p:cNvPicPr>
            <a:picLocks noChangeAspect="1"/>
          </p:cNvPicPr>
          <p:nvPr/>
        </p:nvPicPr>
        <p:blipFill>
          <a:blip r:embed="rId8"/>
          <a:stretch>
            <a:fillRect/>
          </a:stretch>
        </p:blipFill>
        <p:spPr>
          <a:xfrm>
            <a:off x="7429500" y="4210812"/>
            <a:ext cx="137160" cy="137160"/>
          </a:xfrm>
          <a:prstGeom prst="rect">
            <a:avLst/>
          </a:prstGeom>
        </p:spPr>
      </p:pic>
      <p:sp>
        <p:nvSpPr>
          <p:cNvPr id="49" name="Text 39"/>
          <p:cNvSpPr txBox="1"/>
          <p:nvPr/>
        </p:nvSpPr>
        <p:spPr>
          <a:xfrm>
            <a:off x="7726680" y="416052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0" name="Text 40"/>
          <p:cNvSpPr txBox="1"/>
          <p:nvPr/>
        </p:nvSpPr>
        <p:spPr>
          <a:xfrm>
            <a:off x="7726680" y="443484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One line icon per card in a circle (globe, route, network, headset)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Cards lift on hover; no stock photos needed</a:t>
            </a:r>
            <a:endParaRPr lang="en-US" sz="1100" dirty="0"/>
          </a:p>
        </p:txBody>
      </p:sp>
      <p:sp>
        <p:nvSpPr>
          <p:cNvPr id="51" name="Shape 41"/>
          <p:cNvSpPr/>
          <p:nvPr/>
        </p:nvSpPr>
        <p:spPr>
          <a:xfrm>
            <a:off x="7360920" y="5088636"/>
            <a:ext cx="274320" cy="274320"/>
          </a:xfrm>
          <a:prstGeom prst="ellipse">
            <a:avLst/>
          </a:prstGeom>
          <a:solidFill>
            <a:srgbClr val="ECEBFF"/>
          </a:solidFill>
          <a:ln/>
        </p:spPr>
      </p:sp>
      <p:pic>
        <p:nvPicPr>
          <p:cNvPr id="52" name="Image 8" descr="preencoded.png">    </p:cNvPr>
          <p:cNvPicPr>
            <a:picLocks noChangeAspect="1"/>
          </p:cNvPicPr>
          <p:nvPr/>
        </p:nvPicPr>
        <p:blipFill>
          <a:blip r:embed="rId9"/>
          <a:stretch>
            <a:fillRect/>
          </a:stretch>
        </p:blipFill>
        <p:spPr>
          <a:xfrm>
            <a:off x="7429500" y="5157216"/>
            <a:ext cx="137160" cy="137160"/>
          </a:xfrm>
          <a:prstGeom prst="rect">
            <a:avLst/>
          </a:prstGeom>
        </p:spPr>
      </p:pic>
      <p:sp>
        <p:nvSpPr>
          <p:cNvPr id="53" name="Text 42"/>
          <p:cNvSpPr txBox="1"/>
          <p:nvPr/>
        </p:nvSpPr>
        <p:spPr>
          <a:xfrm>
            <a:off x="7726680" y="510692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4" name="Text 43"/>
          <p:cNvSpPr txBox="1"/>
          <p:nvPr/>
        </p:nvSpPr>
        <p:spPr>
          <a:xfrm>
            <a:off x="7726680" y="538124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Informational cards (no links), anchor target for the hero's scroll button</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Scroll-reveal with staggered delay</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Approach, partner support and closing CTA</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VOIP PAGE · SECTION 3 OF 3</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omaginfo.com/services/voip</a:t>
            </a:r>
            <a:endParaRPr lang="en-US" sz="700" dirty="0"/>
          </a:p>
        </p:txBody>
      </p:sp>
      <p:sp>
        <p:nvSpPr>
          <p:cNvPr id="12" name="Text 10"/>
          <p:cNvSpPr txBox="1"/>
          <p:nvPr/>
        </p:nvSpPr>
        <p:spPr>
          <a:xfrm>
            <a:off x="749808" y="1737360"/>
            <a:ext cx="3017520" cy="54864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Voice Connectivity Built Around Your Business</a:t>
            </a:r>
            <a:endParaRPr lang="en-US" sz="1300" dirty="0"/>
          </a:p>
        </p:txBody>
      </p:sp>
      <p:sp>
        <p:nvSpPr>
          <p:cNvPr id="13" name="Text 11"/>
          <p:cNvSpPr txBox="1"/>
          <p:nvPr/>
        </p:nvSpPr>
        <p:spPr>
          <a:xfrm>
            <a:off x="749808" y="2331720"/>
            <a:ext cx="2926080" cy="100584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International voice traffic involves complex routing requirements, varying destination costs, and changing network conditions. Omaginfo LLC works with its partners to identify suitable routing opportunities and develop connectivity arrangements aligned with their business needs.</a:t>
            </a:r>
            <a:endParaRPr lang="en-US" sz="750" dirty="0"/>
          </a:p>
        </p:txBody>
      </p:sp>
      <p:sp>
        <p:nvSpPr>
          <p:cNvPr id="14" name="Shape 12"/>
          <p:cNvSpPr/>
          <p:nvPr/>
        </p:nvSpPr>
        <p:spPr>
          <a:xfrm>
            <a:off x="3904488" y="1737360"/>
            <a:ext cx="2971800" cy="438912"/>
          </a:xfrm>
          <a:prstGeom prst="roundRect">
            <a:avLst>
              <a:gd name="adj" fmla="val 16667"/>
            </a:avLst>
          </a:prstGeom>
          <a:solidFill>
            <a:srgbClr val="F3F2FA"/>
          </a:solidFill>
          <a:ln w="9525">
            <a:solidFill>
              <a:srgbClr val="E4E3EF"/>
            </a:solidFill>
            <a:prstDash val="solid"/>
          </a:ln>
        </p:spPr>
      </p:sp>
      <p:sp>
        <p:nvSpPr>
          <p:cNvPr id="15" name="Text 13"/>
          <p:cNvSpPr txBox="1"/>
          <p:nvPr/>
        </p:nvSpPr>
        <p:spPr>
          <a:xfrm>
            <a:off x="3995928" y="1737360"/>
            <a:ext cx="274320" cy="438912"/>
          </a:xfrm>
          <a:prstGeom prst="rect">
            <a:avLst/>
          </a:prstGeom>
          <a:noFill/>
          <a:ln/>
        </p:spPr>
        <p:txBody>
          <a:bodyPr wrap="square" lIns="0" tIns="0" rIns="0" bIns="0" rtlCol="0" anchor="ctr"/>
          <a:lstStyle/>
          <a:p>
            <a:pPr indent="0" marL="0">
              <a:buNone/>
            </a:pPr>
            <a:r>
              <a:rPr lang="en-US" sz="900" b="1" dirty="0">
                <a:solidFill>
                  <a:srgbClr val="7B6CF6"/>
                </a:solidFill>
                <a:latin typeface="Calibri" pitchFamily="34" charset="0"/>
                <a:ea typeface="Calibri" pitchFamily="34" charset="-122"/>
                <a:cs typeface="Calibri" pitchFamily="34" charset="-120"/>
              </a:rPr>
              <a:t>01</a:t>
            </a:r>
            <a:endParaRPr lang="en-US" sz="900" dirty="0"/>
          </a:p>
        </p:txBody>
      </p:sp>
      <p:sp>
        <p:nvSpPr>
          <p:cNvPr id="16" name="Text 14"/>
          <p:cNvSpPr txBox="1"/>
          <p:nvPr/>
        </p:nvSpPr>
        <p:spPr>
          <a:xfrm>
            <a:off x="4315968" y="1764792"/>
            <a:ext cx="2514600" cy="384048"/>
          </a:xfrm>
          <a:prstGeom prst="rect">
            <a:avLst/>
          </a:prstGeom>
          <a:noFill/>
          <a:ln/>
        </p:spPr>
        <p:txBody>
          <a:bodyPr wrap="square" lIns="0" tIns="0" rIns="0" bIns="0" rtlCol="0" anchor="ctr"/>
          <a:lstStyle/>
          <a:p>
            <a:pPr indent="0" marL="0">
              <a:buNone/>
            </a:pPr>
            <a:r>
              <a:rPr lang="en-US" sz="700" b="1" dirty="0">
                <a:solidFill>
                  <a:srgbClr val="16161F"/>
                </a:solidFill>
                <a:latin typeface="Calibri" pitchFamily="34" charset="0"/>
                <a:ea typeface="Calibri" pitchFamily="34" charset="-122"/>
                <a:cs typeface="Calibri" pitchFamily="34" charset="-120"/>
              </a:rPr>
              <a:t>International Reach – </a:t>
            </a:r>
            <a:pPr indent="0" marL="0">
              <a:buNone/>
            </a:pPr>
            <a:r>
              <a:rPr lang="en-US" sz="700" dirty="0">
                <a:solidFill>
                  <a:srgbClr val="5F6075"/>
                </a:solidFill>
                <a:latin typeface="Calibri" pitchFamily="34" charset="0"/>
                <a:ea typeface="Calibri" pitchFamily="34" charset="-122"/>
                <a:cs typeface="Calibri" pitchFamily="34" charset="-120"/>
              </a:rPr>
              <a:t>Voice termination opportunities across available global destinations.</a:t>
            </a:r>
            <a:endParaRPr lang="en-US" sz="700" dirty="0"/>
          </a:p>
        </p:txBody>
      </p:sp>
      <p:sp>
        <p:nvSpPr>
          <p:cNvPr id="17" name="Shape 15"/>
          <p:cNvSpPr/>
          <p:nvPr/>
        </p:nvSpPr>
        <p:spPr>
          <a:xfrm>
            <a:off x="3904488" y="2240280"/>
            <a:ext cx="2971800" cy="438912"/>
          </a:xfrm>
          <a:prstGeom prst="roundRect">
            <a:avLst>
              <a:gd name="adj" fmla="val 16667"/>
            </a:avLst>
          </a:prstGeom>
          <a:solidFill>
            <a:srgbClr val="FFFFFF"/>
          </a:solidFill>
          <a:ln w="9525">
            <a:solidFill>
              <a:srgbClr val="E4E3EF"/>
            </a:solidFill>
            <a:prstDash val="solid"/>
          </a:ln>
        </p:spPr>
      </p:sp>
      <p:sp>
        <p:nvSpPr>
          <p:cNvPr id="18" name="Text 16"/>
          <p:cNvSpPr txBox="1"/>
          <p:nvPr/>
        </p:nvSpPr>
        <p:spPr>
          <a:xfrm>
            <a:off x="3995928" y="2240280"/>
            <a:ext cx="274320" cy="438912"/>
          </a:xfrm>
          <a:prstGeom prst="rect">
            <a:avLst/>
          </a:prstGeom>
          <a:noFill/>
          <a:ln/>
        </p:spPr>
        <p:txBody>
          <a:bodyPr wrap="square" lIns="0" tIns="0" rIns="0" bIns="0" rtlCol="0" anchor="ctr"/>
          <a:lstStyle/>
          <a:p>
            <a:pPr indent="0" marL="0">
              <a:buNone/>
            </a:pPr>
            <a:r>
              <a:rPr lang="en-US" sz="900" b="1" dirty="0">
                <a:solidFill>
                  <a:srgbClr val="7B6CF6"/>
                </a:solidFill>
                <a:latin typeface="Calibri" pitchFamily="34" charset="0"/>
                <a:ea typeface="Calibri" pitchFamily="34" charset="-122"/>
                <a:cs typeface="Calibri" pitchFamily="34" charset="-120"/>
              </a:rPr>
              <a:t>02</a:t>
            </a:r>
            <a:endParaRPr lang="en-US" sz="900" dirty="0"/>
          </a:p>
        </p:txBody>
      </p:sp>
      <p:sp>
        <p:nvSpPr>
          <p:cNvPr id="19" name="Text 17"/>
          <p:cNvSpPr txBox="1"/>
          <p:nvPr/>
        </p:nvSpPr>
        <p:spPr>
          <a:xfrm>
            <a:off x="4315968" y="2267712"/>
            <a:ext cx="2514600" cy="384048"/>
          </a:xfrm>
          <a:prstGeom prst="rect">
            <a:avLst/>
          </a:prstGeom>
          <a:noFill/>
          <a:ln/>
        </p:spPr>
        <p:txBody>
          <a:bodyPr wrap="square" lIns="0" tIns="0" rIns="0" bIns="0" rtlCol="0" anchor="ctr"/>
          <a:lstStyle/>
          <a:p>
            <a:pPr indent="0" marL="0">
              <a:buNone/>
            </a:pPr>
            <a:r>
              <a:rPr lang="en-US" sz="700" b="1" dirty="0">
                <a:solidFill>
                  <a:srgbClr val="16161F"/>
                </a:solidFill>
                <a:latin typeface="Calibri" pitchFamily="34" charset="0"/>
                <a:ea typeface="Calibri" pitchFamily="34" charset="-122"/>
                <a:cs typeface="Calibri" pitchFamily="34" charset="-120"/>
              </a:rPr>
              <a:t>Route Selection – </a:t>
            </a:r>
            <a:pPr indent="0" marL="0">
              <a:buNone/>
            </a:pPr>
            <a:r>
              <a:rPr lang="en-US" sz="700" dirty="0">
                <a:solidFill>
                  <a:srgbClr val="5F6075"/>
                </a:solidFill>
                <a:latin typeface="Calibri" pitchFamily="34" charset="0"/>
                <a:ea typeface="Calibri" pitchFamily="34" charset="-122"/>
                <a:cs typeface="Calibri" pitchFamily="34" charset="-120"/>
              </a:rPr>
              <a:t>Routing options aligned with destination, quality, and commercial requirements.</a:t>
            </a:r>
            <a:endParaRPr lang="en-US" sz="700" dirty="0"/>
          </a:p>
        </p:txBody>
      </p:sp>
      <p:sp>
        <p:nvSpPr>
          <p:cNvPr id="20" name="Shape 18"/>
          <p:cNvSpPr/>
          <p:nvPr/>
        </p:nvSpPr>
        <p:spPr>
          <a:xfrm>
            <a:off x="3904488" y="2743200"/>
            <a:ext cx="2971800" cy="438912"/>
          </a:xfrm>
          <a:prstGeom prst="roundRect">
            <a:avLst>
              <a:gd name="adj" fmla="val 16667"/>
            </a:avLst>
          </a:prstGeom>
          <a:solidFill>
            <a:srgbClr val="F3F2FA"/>
          </a:solidFill>
          <a:ln w="9525">
            <a:solidFill>
              <a:srgbClr val="E4E3EF"/>
            </a:solidFill>
            <a:prstDash val="solid"/>
          </a:ln>
        </p:spPr>
      </p:sp>
      <p:sp>
        <p:nvSpPr>
          <p:cNvPr id="21" name="Text 19"/>
          <p:cNvSpPr txBox="1"/>
          <p:nvPr/>
        </p:nvSpPr>
        <p:spPr>
          <a:xfrm>
            <a:off x="3995928" y="2743200"/>
            <a:ext cx="274320" cy="438912"/>
          </a:xfrm>
          <a:prstGeom prst="rect">
            <a:avLst/>
          </a:prstGeom>
          <a:noFill/>
          <a:ln/>
        </p:spPr>
        <p:txBody>
          <a:bodyPr wrap="square" lIns="0" tIns="0" rIns="0" bIns="0" rtlCol="0" anchor="ctr"/>
          <a:lstStyle/>
          <a:p>
            <a:pPr indent="0" marL="0">
              <a:buNone/>
            </a:pPr>
            <a:r>
              <a:rPr lang="en-US" sz="900" b="1" dirty="0">
                <a:solidFill>
                  <a:srgbClr val="7B6CF6"/>
                </a:solidFill>
                <a:latin typeface="Calibri" pitchFamily="34" charset="0"/>
                <a:ea typeface="Calibri" pitchFamily="34" charset="-122"/>
                <a:cs typeface="Calibri" pitchFamily="34" charset="-120"/>
              </a:rPr>
              <a:t>03</a:t>
            </a:r>
            <a:endParaRPr lang="en-US" sz="900" dirty="0"/>
          </a:p>
        </p:txBody>
      </p:sp>
      <p:sp>
        <p:nvSpPr>
          <p:cNvPr id="22" name="Text 20"/>
          <p:cNvSpPr txBox="1"/>
          <p:nvPr/>
        </p:nvSpPr>
        <p:spPr>
          <a:xfrm>
            <a:off x="4315968" y="2770632"/>
            <a:ext cx="2514600" cy="384048"/>
          </a:xfrm>
          <a:prstGeom prst="rect">
            <a:avLst/>
          </a:prstGeom>
          <a:noFill/>
          <a:ln/>
        </p:spPr>
        <p:txBody>
          <a:bodyPr wrap="square" lIns="0" tIns="0" rIns="0" bIns="0" rtlCol="0" anchor="ctr"/>
          <a:lstStyle/>
          <a:p>
            <a:pPr indent="0" marL="0">
              <a:buNone/>
            </a:pPr>
            <a:r>
              <a:rPr lang="en-US" sz="700" b="1" dirty="0">
                <a:solidFill>
                  <a:srgbClr val="16161F"/>
                </a:solidFill>
                <a:latin typeface="Calibri" pitchFamily="34" charset="0"/>
                <a:ea typeface="Calibri" pitchFamily="34" charset="-122"/>
                <a:cs typeface="Calibri" pitchFamily="34" charset="-120"/>
              </a:rPr>
              <a:t>Operational Coordination – </a:t>
            </a:r>
            <a:pPr indent="0" marL="0">
              <a:buNone/>
            </a:pPr>
            <a:r>
              <a:rPr lang="en-US" sz="700" dirty="0">
                <a:solidFill>
                  <a:srgbClr val="5F6075"/>
                </a:solidFill>
                <a:latin typeface="Calibri" pitchFamily="34" charset="0"/>
                <a:ea typeface="Calibri" pitchFamily="34" charset="-122"/>
                <a:cs typeface="Calibri" pitchFamily="34" charset="-120"/>
              </a:rPr>
              <a:t>Support for technical discussions, interconnection, and service-related queries.</a:t>
            </a:r>
            <a:endParaRPr lang="en-US" sz="700" dirty="0"/>
          </a:p>
        </p:txBody>
      </p:sp>
      <p:sp>
        <p:nvSpPr>
          <p:cNvPr id="23" name="Shape 21"/>
          <p:cNvSpPr/>
          <p:nvPr/>
        </p:nvSpPr>
        <p:spPr>
          <a:xfrm>
            <a:off x="3904488" y="3246120"/>
            <a:ext cx="2971800" cy="438912"/>
          </a:xfrm>
          <a:prstGeom prst="roundRect">
            <a:avLst>
              <a:gd name="adj" fmla="val 16667"/>
            </a:avLst>
          </a:prstGeom>
          <a:solidFill>
            <a:srgbClr val="FFFFFF"/>
          </a:solidFill>
          <a:ln w="9525">
            <a:solidFill>
              <a:srgbClr val="E4E3EF"/>
            </a:solidFill>
            <a:prstDash val="solid"/>
          </a:ln>
        </p:spPr>
      </p:sp>
      <p:sp>
        <p:nvSpPr>
          <p:cNvPr id="24" name="Text 22"/>
          <p:cNvSpPr txBox="1"/>
          <p:nvPr/>
        </p:nvSpPr>
        <p:spPr>
          <a:xfrm>
            <a:off x="3995928" y="3246120"/>
            <a:ext cx="274320" cy="438912"/>
          </a:xfrm>
          <a:prstGeom prst="rect">
            <a:avLst/>
          </a:prstGeom>
          <a:noFill/>
          <a:ln/>
        </p:spPr>
        <p:txBody>
          <a:bodyPr wrap="square" lIns="0" tIns="0" rIns="0" bIns="0" rtlCol="0" anchor="ctr"/>
          <a:lstStyle/>
          <a:p>
            <a:pPr indent="0" marL="0">
              <a:buNone/>
            </a:pPr>
            <a:r>
              <a:rPr lang="en-US" sz="900" b="1" dirty="0">
                <a:solidFill>
                  <a:srgbClr val="7B6CF6"/>
                </a:solidFill>
                <a:latin typeface="Calibri" pitchFamily="34" charset="0"/>
                <a:ea typeface="Calibri" pitchFamily="34" charset="-122"/>
                <a:cs typeface="Calibri" pitchFamily="34" charset="-120"/>
              </a:rPr>
              <a:t>04</a:t>
            </a:r>
            <a:endParaRPr lang="en-US" sz="900" dirty="0"/>
          </a:p>
        </p:txBody>
      </p:sp>
      <p:sp>
        <p:nvSpPr>
          <p:cNvPr id="25" name="Text 23"/>
          <p:cNvSpPr txBox="1"/>
          <p:nvPr/>
        </p:nvSpPr>
        <p:spPr>
          <a:xfrm>
            <a:off x="4315968" y="3273552"/>
            <a:ext cx="2514600" cy="384048"/>
          </a:xfrm>
          <a:prstGeom prst="rect">
            <a:avLst/>
          </a:prstGeom>
          <a:noFill/>
          <a:ln/>
        </p:spPr>
        <p:txBody>
          <a:bodyPr wrap="square" lIns="0" tIns="0" rIns="0" bIns="0" rtlCol="0" anchor="ctr"/>
          <a:lstStyle/>
          <a:p>
            <a:pPr indent="0" marL="0">
              <a:buNone/>
            </a:pPr>
            <a:r>
              <a:rPr lang="en-US" sz="700" b="1" dirty="0">
                <a:solidFill>
                  <a:srgbClr val="16161F"/>
                </a:solidFill>
                <a:latin typeface="Calibri" pitchFamily="34" charset="0"/>
                <a:ea typeface="Calibri" pitchFamily="34" charset="-122"/>
                <a:cs typeface="Calibri" pitchFamily="34" charset="-120"/>
              </a:rPr>
              <a:t>Commercial Flexibility – </a:t>
            </a:r>
            <a:pPr indent="0" marL="0">
              <a:buNone/>
            </a:pPr>
            <a:r>
              <a:rPr lang="en-US" sz="700" dirty="0">
                <a:solidFill>
                  <a:srgbClr val="5F6075"/>
                </a:solidFill>
                <a:latin typeface="Calibri" pitchFamily="34" charset="0"/>
                <a:ea typeface="Calibri" pitchFamily="34" charset="-122"/>
                <a:cs typeface="Calibri" pitchFamily="34" charset="-120"/>
              </a:rPr>
              <a:t>Business arrangements based on mutually agreed rates and traffic requirements.</a:t>
            </a:r>
            <a:endParaRPr lang="en-US" sz="700" dirty="0"/>
          </a:p>
        </p:txBody>
      </p:sp>
      <p:sp>
        <p:nvSpPr>
          <p:cNvPr id="26" name="Shape 24"/>
          <p:cNvSpPr/>
          <p:nvPr/>
        </p:nvSpPr>
        <p:spPr>
          <a:xfrm>
            <a:off x="3904488" y="3749040"/>
            <a:ext cx="2971800" cy="438912"/>
          </a:xfrm>
          <a:prstGeom prst="roundRect">
            <a:avLst>
              <a:gd name="adj" fmla="val 16667"/>
            </a:avLst>
          </a:prstGeom>
          <a:solidFill>
            <a:srgbClr val="F3F2FA"/>
          </a:solidFill>
          <a:ln w="9525">
            <a:solidFill>
              <a:srgbClr val="E4E3EF"/>
            </a:solidFill>
            <a:prstDash val="solid"/>
          </a:ln>
        </p:spPr>
      </p:sp>
      <p:sp>
        <p:nvSpPr>
          <p:cNvPr id="27" name="Text 25"/>
          <p:cNvSpPr txBox="1"/>
          <p:nvPr/>
        </p:nvSpPr>
        <p:spPr>
          <a:xfrm>
            <a:off x="3995928" y="3749040"/>
            <a:ext cx="274320" cy="438912"/>
          </a:xfrm>
          <a:prstGeom prst="rect">
            <a:avLst/>
          </a:prstGeom>
          <a:noFill/>
          <a:ln/>
        </p:spPr>
        <p:txBody>
          <a:bodyPr wrap="square" lIns="0" tIns="0" rIns="0" bIns="0" rtlCol="0" anchor="ctr"/>
          <a:lstStyle/>
          <a:p>
            <a:pPr indent="0" marL="0">
              <a:buNone/>
            </a:pPr>
            <a:r>
              <a:rPr lang="en-US" sz="900" b="1" dirty="0">
                <a:solidFill>
                  <a:srgbClr val="7B6CF6"/>
                </a:solidFill>
                <a:latin typeface="Calibri" pitchFamily="34" charset="0"/>
                <a:ea typeface="Calibri" pitchFamily="34" charset="-122"/>
                <a:cs typeface="Calibri" pitchFamily="34" charset="-120"/>
              </a:rPr>
              <a:t>05</a:t>
            </a:r>
            <a:endParaRPr lang="en-US" sz="900" dirty="0"/>
          </a:p>
        </p:txBody>
      </p:sp>
      <p:sp>
        <p:nvSpPr>
          <p:cNvPr id="28" name="Text 26"/>
          <p:cNvSpPr txBox="1"/>
          <p:nvPr/>
        </p:nvSpPr>
        <p:spPr>
          <a:xfrm>
            <a:off x="4315968" y="3776472"/>
            <a:ext cx="2514600" cy="384048"/>
          </a:xfrm>
          <a:prstGeom prst="rect">
            <a:avLst/>
          </a:prstGeom>
          <a:noFill/>
          <a:ln/>
        </p:spPr>
        <p:txBody>
          <a:bodyPr wrap="square" lIns="0" tIns="0" rIns="0" bIns="0" rtlCol="0" anchor="ctr"/>
          <a:lstStyle/>
          <a:p>
            <a:pPr indent="0" marL="0">
              <a:buNone/>
            </a:pPr>
            <a:r>
              <a:rPr lang="en-US" sz="700" b="1" dirty="0">
                <a:solidFill>
                  <a:srgbClr val="16161F"/>
                </a:solidFill>
                <a:latin typeface="Calibri" pitchFamily="34" charset="0"/>
                <a:ea typeface="Calibri" pitchFamily="34" charset="-122"/>
                <a:cs typeface="Calibri" pitchFamily="34" charset="-120"/>
              </a:rPr>
              <a:t>Long-Term Collaboration – </a:t>
            </a:r>
            <a:pPr indent="0" marL="0">
              <a:buNone/>
            </a:pPr>
            <a:r>
              <a:rPr lang="en-US" sz="700" dirty="0">
                <a:solidFill>
                  <a:srgbClr val="5F6075"/>
                </a:solidFill>
                <a:latin typeface="Calibri" pitchFamily="34" charset="0"/>
                <a:ea typeface="Calibri" pitchFamily="34" charset="-122"/>
                <a:cs typeface="Calibri" pitchFamily="34" charset="-120"/>
              </a:rPr>
              <a:t>Partnerships built around professional communication, transparency, and shared growth objectives.</a:t>
            </a:r>
            <a:endParaRPr lang="en-US" sz="700" dirty="0"/>
          </a:p>
        </p:txBody>
      </p:sp>
      <p:sp>
        <p:nvSpPr>
          <p:cNvPr id="29" name="Text 27"/>
          <p:cNvSpPr txBox="1"/>
          <p:nvPr/>
        </p:nvSpPr>
        <p:spPr>
          <a:xfrm>
            <a:off x="749808" y="3383280"/>
            <a:ext cx="2743200" cy="182880"/>
          </a:xfrm>
          <a:prstGeom prst="rect">
            <a:avLst/>
          </a:prstGeom>
          <a:noFill/>
          <a:ln/>
        </p:spPr>
        <p:txBody>
          <a:bodyPr wrap="square" lIns="0" tIns="0" rIns="0" bIns="0" rtlCol="0" anchor="t"/>
          <a:lstStyle/>
          <a:p>
            <a:pPr indent="0" marL="0">
              <a:buNone/>
            </a:pPr>
            <a:r>
              <a:rPr lang="en-US" sz="800" b="1" dirty="0">
                <a:solidFill>
                  <a:srgbClr val="16161F"/>
                </a:solidFill>
                <a:latin typeface="Calibri" pitchFamily="34" charset="0"/>
                <a:ea typeface="Calibri" pitchFamily="34" charset="-122"/>
                <a:cs typeface="Calibri" pitchFamily="34" charset="-120"/>
              </a:rPr>
              <a:t>Our approach focuses on:</a:t>
            </a:r>
            <a:endParaRPr lang="en-US" sz="800" dirty="0"/>
          </a:p>
        </p:txBody>
      </p:sp>
      <p:sp>
        <p:nvSpPr>
          <p:cNvPr id="30" name="Shape 28"/>
          <p:cNvSpPr/>
          <p:nvPr/>
        </p:nvSpPr>
        <p:spPr>
          <a:xfrm>
            <a:off x="749808" y="4434840"/>
            <a:ext cx="6135624" cy="914400"/>
          </a:xfrm>
          <a:prstGeom prst="roundRect">
            <a:avLst>
              <a:gd name="adj" fmla="val 14000"/>
            </a:avLst>
          </a:prstGeom>
          <a:solidFill>
            <a:srgbClr val="1B1B28"/>
          </a:solidFill>
          <a:ln/>
        </p:spPr>
      </p:sp>
      <p:pic>
        <p:nvPicPr>
          <p:cNvPr id="31" name="Image 0" descr="preencoded.png">    </p:cNvPr>
          <p:cNvPicPr>
            <a:picLocks noChangeAspect="1"/>
          </p:cNvPicPr>
          <p:nvPr/>
        </p:nvPicPr>
        <p:blipFill>
          <a:blip r:embed="rId1"/>
          <a:stretch>
            <a:fillRect/>
          </a:stretch>
        </p:blipFill>
        <p:spPr>
          <a:xfrm>
            <a:off x="932688" y="4617720"/>
            <a:ext cx="274320" cy="274320"/>
          </a:xfrm>
          <a:prstGeom prst="rect">
            <a:avLst/>
          </a:prstGeom>
        </p:spPr>
      </p:pic>
      <p:sp>
        <p:nvSpPr>
          <p:cNvPr id="32" name="Text 29"/>
          <p:cNvSpPr txBox="1"/>
          <p:nvPr/>
        </p:nvSpPr>
        <p:spPr>
          <a:xfrm>
            <a:off x="1344168" y="4572000"/>
            <a:ext cx="219456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Dedicated Support for Our Partners</a:t>
            </a:r>
            <a:endParaRPr lang="en-US" sz="1000" dirty="0"/>
          </a:p>
        </p:txBody>
      </p:sp>
      <p:sp>
        <p:nvSpPr>
          <p:cNvPr id="33" name="Text 30"/>
          <p:cNvSpPr txBox="1"/>
          <p:nvPr/>
        </p:nvSpPr>
        <p:spPr>
          <a:xfrm>
            <a:off x="3584448" y="4526280"/>
            <a:ext cx="3200400" cy="777240"/>
          </a:xfrm>
          <a:prstGeom prst="rect">
            <a:avLst/>
          </a:prstGeom>
          <a:noFill/>
          <a:ln/>
        </p:spPr>
        <p:txBody>
          <a:bodyPr wrap="square" lIns="0" tIns="0" rIns="0" bIns="0" rtlCol="0" anchor="t"/>
          <a:lstStyle/>
          <a:p>
            <a:pPr indent="0" marL="0">
              <a:buNone/>
            </a:pPr>
            <a:r>
              <a:rPr lang="en-US" sz="680" dirty="0">
                <a:solidFill>
                  <a:srgbClr val="C9C9DA"/>
                </a:solidFill>
                <a:latin typeface="Calibri" pitchFamily="34" charset="0"/>
                <a:ea typeface="Calibri" pitchFamily="34" charset="-122"/>
                <a:cs typeface="Calibri" pitchFamily="34" charset="-120"/>
              </a:rPr>
              <a:t>We believe effective communication between partners is essential to maintaining reliable telecom services. Omaginfo LLC aims to provide responsive assistance for routing queries, technical coordination, and commercial discussions. Our team works with partners to understand their requirements and help resolve issues through clear communication and coordinated follow-up.</a:t>
            </a:r>
            <a:endParaRPr lang="en-US" sz="680" dirty="0"/>
          </a:p>
        </p:txBody>
      </p:sp>
      <p:sp>
        <p:nvSpPr>
          <p:cNvPr id="34" name="Shape 31"/>
          <p:cNvSpPr/>
          <p:nvPr/>
        </p:nvSpPr>
        <p:spPr>
          <a:xfrm>
            <a:off x="749808" y="5458968"/>
            <a:ext cx="6135624" cy="777240"/>
          </a:xfrm>
          <a:prstGeom prst="roundRect">
            <a:avLst>
              <a:gd name="adj" fmla="val 16471"/>
            </a:avLst>
          </a:prstGeom>
          <a:solidFill>
            <a:srgbClr val="FFFFFF"/>
          </a:solidFill>
          <a:ln w="9525">
            <a:solidFill>
              <a:srgbClr val="E4E3EF"/>
            </a:solidFill>
            <a:prstDash val="solid"/>
          </a:ln>
        </p:spPr>
      </p:sp>
      <p:sp>
        <p:nvSpPr>
          <p:cNvPr id="35" name="Text 32"/>
          <p:cNvSpPr txBox="1"/>
          <p:nvPr/>
        </p:nvSpPr>
        <p:spPr>
          <a:xfrm>
            <a:off x="932688" y="5532120"/>
            <a:ext cx="2743200" cy="228600"/>
          </a:xfrm>
          <a:prstGeom prst="rect">
            <a:avLst/>
          </a:prstGeom>
          <a:noFill/>
          <a:ln/>
        </p:spPr>
        <p:txBody>
          <a:bodyPr wrap="square" lIns="0" tIns="0" rIns="0" bIns="0" rtlCol="0" anchor="t"/>
          <a:lstStyle/>
          <a:p>
            <a:pPr indent="0" marL="0">
              <a:buNone/>
            </a:pPr>
            <a:r>
              <a:rPr lang="en-US" sz="1000" b="1" dirty="0">
                <a:solidFill>
                  <a:srgbClr val="16161F"/>
                </a:solidFill>
                <a:latin typeface="Calibri" pitchFamily="34" charset="0"/>
                <a:ea typeface="Calibri" pitchFamily="34" charset="-122"/>
                <a:cs typeface="Calibri" pitchFamily="34" charset="-120"/>
              </a:rPr>
              <a:t>Partner with Omaginfo LLC</a:t>
            </a:r>
            <a:endParaRPr lang="en-US" sz="1000" dirty="0"/>
          </a:p>
        </p:txBody>
      </p:sp>
      <p:sp>
        <p:nvSpPr>
          <p:cNvPr id="36" name="Text 33"/>
          <p:cNvSpPr txBox="1"/>
          <p:nvPr/>
        </p:nvSpPr>
        <p:spPr>
          <a:xfrm>
            <a:off x="932688" y="5779008"/>
            <a:ext cx="4206240" cy="41148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Looking to expand your international voice coverage or establish new voice termination partnerships? Connect with Omaginfo LLC to discuss your routing requirements and explore opportunities for collaboration.</a:t>
            </a:r>
            <a:endParaRPr lang="en-US" sz="700" dirty="0"/>
          </a:p>
        </p:txBody>
      </p:sp>
      <p:sp>
        <p:nvSpPr>
          <p:cNvPr id="37" name="Shape 34"/>
          <p:cNvSpPr/>
          <p:nvPr/>
        </p:nvSpPr>
        <p:spPr>
          <a:xfrm>
            <a:off x="5559552" y="5715000"/>
            <a:ext cx="1280160" cy="256032"/>
          </a:xfrm>
          <a:prstGeom prst="roundRect">
            <a:avLst>
              <a:gd name="adj" fmla="val 50000"/>
            </a:avLst>
          </a:prstGeom>
          <a:solidFill>
            <a:srgbClr val="16161F"/>
          </a:solidFill>
          <a:ln/>
        </p:spPr>
      </p:sp>
      <p:sp>
        <p:nvSpPr>
          <p:cNvPr id="38" name="Text 35"/>
          <p:cNvSpPr txBox="1"/>
          <p:nvPr/>
        </p:nvSpPr>
        <p:spPr>
          <a:xfrm>
            <a:off x="5559552" y="5715000"/>
            <a:ext cx="12801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Discuss Voice Routes</a:t>
            </a:r>
            <a:endParaRPr lang="en-US" sz="750" dirty="0"/>
          </a:p>
        </p:txBody>
      </p:sp>
      <p:sp>
        <p:nvSpPr>
          <p:cNvPr id="39" name="Text 36"/>
          <p:cNvSpPr txBox="1"/>
          <p:nvPr/>
        </p:nvSpPr>
        <p:spPr>
          <a:xfrm>
            <a:off x="6821424" y="566928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0" name="Shape 37"/>
          <p:cNvSpPr/>
          <p:nvPr/>
        </p:nvSpPr>
        <p:spPr>
          <a:xfrm>
            <a:off x="7360920" y="1325880"/>
            <a:ext cx="274320" cy="274320"/>
          </a:xfrm>
          <a:prstGeom prst="ellipse">
            <a:avLst/>
          </a:prstGeom>
          <a:solidFill>
            <a:srgbClr val="ECEBFF"/>
          </a:solidFill>
          <a:ln/>
        </p:spPr>
      </p:sp>
      <p:pic>
        <p:nvPicPr>
          <p:cNvPr id="41" name="Image 1" descr="preencoded.png">    </p:cNvPr>
          <p:cNvPicPr>
            <a:picLocks noChangeAspect="1"/>
          </p:cNvPicPr>
          <p:nvPr/>
        </p:nvPicPr>
        <p:blipFill>
          <a:blip r:embed="rId2"/>
          <a:stretch>
            <a:fillRect/>
          </a:stretch>
        </p:blipFill>
        <p:spPr>
          <a:xfrm>
            <a:off x="7429500" y="1394460"/>
            <a:ext cx="137160" cy="137160"/>
          </a:xfrm>
          <a:prstGeom prst="rect">
            <a:avLst/>
          </a:prstGeom>
        </p:spPr>
      </p:pic>
      <p:sp>
        <p:nvSpPr>
          <p:cNvPr id="42" name="Text 38"/>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3" name="Text 39"/>
          <p:cNvSpPr txBox="1"/>
          <p:nvPr/>
        </p:nvSpPr>
        <p:spPr>
          <a:xfrm>
            <a:off x="7726680" y="161848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Approach: intro text left, 5 numbered rows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Support: full-width dark band, heading left, text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CTA band (global component) closes the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all blocks stack; numbered rows stay full width</a:t>
            </a:r>
            <a:endParaRPr lang="en-US" sz="1100" dirty="0"/>
          </a:p>
        </p:txBody>
      </p:sp>
      <p:sp>
        <p:nvSpPr>
          <p:cNvPr id="44" name="Shape 40"/>
          <p:cNvSpPr/>
          <p:nvPr/>
        </p:nvSpPr>
        <p:spPr>
          <a:xfrm>
            <a:off x="7360920" y="2441448"/>
            <a:ext cx="274320" cy="274320"/>
          </a:xfrm>
          <a:prstGeom prst="ellipse">
            <a:avLst/>
          </a:prstGeom>
          <a:solidFill>
            <a:srgbClr val="ECEBFF"/>
          </a:solidFill>
          <a:ln/>
        </p:spPr>
      </p:sp>
      <p:pic>
        <p:nvPicPr>
          <p:cNvPr id="45" name="Image 2" descr="preencoded.png">    </p:cNvPr>
          <p:cNvPicPr>
            <a:picLocks noChangeAspect="1"/>
          </p:cNvPicPr>
          <p:nvPr/>
        </p:nvPicPr>
        <p:blipFill>
          <a:blip r:embed="rId3"/>
          <a:stretch>
            <a:fillRect/>
          </a:stretch>
        </p:blipFill>
        <p:spPr>
          <a:xfrm>
            <a:off x="7429500" y="2510028"/>
            <a:ext cx="137160" cy="137160"/>
          </a:xfrm>
          <a:prstGeom prst="rect">
            <a:avLst/>
          </a:prstGeom>
        </p:spPr>
      </p:pic>
      <p:sp>
        <p:nvSpPr>
          <p:cNvPr id="46" name="Text 41"/>
          <p:cNvSpPr txBox="1"/>
          <p:nvPr/>
        </p:nvSpPr>
        <p:spPr>
          <a:xfrm>
            <a:off x="7726680" y="245973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7" name="Text 42"/>
          <p:cNvSpPr txBox="1"/>
          <p:nvPr/>
        </p:nvSpPr>
        <p:spPr>
          <a:xfrm>
            <a:off x="7726680" y="2734056"/>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All headings, paragraphs and five approach points verbatim (item 6)</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Closing line 'Global Connectivity. Trusted Partnerships.' sits in the footer</a:t>
            </a:r>
            <a:endParaRPr lang="en-US" sz="1100" dirty="0"/>
          </a:p>
        </p:txBody>
      </p:sp>
      <p:sp>
        <p:nvSpPr>
          <p:cNvPr id="48" name="Shape 43"/>
          <p:cNvSpPr/>
          <p:nvPr/>
        </p:nvSpPr>
        <p:spPr>
          <a:xfrm>
            <a:off x="7360920" y="3557016"/>
            <a:ext cx="274320" cy="274320"/>
          </a:xfrm>
          <a:prstGeom prst="ellipse">
            <a:avLst/>
          </a:prstGeom>
          <a:solidFill>
            <a:srgbClr val="ECEBFF"/>
          </a:solidFill>
          <a:ln/>
        </p:spPr>
      </p:sp>
      <p:pic>
        <p:nvPicPr>
          <p:cNvPr id="49" name="Image 3" descr="preencoded.png">    </p:cNvPr>
          <p:cNvPicPr>
            <a:picLocks noChangeAspect="1"/>
          </p:cNvPicPr>
          <p:nvPr/>
        </p:nvPicPr>
        <p:blipFill>
          <a:blip r:embed="rId4"/>
          <a:stretch>
            <a:fillRect/>
          </a:stretch>
        </p:blipFill>
        <p:spPr>
          <a:xfrm>
            <a:off x="7429500" y="3625596"/>
            <a:ext cx="137160" cy="137160"/>
          </a:xfrm>
          <a:prstGeom prst="rect">
            <a:avLst/>
          </a:prstGeom>
        </p:spPr>
      </p:pic>
      <p:sp>
        <p:nvSpPr>
          <p:cNvPr id="50" name="Text 44"/>
          <p:cNvSpPr txBox="1"/>
          <p:nvPr/>
        </p:nvSpPr>
        <p:spPr>
          <a:xfrm>
            <a:off x="7726680" y="357530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1" name="Text 45"/>
          <p:cNvSpPr txBox="1"/>
          <p:nvPr/>
        </p:nvSpPr>
        <p:spPr>
          <a:xfrm>
            <a:off x="7726680" y="3849624"/>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Numbered rows instead of plain bullets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Headset icon in mint on the dark support band</a:t>
            </a:r>
            <a:endParaRPr lang="en-US" sz="1100" dirty="0"/>
          </a:p>
        </p:txBody>
      </p:sp>
      <p:sp>
        <p:nvSpPr>
          <p:cNvPr id="52" name="Shape 46"/>
          <p:cNvSpPr/>
          <p:nvPr/>
        </p:nvSpPr>
        <p:spPr>
          <a:xfrm>
            <a:off x="7360920" y="4334256"/>
            <a:ext cx="274320" cy="274320"/>
          </a:xfrm>
          <a:prstGeom prst="ellipse">
            <a:avLst/>
          </a:prstGeom>
          <a:solidFill>
            <a:srgbClr val="ECEBFF"/>
          </a:solidFill>
          <a:ln/>
        </p:spPr>
      </p:sp>
      <p:pic>
        <p:nvPicPr>
          <p:cNvPr id="53" name="Image 4" descr="preencoded.png">    </p:cNvPr>
          <p:cNvPicPr>
            <a:picLocks noChangeAspect="1"/>
          </p:cNvPicPr>
          <p:nvPr/>
        </p:nvPicPr>
        <p:blipFill>
          <a:blip r:embed="rId5"/>
          <a:stretch>
            <a:fillRect/>
          </a:stretch>
        </p:blipFill>
        <p:spPr>
          <a:xfrm>
            <a:off x="7429500" y="4402836"/>
            <a:ext cx="137160" cy="137160"/>
          </a:xfrm>
          <a:prstGeom prst="rect">
            <a:avLst/>
          </a:prstGeom>
        </p:spPr>
      </p:pic>
      <p:sp>
        <p:nvSpPr>
          <p:cNvPr id="54" name="Text 47"/>
          <p:cNvSpPr txBox="1"/>
          <p:nvPr/>
        </p:nvSpPr>
        <p:spPr>
          <a:xfrm>
            <a:off x="7726680" y="43525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5" name="Text 48"/>
          <p:cNvSpPr txBox="1"/>
          <p:nvPr/>
        </p:nvSpPr>
        <p:spPr>
          <a:xfrm>
            <a:off x="7726680" y="4626864"/>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Discuss Voice Routes ✱ → Contact Us with 'Voice' pre-selected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SMS hero and coverage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SMS PAGE · SECTION 1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omaginfo.com/services/sms</a:t>
            </a:r>
            <a:endParaRPr lang="en-US" sz="700" dirty="0"/>
          </a:p>
        </p:txBody>
      </p:sp>
      <p:sp>
        <p:nvSpPr>
          <p:cNvPr id="12" name="Text 10"/>
          <p:cNvSpPr txBox="1"/>
          <p:nvPr/>
        </p:nvSpPr>
        <p:spPr>
          <a:xfrm>
            <a:off x="749808" y="1737360"/>
            <a:ext cx="2743200" cy="182880"/>
          </a:xfrm>
          <a:prstGeom prst="rect">
            <a:avLst/>
          </a:prstGeom>
          <a:noFill/>
          <a:ln/>
        </p:spPr>
        <p:txBody>
          <a:bodyPr wrap="square" lIns="0" tIns="0" rIns="0" bIns="0" rtlCol="0" anchor="t"/>
          <a:lstStyle/>
          <a:p>
            <a:pPr indent="0" marL="0">
              <a:buNone/>
            </a:pPr>
            <a:r>
              <a:rPr lang="en-US" sz="750" dirty="0">
                <a:solidFill>
                  <a:srgbClr val="8B8BA3"/>
                </a:solidFill>
                <a:latin typeface="Calibri" pitchFamily="34" charset="0"/>
                <a:ea typeface="Calibri" pitchFamily="34" charset="-122"/>
                <a:cs typeface="Calibri" pitchFamily="34" charset="-120"/>
              </a:rPr>
              <a:t>Home  /  Services  /  SMS</a:t>
            </a:r>
            <a:endParaRPr lang="en-US" sz="750" dirty="0"/>
          </a:p>
        </p:txBody>
      </p:sp>
      <p:sp>
        <p:nvSpPr>
          <p:cNvPr id="13" name="Shape 11"/>
          <p:cNvSpPr/>
          <p:nvPr/>
        </p:nvSpPr>
        <p:spPr>
          <a:xfrm>
            <a:off x="749808" y="2011680"/>
            <a:ext cx="2559406" cy="201168"/>
          </a:xfrm>
          <a:prstGeom prst="roundRect">
            <a:avLst>
              <a:gd name="adj" fmla="val 50000"/>
            </a:avLst>
          </a:prstGeom>
          <a:solidFill>
            <a:srgbClr val="ECEBFF"/>
          </a:solidFill>
          <a:ln/>
        </p:spPr>
      </p:sp>
      <p:sp>
        <p:nvSpPr>
          <p:cNvPr id="14" name="Text 12"/>
          <p:cNvSpPr txBox="1"/>
          <p:nvPr/>
        </p:nvSpPr>
        <p:spPr>
          <a:xfrm>
            <a:off x="749808" y="2011680"/>
            <a:ext cx="2559406"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GLOBAL MESSAGING SOLUTIONS BY OMAGINFO LLC</a:t>
            </a:r>
            <a:endParaRPr lang="en-US" sz="700" dirty="0"/>
          </a:p>
        </p:txBody>
      </p:sp>
      <p:sp>
        <p:nvSpPr>
          <p:cNvPr id="15" name="Text 13"/>
          <p:cNvSpPr txBox="1"/>
          <p:nvPr/>
        </p:nvSpPr>
        <p:spPr>
          <a:xfrm>
            <a:off x="749808" y="2304288"/>
            <a:ext cx="3200400" cy="685800"/>
          </a:xfrm>
          <a:prstGeom prst="rect">
            <a:avLst/>
          </a:prstGeom>
          <a:noFill/>
          <a:ln/>
        </p:spPr>
        <p:txBody>
          <a:bodyPr wrap="square" lIns="0" tIns="0" rIns="0" bIns="0" rtlCol="0" anchor="t"/>
          <a:lstStyle/>
          <a:p>
            <a:pPr indent="0" marL="0">
              <a:buNone/>
            </a:pPr>
            <a:r>
              <a:rPr lang="en-US" sz="1900" b="1" dirty="0">
                <a:solidFill>
                  <a:srgbClr val="16161F"/>
                </a:solidFill>
                <a:latin typeface="Calibri" pitchFamily="34" charset="0"/>
                <a:ea typeface="Calibri" pitchFamily="34" charset="-122"/>
                <a:cs typeface="Calibri" pitchFamily="34" charset="-120"/>
              </a:rPr>
              <a:t>SMS Connectivity Solutions</a:t>
            </a:r>
            <a:endParaRPr lang="en-US" sz="1900" dirty="0"/>
          </a:p>
        </p:txBody>
      </p:sp>
      <p:sp>
        <p:nvSpPr>
          <p:cNvPr id="16" name="Text 14"/>
          <p:cNvSpPr txBox="1"/>
          <p:nvPr/>
        </p:nvSpPr>
        <p:spPr>
          <a:xfrm>
            <a:off x="749808" y="3035808"/>
            <a:ext cx="3108960" cy="1325880"/>
          </a:xfrm>
          <a:prstGeom prst="rect">
            <a:avLst/>
          </a:prstGeom>
          <a:noFill/>
          <a:ln/>
        </p:spPr>
        <p:txBody>
          <a:bodyPr wrap="square" lIns="0" tIns="0" rIns="0" bIns="0" rtlCol="0" anchor="t"/>
          <a:lstStyle/>
          <a:p>
            <a:pPr indent="0" marL="0">
              <a:buNone/>
            </a:pPr>
            <a:r>
              <a:rPr lang="en-US" sz="760" dirty="0">
                <a:solidFill>
                  <a:srgbClr val="5F6075"/>
                </a:solidFill>
                <a:latin typeface="Calibri" pitchFamily="34" charset="0"/>
                <a:ea typeface="Calibri" pitchFamily="34" charset="-122"/>
                <a:cs typeface="Calibri" pitchFamily="34" charset="-120"/>
              </a:rPr>
              <a:t>At Omaginfo LLC, we provide international SMS connectivity solutions that help businesses, telecom operators, and messaging providers reach mobile subscribers across multiple markets. Our services are designed to support application-to-person (A2P) messaging requirements, enabling businesses to deliver transactional notifications, verification codes, alerts, and other business communications to mobile devices.</a:t>
            </a:r>
            <a:endParaRPr lang="en-US" sz="760" dirty="0"/>
          </a:p>
        </p:txBody>
      </p:sp>
      <p:sp>
        <p:nvSpPr>
          <p:cNvPr id="17" name="Shape 15"/>
          <p:cNvSpPr/>
          <p:nvPr/>
        </p:nvSpPr>
        <p:spPr>
          <a:xfrm>
            <a:off x="749808" y="4434840"/>
            <a:ext cx="1299911" cy="256032"/>
          </a:xfrm>
          <a:prstGeom prst="roundRect">
            <a:avLst>
              <a:gd name="adj" fmla="val 50000"/>
            </a:avLst>
          </a:prstGeom>
          <a:solidFill>
            <a:srgbClr val="7B6CF6"/>
          </a:solidFill>
          <a:ln/>
        </p:spPr>
      </p:sp>
      <p:sp>
        <p:nvSpPr>
          <p:cNvPr id="18" name="Text 16"/>
          <p:cNvSpPr txBox="1"/>
          <p:nvPr/>
        </p:nvSpPr>
        <p:spPr>
          <a:xfrm>
            <a:off x="749808" y="4434840"/>
            <a:ext cx="129991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Discuss SMS Routes</a:t>
            </a:r>
            <a:endParaRPr lang="en-US" sz="850" dirty="0"/>
          </a:p>
        </p:txBody>
      </p:sp>
      <p:sp>
        <p:nvSpPr>
          <p:cNvPr id="19" name="Text 17"/>
          <p:cNvSpPr txBox="1"/>
          <p:nvPr/>
        </p:nvSpPr>
        <p:spPr>
          <a:xfrm>
            <a:off x="2031431" y="43891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2159447" y="4434840"/>
            <a:ext cx="1523756" cy="256032"/>
          </a:xfrm>
          <a:prstGeom prst="roundRect">
            <a:avLst>
              <a:gd name="adj" fmla="val 50000"/>
            </a:avLst>
          </a:prstGeom>
          <a:solidFill>
            <a:srgbClr val="F3F2FA"/>
          </a:solidFill>
          <a:ln w="9525">
            <a:solidFill>
              <a:srgbClr val="E4E3EF"/>
            </a:solidFill>
            <a:prstDash val="solid"/>
          </a:ln>
        </p:spPr>
      </p:sp>
      <p:sp>
        <p:nvSpPr>
          <p:cNvPr id="21" name="Text 19"/>
          <p:cNvSpPr txBox="1"/>
          <p:nvPr/>
        </p:nvSpPr>
        <p:spPr>
          <a:xfrm>
            <a:off x="2159447" y="4434840"/>
            <a:ext cx="1523756" cy="256032"/>
          </a:xfrm>
          <a:prstGeom prst="rect">
            <a:avLst/>
          </a:prstGeom>
          <a:noFill/>
          <a:ln/>
        </p:spPr>
        <p:txBody>
          <a:bodyPr wrap="square" lIns="0" tIns="0" rIns="0" bIns="0" rtlCol="0" anchor="ctr"/>
          <a:lstStyle/>
          <a:p>
            <a:pPr algn="ctr" indent="0" marL="0">
              <a:buNone/>
            </a:pPr>
            <a:r>
              <a:rPr lang="en-US" sz="850" b="1" dirty="0">
                <a:solidFill>
                  <a:srgbClr val="16161F"/>
                </a:solidFill>
                <a:latin typeface="Calibri" pitchFamily="34" charset="0"/>
                <a:ea typeface="Calibri" pitchFamily="34" charset="-122"/>
                <a:cs typeface="Calibri" pitchFamily="34" charset="-120"/>
              </a:rPr>
              <a:t>Our SMS Capabilities ↓</a:t>
            </a:r>
            <a:endParaRPr lang="en-US" sz="850" dirty="0"/>
          </a:p>
        </p:txBody>
      </p:sp>
      <p:sp>
        <p:nvSpPr>
          <p:cNvPr id="22" name="Shape 20"/>
          <p:cNvSpPr/>
          <p:nvPr/>
        </p:nvSpPr>
        <p:spPr>
          <a:xfrm>
            <a:off x="4133088" y="2011680"/>
            <a:ext cx="2743200" cy="2697480"/>
          </a:xfrm>
          <a:prstGeom prst="roundRect">
            <a:avLst>
              <a:gd name="adj" fmla="val 3390"/>
            </a:avLst>
          </a:prstGeom>
          <a:solidFill>
            <a:srgbClr val="ECEBFF"/>
          </a:solidFill>
          <a:ln w="9525">
            <a:solidFill>
              <a:srgbClr val="B3A8FF"/>
            </a:solidFill>
            <a:prstDash val="dash"/>
          </a:ln>
        </p:spPr>
      </p:sp>
      <p:pic>
        <p:nvPicPr>
          <p:cNvPr id="23" name="Image 0" descr="preencoded.png">    </p:cNvPr>
          <p:cNvPicPr>
            <a:picLocks noChangeAspect="1"/>
          </p:cNvPicPr>
          <p:nvPr/>
        </p:nvPicPr>
        <p:blipFill>
          <a:blip r:embed="rId1"/>
          <a:stretch>
            <a:fillRect/>
          </a:stretch>
        </p:blipFill>
        <p:spPr>
          <a:xfrm>
            <a:off x="5312664" y="3049524"/>
            <a:ext cx="384048" cy="384048"/>
          </a:xfrm>
          <a:prstGeom prst="rect">
            <a:avLst/>
          </a:prstGeom>
        </p:spPr>
      </p:pic>
      <p:sp>
        <p:nvSpPr>
          <p:cNvPr id="24" name="Text 21"/>
          <p:cNvSpPr txBox="1"/>
          <p:nvPr/>
        </p:nvSpPr>
        <p:spPr>
          <a:xfrm>
            <a:off x="4206240" y="3497580"/>
            <a:ext cx="2596896" cy="384048"/>
          </a:xfrm>
          <a:prstGeom prst="rect">
            <a:avLst/>
          </a:prstGeom>
          <a:noFill/>
          <a:ln/>
        </p:spPr>
        <p:txBody>
          <a:bodyPr wrap="square" lIns="0" tIns="0" rIns="0" bIns="0" rtlCol="0" anchor="t"/>
          <a:lstStyle/>
          <a:p>
            <a:pPr algn="ctr" indent="0" marL="0">
              <a:buNone/>
            </a:pPr>
            <a:r>
              <a:rPr lang="en-US" sz="750" i="1" dirty="0">
                <a:solidFill>
                  <a:srgbClr val="5F6075"/>
                </a:solidFill>
                <a:latin typeface="Calibri" pitchFamily="34" charset="0"/>
                <a:ea typeface="Calibri" pitchFamily="34" charset="-122"/>
                <a:cs typeface="Calibri" pitchFamily="34" charset="-120"/>
              </a:rPr>
              <a:t>Isometric phone with message bubbles flying along arcs between regions</a:t>
            </a:r>
            <a:endParaRPr lang="en-US" sz="750" dirty="0"/>
          </a:p>
        </p:txBody>
      </p:sp>
      <p:sp>
        <p:nvSpPr>
          <p:cNvPr id="25" name="Shape 22"/>
          <p:cNvSpPr/>
          <p:nvPr/>
        </p:nvSpPr>
        <p:spPr>
          <a:xfrm>
            <a:off x="749808" y="4937760"/>
            <a:ext cx="6135624" cy="1188720"/>
          </a:xfrm>
          <a:prstGeom prst="roundRect">
            <a:avLst>
              <a:gd name="adj" fmla="val 10769"/>
            </a:avLst>
          </a:prstGeom>
          <a:solidFill>
            <a:srgbClr val="1B1B28"/>
          </a:solidFill>
          <a:ln/>
        </p:spPr>
      </p:sp>
      <p:sp>
        <p:nvSpPr>
          <p:cNvPr id="26" name="Shape 23"/>
          <p:cNvSpPr/>
          <p:nvPr/>
        </p:nvSpPr>
        <p:spPr>
          <a:xfrm>
            <a:off x="932688" y="5074920"/>
            <a:ext cx="1078992" cy="274320"/>
          </a:xfrm>
          <a:prstGeom prst="roundRect">
            <a:avLst>
              <a:gd name="adj" fmla="val 50000"/>
            </a:avLst>
          </a:prstGeom>
          <a:solidFill>
            <a:srgbClr val="3A3360"/>
          </a:solidFill>
          <a:ln/>
        </p:spPr>
      </p:sp>
      <p:sp>
        <p:nvSpPr>
          <p:cNvPr id="27" name="Text 24"/>
          <p:cNvSpPr txBox="1"/>
          <p:nvPr/>
        </p:nvSpPr>
        <p:spPr>
          <a:xfrm>
            <a:off x="932688" y="5074920"/>
            <a:ext cx="107899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Asia</a:t>
            </a:r>
            <a:endParaRPr lang="en-US" sz="800" dirty="0"/>
          </a:p>
        </p:txBody>
      </p:sp>
      <p:sp>
        <p:nvSpPr>
          <p:cNvPr id="28" name="Shape 25"/>
          <p:cNvSpPr/>
          <p:nvPr/>
        </p:nvSpPr>
        <p:spPr>
          <a:xfrm>
            <a:off x="2103120" y="5074920"/>
            <a:ext cx="1078992" cy="274320"/>
          </a:xfrm>
          <a:prstGeom prst="roundRect">
            <a:avLst>
              <a:gd name="adj" fmla="val 50000"/>
            </a:avLst>
          </a:prstGeom>
          <a:solidFill>
            <a:srgbClr val="3A3360"/>
          </a:solidFill>
          <a:ln/>
        </p:spPr>
      </p:sp>
      <p:sp>
        <p:nvSpPr>
          <p:cNvPr id="29" name="Text 26"/>
          <p:cNvSpPr txBox="1"/>
          <p:nvPr/>
        </p:nvSpPr>
        <p:spPr>
          <a:xfrm>
            <a:off x="2103120" y="5074920"/>
            <a:ext cx="107899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Africa</a:t>
            </a:r>
            <a:endParaRPr lang="en-US" sz="800" dirty="0"/>
          </a:p>
        </p:txBody>
      </p:sp>
      <p:sp>
        <p:nvSpPr>
          <p:cNvPr id="30" name="Shape 27"/>
          <p:cNvSpPr/>
          <p:nvPr/>
        </p:nvSpPr>
        <p:spPr>
          <a:xfrm>
            <a:off x="3273552" y="5074920"/>
            <a:ext cx="1078992" cy="274320"/>
          </a:xfrm>
          <a:prstGeom prst="roundRect">
            <a:avLst>
              <a:gd name="adj" fmla="val 50000"/>
            </a:avLst>
          </a:prstGeom>
          <a:solidFill>
            <a:srgbClr val="3A3360"/>
          </a:solidFill>
          <a:ln/>
        </p:spPr>
      </p:sp>
      <p:sp>
        <p:nvSpPr>
          <p:cNvPr id="31" name="Text 28"/>
          <p:cNvSpPr txBox="1"/>
          <p:nvPr/>
        </p:nvSpPr>
        <p:spPr>
          <a:xfrm>
            <a:off x="3273552" y="5074920"/>
            <a:ext cx="107899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Middle East</a:t>
            </a:r>
            <a:endParaRPr lang="en-US" sz="800" dirty="0"/>
          </a:p>
        </p:txBody>
      </p:sp>
      <p:sp>
        <p:nvSpPr>
          <p:cNvPr id="32" name="Shape 29"/>
          <p:cNvSpPr/>
          <p:nvPr/>
        </p:nvSpPr>
        <p:spPr>
          <a:xfrm>
            <a:off x="4443984" y="5074920"/>
            <a:ext cx="1078992" cy="274320"/>
          </a:xfrm>
          <a:prstGeom prst="roundRect">
            <a:avLst>
              <a:gd name="adj" fmla="val 50000"/>
            </a:avLst>
          </a:prstGeom>
          <a:solidFill>
            <a:srgbClr val="3A3360"/>
          </a:solidFill>
          <a:ln/>
        </p:spPr>
      </p:sp>
      <p:sp>
        <p:nvSpPr>
          <p:cNvPr id="33" name="Text 30"/>
          <p:cNvSpPr txBox="1"/>
          <p:nvPr/>
        </p:nvSpPr>
        <p:spPr>
          <a:xfrm>
            <a:off x="4443984" y="5074920"/>
            <a:ext cx="107899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Europe</a:t>
            </a:r>
            <a:endParaRPr lang="en-US" sz="800" dirty="0"/>
          </a:p>
        </p:txBody>
      </p:sp>
      <p:sp>
        <p:nvSpPr>
          <p:cNvPr id="34" name="Shape 31"/>
          <p:cNvSpPr/>
          <p:nvPr/>
        </p:nvSpPr>
        <p:spPr>
          <a:xfrm>
            <a:off x="5614416" y="5074920"/>
            <a:ext cx="1078992" cy="274320"/>
          </a:xfrm>
          <a:prstGeom prst="roundRect">
            <a:avLst>
              <a:gd name="adj" fmla="val 50000"/>
            </a:avLst>
          </a:prstGeom>
          <a:solidFill>
            <a:srgbClr val="3A3360"/>
          </a:solidFill>
          <a:ln/>
        </p:spPr>
      </p:sp>
      <p:sp>
        <p:nvSpPr>
          <p:cNvPr id="35" name="Text 32"/>
          <p:cNvSpPr txBox="1"/>
          <p:nvPr/>
        </p:nvSpPr>
        <p:spPr>
          <a:xfrm>
            <a:off x="5614416" y="5074920"/>
            <a:ext cx="107899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Americas</a:t>
            </a:r>
            <a:endParaRPr lang="en-US" sz="800" dirty="0"/>
          </a:p>
        </p:txBody>
      </p:sp>
      <p:sp>
        <p:nvSpPr>
          <p:cNvPr id="36" name="Text 33"/>
          <p:cNvSpPr txBox="1"/>
          <p:nvPr/>
        </p:nvSpPr>
        <p:spPr>
          <a:xfrm>
            <a:off x="932688" y="5440680"/>
            <a:ext cx="5769864" cy="658368"/>
          </a:xfrm>
          <a:prstGeom prst="rect">
            <a:avLst/>
          </a:prstGeom>
          <a:noFill/>
          <a:ln/>
        </p:spPr>
        <p:txBody>
          <a:bodyPr wrap="square" lIns="0" tIns="0" rIns="0" bIns="0" rtlCol="0" anchor="t"/>
          <a:lstStyle/>
          <a:p>
            <a:pPr indent="0" marL="0">
              <a:buNone/>
            </a:pPr>
            <a:r>
              <a:rPr lang="en-US" sz="680" dirty="0">
                <a:solidFill>
                  <a:srgbClr val="C9C9DA"/>
                </a:solidFill>
                <a:latin typeface="Calibri" pitchFamily="34" charset="0"/>
                <a:ea typeface="Calibri" pitchFamily="34" charset="-122"/>
                <a:cs typeface="Calibri" pitchFamily="34" charset="-120"/>
              </a:rPr>
              <a:t>Through our network of messaging partners and available direct connectivity options, we support SMS traffic across destinations in Asia, Africa, the Middle East, Europe, and the Americas. Our focus is on efficient message routing, competitive pricing, and dependable connectivity to meet the varying needs of our partners. We work closely with customers to understand their traffic profiles and destination requirements, helping them identify suitable messaging routes and commercial arrangements.</a:t>
            </a:r>
            <a:endParaRPr lang="en-US" sz="680" dirty="0"/>
          </a:p>
        </p:txBody>
      </p:sp>
      <p:sp>
        <p:nvSpPr>
          <p:cNvPr id="37" name="Shape 34"/>
          <p:cNvSpPr/>
          <p:nvPr/>
        </p:nvSpPr>
        <p:spPr>
          <a:xfrm>
            <a:off x="7360920" y="1325880"/>
            <a:ext cx="274320" cy="274320"/>
          </a:xfrm>
          <a:prstGeom prst="ellipse">
            <a:avLst/>
          </a:prstGeom>
          <a:solidFill>
            <a:srgbClr val="ECEBFF"/>
          </a:solidFill>
          <a:ln/>
        </p:spPr>
      </p:sp>
      <p:pic>
        <p:nvPicPr>
          <p:cNvPr id="38" name="Image 1" descr="preencoded.png">    </p:cNvPr>
          <p:cNvPicPr>
            <a:picLocks noChangeAspect="1"/>
          </p:cNvPicPr>
          <p:nvPr/>
        </p:nvPicPr>
        <p:blipFill>
          <a:blip r:embed="rId2"/>
          <a:stretch>
            <a:fillRect/>
          </a:stretch>
        </p:blipFill>
        <p:spPr>
          <a:xfrm>
            <a:off x="7429500" y="1394460"/>
            <a:ext cx="137160" cy="137160"/>
          </a:xfrm>
          <a:prstGeom prst="rect">
            <a:avLst/>
          </a:prstGeom>
        </p:spPr>
      </p:pic>
      <p:sp>
        <p:nvSpPr>
          <p:cNvPr id="39" name="Text 35"/>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0" name="Text 36"/>
          <p:cNvSpPr txBox="1"/>
          <p:nvPr/>
        </p:nvSpPr>
        <p:spPr>
          <a:xfrm>
            <a:off x="7726680" y="1618488"/>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Hero (text left, art right) as on the VoIP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Dark coverage band with five region chips + paragraphs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chips wrap to 2–3 per row</a:t>
            </a:r>
            <a:endParaRPr lang="en-US" sz="1100" dirty="0"/>
          </a:p>
        </p:txBody>
      </p:sp>
      <p:sp>
        <p:nvSpPr>
          <p:cNvPr id="41" name="Shape 37"/>
          <p:cNvSpPr/>
          <p:nvPr/>
        </p:nvSpPr>
        <p:spPr>
          <a:xfrm>
            <a:off x="7360920" y="2272284"/>
            <a:ext cx="274320" cy="274320"/>
          </a:xfrm>
          <a:prstGeom prst="ellipse">
            <a:avLst/>
          </a:prstGeom>
          <a:solidFill>
            <a:srgbClr val="ECEBFF"/>
          </a:solidFill>
          <a:ln/>
        </p:spPr>
      </p:sp>
      <p:pic>
        <p:nvPicPr>
          <p:cNvPr id="42" name="Image 2" descr="preencoded.png">    </p:cNvPr>
          <p:cNvPicPr>
            <a:picLocks noChangeAspect="1"/>
          </p:cNvPicPr>
          <p:nvPr/>
        </p:nvPicPr>
        <p:blipFill>
          <a:blip r:embed="rId3"/>
          <a:stretch>
            <a:fillRect/>
          </a:stretch>
        </p:blipFill>
        <p:spPr>
          <a:xfrm>
            <a:off x="7429500" y="2340864"/>
            <a:ext cx="137160" cy="137160"/>
          </a:xfrm>
          <a:prstGeom prst="rect">
            <a:avLst/>
          </a:prstGeom>
        </p:spPr>
      </p:pic>
      <p:sp>
        <p:nvSpPr>
          <p:cNvPr id="43" name="Text 38"/>
          <p:cNvSpPr txBox="1"/>
          <p:nvPr/>
        </p:nvSpPr>
        <p:spPr>
          <a:xfrm>
            <a:off x="7726680" y="229057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4" name="Text 39"/>
          <p:cNvSpPr txBox="1"/>
          <p:nvPr/>
        </p:nvSpPr>
        <p:spPr>
          <a:xfrm>
            <a:off x="7726680" y="2564892"/>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H1, sub-heading (as eyebrow) and 3 paragraphs verbatim (item 7)</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Region chips list only the regions named in the document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Buttons ✱: 'Discuss SMS Routes', 'Our SMS Capabilities ↓'</a:t>
            </a:r>
            <a:endParaRPr lang="en-US" sz="1100" dirty="0"/>
          </a:p>
        </p:txBody>
      </p:sp>
      <p:sp>
        <p:nvSpPr>
          <p:cNvPr id="45" name="Shape 40"/>
          <p:cNvSpPr/>
          <p:nvPr/>
        </p:nvSpPr>
        <p:spPr>
          <a:xfrm>
            <a:off x="7360920" y="3218688"/>
            <a:ext cx="274320" cy="274320"/>
          </a:xfrm>
          <a:prstGeom prst="ellipse">
            <a:avLst/>
          </a:prstGeom>
          <a:solidFill>
            <a:srgbClr val="ECEBFF"/>
          </a:solidFill>
          <a:ln/>
        </p:spPr>
      </p:sp>
      <p:pic>
        <p:nvPicPr>
          <p:cNvPr id="46" name="Image 3" descr="preencoded.png">    </p:cNvPr>
          <p:cNvPicPr>
            <a:picLocks noChangeAspect="1"/>
          </p:cNvPicPr>
          <p:nvPr/>
        </p:nvPicPr>
        <p:blipFill>
          <a:blip r:embed="rId4"/>
          <a:stretch>
            <a:fillRect/>
          </a:stretch>
        </p:blipFill>
        <p:spPr>
          <a:xfrm>
            <a:off x="7429500" y="3287268"/>
            <a:ext cx="137160" cy="137160"/>
          </a:xfrm>
          <a:prstGeom prst="rect">
            <a:avLst/>
          </a:prstGeom>
        </p:spPr>
      </p:pic>
      <p:sp>
        <p:nvSpPr>
          <p:cNvPr id="47" name="Text 41"/>
          <p:cNvSpPr txBox="1"/>
          <p:nvPr/>
        </p:nvSpPr>
        <p:spPr>
          <a:xfrm>
            <a:off x="7726680" y="323697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48" name="Text 42"/>
          <p:cNvSpPr txBox="1"/>
          <p:nvPr/>
        </p:nvSpPr>
        <p:spPr>
          <a:xfrm>
            <a:off x="7726680" y="351129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Isometric SVG: phone + message bubbles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Optional dotted world map behind the chips, regions highlighted</a:t>
            </a:r>
            <a:endParaRPr lang="en-US" sz="1100" dirty="0"/>
          </a:p>
        </p:txBody>
      </p:sp>
      <p:sp>
        <p:nvSpPr>
          <p:cNvPr id="49" name="Shape 43"/>
          <p:cNvSpPr/>
          <p:nvPr/>
        </p:nvSpPr>
        <p:spPr>
          <a:xfrm>
            <a:off x="7360920" y="3995928"/>
            <a:ext cx="274320" cy="274320"/>
          </a:xfrm>
          <a:prstGeom prst="ellipse">
            <a:avLst/>
          </a:prstGeom>
          <a:solidFill>
            <a:srgbClr val="ECEBFF"/>
          </a:solidFill>
          <a:ln/>
        </p:spPr>
      </p:sp>
      <p:pic>
        <p:nvPicPr>
          <p:cNvPr id="50" name="Image 4" descr="preencoded.png">    </p:cNvPr>
          <p:cNvPicPr>
            <a:picLocks noChangeAspect="1"/>
          </p:cNvPicPr>
          <p:nvPr/>
        </p:nvPicPr>
        <p:blipFill>
          <a:blip r:embed="rId5"/>
          <a:stretch>
            <a:fillRect/>
          </a:stretch>
        </p:blipFill>
        <p:spPr>
          <a:xfrm>
            <a:off x="7429500" y="4064508"/>
            <a:ext cx="137160" cy="137160"/>
          </a:xfrm>
          <a:prstGeom prst="rect">
            <a:avLst/>
          </a:prstGeom>
        </p:spPr>
      </p:pic>
      <p:sp>
        <p:nvSpPr>
          <p:cNvPr id="51" name="Text 44"/>
          <p:cNvSpPr txBox="1"/>
          <p:nvPr/>
        </p:nvSpPr>
        <p:spPr>
          <a:xfrm>
            <a:off x="7726680" y="401421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2" name="Text 45"/>
          <p:cNvSpPr txBox="1"/>
          <p:nvPr/>
        </p:nvSpPr>
        <p:spPr>
          <a:xfrm>
            <a:off x="7726680" y="428853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Discuss SMS Routes → Contact (SMS pre-selected)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Scroll button jumps to capabilities</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Our SMS Capabilities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SMS PAGE · SECTION 2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omaginfo.com/services/sms</a:t>
            </a:r>
            <a:endParaRPr lang="en-US" sz="700" dirty="0"/>
          </a:p>
        </p:txBody>
      </p:sp>
      <p:sp>
        <p:nvSpPr>
          <p:cNvPr id="12" name="Text 10"/>
          <p:cNvSpPr txBox="1"/>
          <p:nvPr/>
        </p:nvSpPr>
        <p:spPr>
          <a:xfrm>
            <a:off x="749808" y="1737360"/>
            <a:ext cx="6135624" cy="365760"/>
          </a:xfrm>
          <a:prstGeom prst="rect">
            <a:avLst/>
          </a:prstGeom>
          <a:noFill/>
          <a:ln/>
        </p:spPr>
        <p:txBody>
          <a:bodyPr wrap="square" lIns="0" tIns="0" rIns="0" bIns="0" rtlCol="0" anchor="t"/>
          <a:lstStyle/>
          <a:p>
            <a:pPr algn="ctr" indent="0" marL="0">
              <a:buNone/>
            </a:pPr>
            <a:r>
              <a:rPr lang="en-US" sz="1700" b="1" dirty="0">
                <a:solidFill>
                  <a:srgbClr val="16161F"/>
                </a:solidFill>
                <a:latin typeface="Calibri" pitchFamily="34" charset="0"/>
                <a:ea typeface="Calibri" pitchFamily="34" charset="-122"/>
                <a:cs typeface="Calibri" pitchFamily="34" charset="-120"/>
              </a:rPr>
              <a:t>Our SMS Capabilities</a:t>
            </a:r>
            <a:endParaRPr lang="en-US" sz="1700" dirty="0"/>
          </a:p>
        </p:txBody>
      </p:sp>
      <p:sp>
        <p:nvSpPr>
          <p:cNvPr id="13" name="Shape 11"/>
          <p:cNvSpPr/>
          <p:nvPr/>
        </p:nvSpPr>
        <p:spPr>
          <a:xfrm>
            <a:off x="749808" y="2286000"/>
            <a:ext cx="1463040" cy="3017520"/>
          </a:xfrm>
          <a:prstGeom prst="roundRect">
            <a:avLst>
              <a:gd name="adj" fmla="val 8750"/>
            </a:avLst>
          </a:prstGeom>
          <a:solidFill>
            <a:srgbClr val="1B1B28"/>
          </a:solidFill>
          <a:ln/>
        </p:spPr>
      </p:sp>
      <p:sp>
        <p:nvSpPr>
          <p:cNvPr id="14" name="Shape 12"/>
          <p:cNvSpPr/>
          <p:nvPr/>
        </p:nvSpPr>
        <p:spPr>
          <a:xfrm>
            <a:off x="886968" y="2423160"/>
            <a:ext cx="411480" cy="411480"/>
          </a:xfrm>
          <a:prstGeom prst="ellipse">
            <a:avLst/>
          </a:prstGeom>
          <a:solidFill>
            <a:srgbClr val="3A3360"/>
          </a:solidFill>
          <a:ln/>
        </p:spPr>
      </p:sp>
      <p:pic>
        <p:nvPicPr>
          <p:cNvPr id="15" name="Image 0" descr="preencoded.png">    </p:cNvPr>
          <p:cNvPicPr>
            <a:picLocks noChangeAspect="1"/>
          </p:cNvPicPr>
          <p:nvPr/>
        </p:nvPicPr>
        <p:blipFill>
          <a:blip r:embed="rId1"/>
          <a:stretch>
            <a:fillRect/>
          </a:stretch>
        </p:blipFill>
        <p:spPr>
          <a:xfrm>
            <a:off x="992124" y="2528316"/>
            <a:ext cx="201168" cy="201168"/>
          </a:xfrm>
          <a:prstGeom prst="rect">
            <a:avLst/>
          </a:prstGeom>
        </p:spPr>
      </p:pic>
      <p:sp>
        <p:nvSpPr>
          <p:cNvPr id="16" name="Text 13"/>
          <p:cNvSpPr txBox="1"/>
          <p:nvPr/>
        </p:nvSpPr>
        <p:spPr>
          <a:xfrm>
            <a:off x="886968" y="2926080"/>
            <a:ext cx="11887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International A2P Messaging</a:t>
            </a:r>
            <a:endParaRPr lang="en-US" sz="950" dirty="0"/>
          </a:p>
        </p:txBody>
      </p:sp>
      <p:sp>
        <p:nvSpPr>
          <p:cNvPr id="17" name="Text 14"/>
          <p:cNvSpPr txBox="1"/>
          <p:nvPr/>
        </p:nvSpPr>
        <p:spPr>
          <a:xfrm>
            <a:off x="886968" y="3429000"/>
            <a:ext cx="1188720" cy="1828800"/>
          </a:xfrm>
          <a:prstGeom prst="rect">
            <a:avLst/>
          </a:prstGeom>
          <a:noFill/>
          <a:ln/>
        </p:spPr>
        <p:txBody>
          <a:bodyPr wrap="square" lIns="0" tIns="0" rIns="0" bIns="0" rtlCol="0" anchor="t"/>
          <a:lstStyle/>
          <a:p>
            <a:pPr indent="0" marL="0">
              <a:buNone/>
            </a:pPr>
            <a:r>
              <a:rPr lang="en-US" sz="750" dirty="0">
                <a:solidFill>
                  <a:srgbClr val="C9C9DA"/>
                </a:solidFill>
                <a:latin typeface="Calibri" pitchFamily="34" charset="0"/>
                <a:ea typeface="Calibri" pitchFamily="34" charset="-122"/>
                <a:cs typeface="Calibri" pitchFamily="34" charset="-120"/>
              </a:rPr>
              <a:t>We support application-to-person messaging for business communications, including one-time passwords (OTPs), transaction notifications, service alerts, and customer updates, subject to route and destination availability.</a:t>
            </a:r>
            <a:endParaRPr lang="en-US" sz="750" dirty="0"/>
          </a:p>
        </p:txBody>
      </p:sp>
      <p:sp>
        <p:nvSpPr>
          <p:cNvPr id="18" name="Shape 15"/>
          <p:cNvSpPr/>
          <p:nvPr/>
        </p:nvSpPr>
        <p:spPr>
          <a:xfrm>
            <a:off x="2304288" y="2286000"/>
            <a:ext cx="1463040" cy="3017520"/>
          </a:xfrm>
          <a:prstGeom prst="roundRect">
            <a:avLst>
              <a:gd name="adj" fmla="val 8750"/>
            </a:avLst>
          </a:prstGeom>
          <a:solidFill>
            <a:srgbClr val="FFFFFF"/>
          </a:solidFill>
          <a:ln w="9525">
            <a:solidFill>
              <a:srgbClr val="E4E3EF"/>
            </a:solidFill>
            <a:prstDash val="solid"/>
          </a:ln>
        </p:spPr>
      </p:sp>
      <p:sp>
        <p:nvSpPr>
          <p:cNvPr id="19" name="Shape 16"/>
          <p:cNvSpPr/>
          <p:nvPr/>
        </p:nvSpPr>
        <p:spPr>
          <a:xfrm>
            <a:off x="2441448" y="2423160"/>
            <a:ext cx="411480" cy="411480"/>
          </a:xfrm>
          <a:prstGeom prst="ellipse">
            <a:avLst/>
          </a:prstGeom>
          <a:solidFill>
            <a:srgbClr val="ECEBFF"/>
          </a:solidFill>
          <a:ln/>
        </p:spPr>
      </p:sp>
      <p:pic>
        <p:nvPicPr>
          <p:cNvPr id="20" name="Image 1" descr="preencoded.png">    </p:cNvPr>
          <p:cNvPicPr>
            <a:picLocks noChangeAspect="1"/>
          </p:cNvPicPr>
          <p:nvPr/>
        </p:nvPicPr>
        <p:blipFill>
          <a:blip r:embed="rId2"/>
          <a:stretch>
            <a:fillRect/>
          </a:stretch>
        </p:blipFill>
        <p:spPr>
          <a:xfrm>
            <a:off x="2546604" y="2528316"/>
            <a:ext cx="201168" cy="201168"/>
          </a:xfrm>
          <a:prstGeom prst="rect">
            <a:avLst/>
          </a:prstGeom>
        </p:spPr>
      </p:pic>
      <p:sp>
        <p:nvSpPr>
          <p:cNvPr id="21" name="Text 17"/>
          <p:cNvSpPr txBox="1"/>
          <p:nvPr/>
        </p:nvSpPr>
        <p:spPr>
          <a:xfrm>
            <a:off x="2441448" y="2926080"/>
            <a:ext cx="1188720" cy="457200"/>
          </a:xfrm>
          <a:prstGeom prst="rect">
            <a:avLst/>
          </a:prstGeom>
          <a:noFill/>
          <a:ln/>
        </p:spPr>
        <p:txBody>
          <a:bodyPr wrap="square" lIns="0" tIns="0" rIns="0" bIns="0" rtlCol="0" anchor="t"/>
          <a:lstStyle/>
          <a:p>
            <a:pPr indent="0" marL="0">
              <a:buNone/>
            </a:pPr>
            <a:r>
              <a:rPr lang="en-US" sz="950" b="1" dirty="0">
                <a:solidFill>
                  <a:srgbClr val="16161F"/>
                </a:solidFill>
                <a:latin typeface="Calibri" pitchFamily="34" charset="0"/>
                <a:ea typeface="Calibri" pitchFamily="34" charset="-122"/>
                <a:cs typeface="Calibri" pitchFamily="34" charset="-120"/>
              </a:rPr>
              <a:t>Direct SMS Connectivity</a:t>
            </a:r>
            <a:endParaRPr lang="en-US" sz="950" dirty="0"/>
          </a:p>
        </p:txBody>
      </p:sp>
      <p:sp>
        <p:nvSpPr>
          <p:cNvPr id="22" name="Text 18"/>
          <p:cNvSpPr txBox="1"/>
          <p:nvPr/>
        </p:nvSpPr>
        <p:spPr>
          <a:xfrm>
            <a:off x="2441448" y="3429000"/>
            <a:ext cx="1188720" cy="182880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Where available, our direct connectivity options help partners access mobile network operators and reduce unnecessary intermediary routing, supporting efficient message delivery.</a:t>
            </a:r>
            <a:endParaRPr lang="en-US" sz="750" dirty="0"/>
          </a:p>
        </p:txBody>
      </p:sp>
      <p:sp>
        <p:nvSpPr>
          <p:cNvPr id="23" name="Shape 19"/>
          <p:cNvSpPr/>
          <p:nvPr/>
        </p:nvSpPr>
        <p:spPr>
          <a:xfrm>
            <a:off x="3858768" y="2286000"/>
            <a:ext cx="1463040" cy="3017520"/>
          </a:xfrm>
          <a:prstGeom prst="roundRect">
            <a:avLst>
              <a:gd name="adj" fmla="val 8750"/>
            </a:avLst>
          </a:prstGeom>
          <a:solidFill>
            <a:srgbClr val="FFFFFF"/>
          </a:solidFill>
          <a:ln w="9525">
            <a:solidFill>
              <a:srgbClr val="E4E3EF"/>
            </a:solidFill>
            <a:prstDash val="solid"/>
          </a:ln>
        </p:spPr>
      </p:sp>
      <p:sp>
        <p:nvSpPr>
          <p:cNvPr id="24" name="Shape 20"/>
          <p:cNvSpPr/>
          <p:nvPr/>
        </p:nvSpPr>
        <p:spPr>
          <a:xfrm>
            <a:off x="3995928" y="2423160"/>
            <a:ext cx="411480" cy="411480"/>
          </a:xfrm>
          <a:prstGeom prst="ellipse">
            <a:avLst/>
          </a:prstGeom>
          <a:solidFill>
            <a:srgbClr val="ECEBFF"/>
          </a:solidFill>
          <a:ln/>
        </p:spPr>
      </p:sp>
      <p:pic>
        <p:nvPicPr>
          <p:cNvPr id="25" name="Image 2" descr="preencoded.png">    </p:cNvPr>
          <p:cNvPicPr>
            <a:picLocks noChangeAspect="1"/>
          </p:cNvPicPr>
          <p:nvPr/>
        </p:nvPicPr>
        <p:blipFill>
          <a:blip r:embed="rId3"/>
          <a:stretch>
            <a:fillRect/>
          </a:stretch>
        </p:blipFill>
        <p:spPr>
          <a:xfrm>
            <a:off x="4101084" y="2528316"/>
            <a:ext cx="201168" cy="201168"/>
          </a:xfrm>
          <a:prstGeom prst="rect">
            <a:avLst/>
          </a:prstGeom>
        </p:spPr>
      </p:pic>
      <p:sp>
        <p:nvSpPr>
          <p:cNvPr id="26" name="Text 21"/>
          <p:cNvSpPr txBox="1"/>
          <p:nvPr/>
        </p:nvSpPr>
        <p:spPr>
          <a:xfrm>
            <a:off x="3995928" y="2926080"/>
            <a:ext cx="1188720" cy="457200"/>
          </a:xfrm>
          <a:prstGeom prst="rect">
            <a:avLst/>
          </a:prstGeom>
          <a:noFill/>
          <a:ln/>
        </p:spPr>
        <p:txBody>
          <a:bodyPr wrap="square" lIns="0" tIns="0" rIns="0" bIns="0" rtlCol="0" anchor="t"/>
          <a:lstStyle/>
          <a:p>
            <a:pPr indent="0" marL="0">
              <a:buNone/>
            </a:pPr>
            <a:r>
              <a:rPr lang="en-US" sz="950" b="1" dirty="0">
                <a:solidFill>
                  <a:srgbClr val="16161F"/>
                </a:solidFill>
                <a:latin typeface="Calibri" pitchFamily="34" charset="0"/>
                <a:ea typeface="Calibri" pitchFamily="34" charset="-122"/>
                <a:cs typeface="Calibri" pitchFamily="34" charset="-120"/>
              </a:rPr>
              <a:t>Multi-Region Coverage</a:t>
            </a:r>
            <a:endParaRPr lang="en-US" sz="950" dirty="0"/>
          </a:p>
        </p:txBody>
      </p:sp>
      <p:sp>
        <p:nvSpPr>
          <p:cNvPr id="27" name="Text 22"/>
          <p:cNvSpPr txBox="1"/>
          <p:nvPr/>
        </p:nvSpPr>
        <p:spPr>
          <a:xfrm>
            <a:off x="3995928" y="3429000"/>
            <a:ext cx="1188720" cy="182880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Our SMS solutions support international messaging requirements across a broad range of destinations, helping aggregators, messaging platforms, and telecom operators extend their reach into new markets.</a:t>
            </a:r>
            <a:endParaRPr lang="en-US" sz="750" dirty="0"/>
          </a:p>
        </p:txBody>
      </p:sp>
      <p:sp>
        <p:nvSpPr>
          <p:cNvPr id="28" name="Shape 23"/>
          <p:cNvSpPr/>
          <p:nvPr/>
        </p:nvSpPr>
        <p:spPr>
          <a:xfrm>
            <a:off x="5413248" y="2286000"/>
            <a:ext cx="1463040" cy="3017520"/>
          </a:xfrm>
          <a:prstGeom prst="roundRect">
            <a:avLst>
              <a:gd name="adj" fmla="val 8750"/>
            </a:avLst>
          </a:prstGeom>
          <a:solidFill>
            <a:srgbClr val="FFFFFF"/>
          </a:solidFill>
          <a:ln w="9525">
            <a:solidFill>
              <a:srgbClr val="E4E3EF"/>
            </a:solidFill>
            <a:prstDash val="solid"/>
          </a:ln>
        </p:spPr>
      </p:sp>
      <p:sp>
        <p:nvSpPr>
          <p:cNvPr id="29" name="Shape 24"/>
          <p:cNvSpPr/>
          <p:nvPr/>
        </p:nvSpPr>
        <p:spPr>
          <a:xfrm>
            <a:off x="5550408" y="2423160"/>
            <a:ext cx="411480" cy="411480"/>
          </a:xfrm>
          <a:prstGeom prst="ellipse">
            <a:avLst/>
          </a:prstGeom>
          <a:solidFill>
            <a:srgbClr val="ECEBFF"/>
          </a:solidFill>
          <a:ln/>
        </p:spPr>
      </p:sp>
      <p:pic>
        <p:nvPicPr>
          <p:cNvPr id="30" name="Image 3" descr="preencoded.png">    </p:cNvPr>
          <p:cNvPicPr>
            <a:picLocks noChangeAspect="1"/>
          </p:cNvPicPr>
          <p:nvPr/>
        </p:nvPicPr>
        <p:blipFill>
          <a:blip r:embed="rId4"/>
          <a:stretch>
            <a:fillRect/>
          </a:stretch>
        </p:blipFill>
        <p:spPr>
          <a:xfrm>
            <a:off x="5655564" y="2528316"/>
            <a:ext cx="201168" cy="201168"/>
          </a:xfrm>
          <a:prstGeom prst="rect">
            <a:avLst/>
          </a:prstGeom>
        </p:spPr>
      </p:pic>
      <p:sp>
        <p:nvSpPr>
          <p:cNvPr id="31" name="Text 25"/>
          <p:cNvSpPr txBox="1"/>
          <p:nvPr/>
        </p:nvSpPr>
        <p:spPr>
          <a:xfrm>
            <a:off x="5550408" y="2926080"/>
            <a:ext cx="1188720" cy="457200"/>
          </a:xfrm>
          <a:prstGeom prst="rect">
            <a:avLst/>
          </a:prstGeom>
          <a:noFill/>
          <a:ln/>
        </p:spPr>
        <p:txBody>
          <a:bodyPr wrap="square" lIns="0" tIns="0" rIns="0" bIns="0" rtlCol="0" anchor="t"/>
          <a:lstStyle/>
          <a:p>
            <a:pPr indent="0" marL="0">
              <a:buNone/>
            </a:pPr>
            <a:r>
              <a:rPr lang="en-US" sz="950" b="1" dirty="0">
                <a:solidFill>
                  <a:srgbClr val="16161F"/>
                </a:solidFill>
                <a:latin typeface="Calibri" pitchFamily="34" charset="0"/>
                <a:ea typeface="Calibri" pitchFamily="34" charset="-122"/>
                <a:cs typeface="Calibri" pitchFamily="34" charset="-120"/>
              </a:rPr>
              <a:t>Flexible Routing Solutions</a:t>
            </a:r>
            <a:endParaRPr lang="en-US" sz="950" dirty="0"/>
          </a:p>
        </p:txBody>
      </p:sp>
      <p:sp>
        <p:nvSpPr>
          <p:cNvPr id="32" name="Text 26"/>
          <p:cNvSpPr txBox="1"/>
          <p:nvPr/>
        </p:nvSpPr>
        <p:spPr>
          <a:xfrm>
            <a:off x="5550408" y="3429000"/>
            <a:ext cx="1188720" cy="1828800"/>
          </a:xfrm>
          <a:prstGeom prst="rect">
            <a:avLst/>
          </a:prstGeom>
          <a:noFill/>
          <a:ln/>
        </p:spPr>
        <p:txBody>
          <a:bodyPr wrap="square" lIns="0" tIns="0" rIns="0" bIns="0" rtlCol="0" anchor="t"/>
          <a:lstStyle/>
          <a:p>
            <a:pPr indent="0" marL="0">
              <a:buNone/>
            </a:pPr>
            <a:r>
              <a:rPr lang="en-US" sz="750" dirty="0">
                <a:solidFill>
                  <a:srgbClr val="5F6075"/>
                </a:solidFill>
                <a:latin typeface="Calibri" pitchFamily="34" charset="0"/>
                <a:ea typeface="Calibri" pitchFamily="34" charset="-122"/>
                <a:cs typeface="Calibri" pitchFamily="34" charset="-120"/>
              </a:rPr>
              <a:t>We work with partners to identify suitable routes based on destination, traffic type, delivery requirements, and agreed commercial terms.</a:t>
            </a:r>
            <a:endParaRPr lang="en-US" sz="750" dirty="0"/>
          </a:p>
        </p:txBody>
      </p:sp>
      <p:sp>
        <p:nvSpPr>
          <p:cNvPr id="33" name="Text 27"/>
          <p:cNvSpPr txBox="1"/>
          <p:nvPr/>
        </p:nvSpPr>
        <p:spPr>
          <a:xfrm>
            <a:off x="749808" y="5486400"/>
            <a:ext cx="1097280" cy="228600"/>
          </a:xfrm>
          <a:prstGeom prst="rect">
            <a:avLst/>
          </a:prstGeom>
          <a:noFill/>
          <a:ln/>
        </p:spPr>
        <p:txBody>
          <a:bodyPr wrap="square" lIns="0" tIns="0" rIns="0" bIns="0" rtlCol="0" anchor="ctr"/>
          <a:lstStyle/>
          <a:p>
            <a:pPr indent="0" marL="0">
              <a:buNone/>
            </a:pPr>
            <a:r>
              <a:rPr lang="en-US" sz="850" b="1" dirty="0">
                <a:solidFill>
                  <a:srgbClr val="16161F"/>
                </a:solidFill>
                <a:latin typeface="Calibri" pitchFamily="34" charset="0"/>
                <a:ea typeface="Calibri" pitchFamily="34" charset="-122"/>
                <a:cs typeface="Calibri" pitchFamily="34" charset="-120"/>
              </a:rPr>
              <a:t>A2P use cases:</a:t>
            </a:r>
            <a:endParaRPr lang="en-US" sz="850" dirty="0"/>
          </a:p>
        </p:txBody>
      </p:sp>
      <p:sp>
        <p:nvSpPr>
          <p:cNvPr id="34" name="Shape 28"/>
          <p:cNvSpPr/>
          <p:nvPr/>
        </p:nvSpPr>
        <p:spPr>
          <a:xfrm>
            <a:off x="1847088" y="5468112"/>
            <a:ext cx="490118" cy="256032"/>
          </a:xfrm>
          <a:prstGeom prst="roundRect">
            <a:avLst>
              <a:gd name="adj" fmla="val 50000"/>
            </a:avLst>
          </a:prstGeom>
          <a:solidFill>
            <a:srgbClr val="ECEBFF"/>
          </a:solidFill>
          <a:ln/>
        </p:spPr>
      </p:sp>
      <p:sp>
        <p:nvSpPr>
          <p:cNvPr id="35" name="Text 29"/>
          <p:cNvSpPr txBox="1"/>
          <p:nvPr/>
        </p:nvSpPr>
        <p:spPr>
          <a:xfrm>
            <a:off x="1847088" y="5468112"/>
            <a:ext cx="490118" cy="256032"/>
          </a:xfrm>
          <a:prstGeom prst="rect">
            <a:avLst/>
          </a:prstGeom>
          <a:noFill/>
          <a:ln/>
        </p:spPr>
        <p:txBody>
          <a:bodyPr wrap="square" lIns="0" tIns="0" rIns="0" bIns="0" rtlCol="0" anchor="ctr"/>
          <a:lstStyle/>
          <a:p>
            <a:pPr algn="ctr" indent="0" marL="0">
              <a:buNone/>
            </a:pPr>
            <a:r>
              <a:rPr lang="en-US" sz="750" b="1" dirty="0">
                <a:solidFill>
                  <a:srgbClr val="16161F"/>
                </a:solidFill>
                <a:latin typeface="Calibri" pitchFamily="34" charset="0"/>
                <a:ea typeface="Calibri" pitchFamily="34" charset="-122"/>
                <a:cs typeface="Calibri" pitchFamily="34" charset="-120"/>
              </a:rPr>
              <a:t>OTPs</a:t>
            </a:r>
            <a:endParaRPr lang="en-US" sz="750" dirty="0"/>
          </a:p>
        </p:txBody>
      </p:sp>
      <p:sp>
        <p:nvSpPr>
          <p:cNvPr id="36" name="Shape 30"/>
          <p:cNvSpPr/>
          <p:nvPr/>
        </p:nvSpPr>
        <p:spPr>
          <a:xfrm>
            <a:off x="2410358" y="5468112"/>
            <a:ext cx="1527048" cy="256032"/>
          </a:xfrm>
          <a:prstGeom prst="roundRect">
            <a:avLst>
              <a:gd name="adj" fmla="val 50000"/>
            </a:avLst>
          </a:prstGeom>
          <a:solidFill>
            <a:srgbClr val="ECEBFF"/>
          </a:solidFill>
          <a:ln/>
        </p:spPr>
      </p:sp>
      <p:sp>
        <p:nvSpPr>
          <p:cNvPr id="37" name="Text 31"/>
          <p:cNvSpPr txBox="1"/>
          <p:nvPr/>
        </p:nvSpPr>
        <p:spPr>
          <a:xfrm>
            <a:off x="2410358" y="5468112"/>
            <a:ext cx="1527048" cy="256032"/>
          </a:xfrm>
          <a:prstGeom prst="rect">
            <a:avLst/>
          </a:prstGeom>
          <a:noFill/>
          <a:ln/>
        </p:spPr>
        <p:txBody>
          <a:bodyPr wrap="square" lIns="0" tIns="0" rIns="0" bIns="0" rtlCol="0" anchor="ctr"/>
          <a:lstStyle/>
          <a:p>
            <a:pPr algn="ctr" indent="0" marL="0">
              <a:buNone/>
            </a:pPr>
            <a:r>
              <a:rPr lang="en-US" sz="750" b="1" dirty="0">
                <a:solidFill>
                  <a:srgbClr val="16161F"/>
                </a:solidFill>
                <a:latin typeface="Calibri" pitchFamily="34" charset="0"/>
                <a:ea typeface="Calibri" pitchFamily="34" charset="-122"/>
                <a:cs typeface="Calibri" pitchFamily="34" charset="-120"/>
              </a:rPr>
              <a:t>Transaction notifications</a:t>
            </a:r>
            <a:endParaRPr lang="en-US" sz="750" dirty="0"/>
          </a:p>
        </p:txBody>
      </p:sp>
      <p:sp>
        <p:nvSpPr>
          <p:cNvPr id="38" name="Shape 32"/>
          <p:cNvSpPr/>
          <p:nvPr/>
        </p:nvSpPr>
        <p:spPr>
          <a:xfrm>
            <a:off x="4010558" y="5468112"/>
            <a:ext cx="983894" cy="256032"/>
          </a:xfrm>
          <a:prstGeom prst="roundRect">
            <a:avLst>
              <a:gd name="adj" fmla="val 50000"/>
            </a:avLst>
          </a:prstGeom>
          <a:solidFill>
            <a:srgbClr val="ECEBFF"/>
          </a:solidFill>
          <a:ln/>
        </p:spPr>
      </p:sp>
      <p:sp>
        <p:nvSpPr>
          <p:cNvPr id="39" name="Text 33"/>
          <p:cNvSpPr txBox="1"/>
          <p:nvPr/>
        </p:nvSpPr>
        <p:spPr>
          <a:xfrm>
            <a:off x="4010558" y="5468112"/>
            <a:ext cx="983894" cy="256032"/>
          </a:xfrm>
          <a:prstGeom prst="rect">
            <a:avLst/>
          </a:prstGeom>
          <a:noFill/>
          <a:ln/>
        </p:spPr>
        <p:txBody>
          <a:bodyPr wrap="square" lIns="0" tIns="0" rIns="0" bIns="0" rtlCol="0" anchor="ctr"/>
          <a:lstStyle/>
          <a:p>
            <a:pPr algn="ctr" indent="0" marL="0">
              <a:buNone/>
            </a:pPr>
            <a:r>
              <a:rPr lang="en-US" sz="750" b="1" dirty="0">
                <a:solidFill>
                  <a:srgbClr val="16161F"/>
                </a:solidFill>
                <a:latin typeface="Calibri" pitchFamily="34" charset="0"/>
                <a:ea typeface="Calibri" pitchFamily="34" charset="-122"/>
                <a:cs typeface="Calibri" pitchFamily="34" charset="-120"/>
              </a:rPr>
              <a:t>Service alerts</a:t>
            </a:r>
            <a:endParaRPr lang="en-US" sz="750" dirty="0"/>
          </a:p>
        </p:txBody>
      </p:sp>
      <p:sp>
        <p:nvSpPr>
          <p:cNvPr id="40" name="Shape 34"/>
          <p:cNvSpPr/>
          <p:nvPr/>
        </p:nvSpPr>
        <p:spPr>
          <a:xfrm>
            <a:off x="5067605" y="5468112"/>
            <a:ext cx="1082650" cy="256032"/>
          </a:xfrm>
          <a:prstGeom prst="roundRect">
            <a:avLst>
              <a:gd name="adj" fmla="val 50000"/>
            </a:avLst>
          </a:prstGeom>
          <a:solidFill>
            <a:srgbClr val="ECEBFF"/>
          </a:solidFill>
          <a:ln/>
        </p:spPr>
      </p:sp>
      <p:sp>
        <p:nvSpPr>
          <p:cNvPr id="41" name="Text 35"/>
          <p:cNvSpPr txBox="1"/>
          <p:nvPr/>
        </p:nvSpPr>
        <p:spPr>
          <a:xfrm>
            <a:off x="5067605" y="5468112"/>
            <a:ext cx="1082650" cy="256032"/>
          </a:xfrm>
          <a:prstGeom prst="rect">
            <a:avLst/>
          </a:prstGeom>
          <a:noFill/>
          <a:ln/>
        </p:spPr>
        <p:txBody>
          <a:bodyPr wrap="square" lIns="0" tIns="0" rIns="0" bIns="0" rtlCol="0" anchor="ctr"/>
          <a:lstStyle/>
          <a:p>
            <a:pPr algn="ctr" indent="0" marL="0">
              <a:buNone/>
            </a:pPr>
            <a:r>
              <a:rPr lang="en-US" sz="750" b="1" dirty="0">
                <a:solidFill>
                  <a:srgbClr val="16161F"/>
                </a:solidFill>
                <a:latin typeface="Calibri" pitchFamily="34" charset="0"/>
                <a:ea typeface="Calibri" pitchFamily="34" charset="-122"/>
                <a:cs typeface="Calibri" pitchFamily="34" charset="-120"/>
              </a:rPr>
              <a:t>Customer updates</a:t>
            </a:r>
            <a:endParaRPr lang="en-US" sz="750" dirty="0"/>
          </a:p>
        </p:txBody>
      </p:sp>
      <p:sp>
        <p:nvSpPr>
          <p:cNvPr id="42" name="Text 36"/>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43" name="Shape 37"/>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44" name="Image 4" descr="preencoded.png">    </p:cNvPr>
          <p:cNvPicPr>
            <a:picLocks noChangeAspect="1"/>
          </p:cNvPicPr>
          <p:nvPr/>
        </p:nvPicPr>
        <p:blipFill>
          <a:blip r:embed="rId5"/>
          <a:stretch>
            <a:fillRect/>
          </a:stretch>
        </p:blipFill>
        <p:spPr>
          <a:xfrm>
            <a:off x="9027301" y="1591056"/>
            <a:ext cx="964918" cy="822960"/>
          </a:xfrm>
          <a:prstGeom prst="rect">
            <a:avLst/>
          </a:prstGeom>
        </p:spPr>
      </p:pic>
      <p:sp>
        <p:nvSpPr>
          <p:cNvPr id="45" name="Shape 38"/>
          <p:cNvSpPr/>
          <p:nvPr/>
        </p:nvSpPr>
        <p:spPr>
          <a:xfrm>
            <a:off x="7360920" y="2587752"/>
            <a:ext cx="274320" cy="274320"/>
          </a:xfrm>
          <a:prstGeom prst="ellipse">
            <a:avLst/>
          </a:prstGeom>
          <a:solidFill>
            <a:srgbClr val="ECEBFF"/>
          </a:solidFill>
          <a:ln/>
        </p:spPr>
      </p:sp>
      <p:pic>
        <p:nvPicPr>
          <p:cNvPr id="46" name="Image 5" descr="preencoded.png">    </p:cNvPr>
          <p:cNvPicPr>
            <a:picLocks noChangeAspect="1"/>
          </p:cNvPicPr>
          <p:nvPr/>
        </p:nvPicPr>
        <p:blipFill>
          <a:blip r:embed="rId6"/>
          <a:stretch>
            <a:fillRect/>
          </a:stretch>
        </p:blipFill>
        <p:spPr>
          <a:xfrm>
            <a:off x="7429500" y="2656332"/>
            <a:ext cx="137160" cy="137160"/>
          </a:xfrm>
          <a:prstGeom prst="rect">
            <a:avLst/>
          </a:prstGeom>
        </p:spPr>
      </p:pic>
      <p:sp>
        <p:nvSpPr>
          <p:cNvPr id="47" name="Text 39"/>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8" name="Text 40"/>
          <p:cNvSpPr txBox="1"/>
          <p:nvPr/>
        </p:nvSpPr>
        <p:spPr>
          <a:xfrm>
            <a:off x="7726680" y="288036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4 equal cards in a row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Use-case chip row under the cards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Tablet: 2 × 2; phone: 1 column</a:t>
            </a:r>
            <a:endParaRPr lang="en-US" sz="1100" dirty="0"/>
          </a:p>
        </p:txBody>
      </p:sp>
      <p:sp>
        <p:nvSpPr>
          <p:cNvPr id="49" name="Shape 41"/>
          <p:cNvSpPr/>
          <p:nvPr/>
        </p:nvSpPr>
        <p:spPr>
          <a:xfrm>
            <a:off x="7360920" y="3534156"/>
            <a:ext cx="274320" cy="274320"/>
          </a:xfrm>
          <a:prstGeom prst="ellipse">
            <a:avLst/>
          </a:prstGeom>
          <a:solidFill>
            <a:srgbClr val="ECEBFF"/>
          </a:solidFill>
          <a:ln/>
        </p:spPr>
      </p:sp>
      <p:pic>
        <p:nvPicPr>
          <p:cNvPr id="50" name="Image 6" descr="preencoded.png">    </p:cNvPr>
          <p:cNvPicPr>
            <a:picLocks noChangeAspect="1"/>
          </p:cNvPicPr>
          <p:nvPr/>
        </p:nvPicPr>
        <p:blipFill>
          <a:blip r:embed="rId7"/>
          <a:stretch>
            <a:fillRect/>
          </a:stretch>
        </p:blipFill>
        <p:spPr>
          <a:xfrm>
            <a:off x="7429500" y="3602736"/>
            <a:ext cx="137160" cy="137160"/>
          </a:xfrm>
          <a:prstGeom prst="rect">
            <a:avLst/>
          </a:prstGeom>
        </p:spPr>
      </p:pic>
      <p:sp>
        <p:nvSpPr>
          <p:cNvPr id="51" name="Text 42"/>
          <p:cNvSpPr txBox="1"/>
          <p:nvPr/>
        </p:nvSpPr>
        <p:spPr>
          <a:xfrm>
            <a:off x="7726680" y="355244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2" name="Text 43"/>
          <p:cNvSpPr txBox="1"/>
          <p:nvPr/>
        </p:nvSpPr>
        <p:spPr>
          <a:xfrm>
            <a:off x="7726680" y="3826764"/>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Four capability titles + text verbatim (item 7)</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Chips repeat the A2P examples named in the document</a:t>
            </a:r>
            <a:endParaRPr lang="en-US" sz="1100" dirty="0"/>
          </a:p>
        </p:txBody>
      </p:sp>
      <p:sp>
        <p:nvSpPr>
          <p:cNvPr id="53" name="Shape 44"/>
          <p:cNvSpPr/>
          <p:nvPr/>
        </p:nvSpPr>
        <p:spPr>
          <a:xfrm>
            <a:off x="7360920" y="4311396"/>
            <a:ext cx="274320" cy="274320"/>
          </a:xfrm>
          <a:prstGeom prst="ellipse">
            <a:avLst/>
          </a:prstGeom>
          <a:solidFill>
            <a:srgbClr val="ECEBFF"/>
          </a:solidFill>
          <a:ln/>
        </p:spPr>
      </p:sp>
      <p:pic>
        <p:nvPicPr>
          <p:cNvPr id="54" name="Image 7" descr="preencoded.png">    </p:cNvPr>
          <p:cNvPicPr>
            <a:picLocks noChangeAspect="1"/>
          </p:cNvPicPr>
          <p:nvPr/>
        </p:nvPicPr>
        <p:blipFill>
          <a:blip r:embed="rId8"/>
          <a:stretch>
            <a:fillRect/>
          </a:stretch>
        </p:blipFill>
        <p:spPr>
          <a:xfrm>
            <a:off x="7429500" y="4379976"/>
            <a:ext cx="137160" cy="137160"/>
          </a:xfrm>
          <a:prstGeom prst="rect">
            <a:avLst/>
          </a:prstGeom>
        </p:spPr>
      </p:pic>
      <p:sp>
        <p:nvSpPr>
          <p:cNvPr id="55" name="Text 45"/>
          <p:cNvSpPr txBox="1"/>
          <p:nvPr/>
        </p:nvSpPr>
        <p:spPr>
          <a:xfrm>
            <a:off x="7726680" y="432968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6" name="Text 46"/>
          <p:cNvSpPr txBox="1"/>
          <p:nvPr/>
        </p:nvSpPr>
        <p:spPr>
          <a:xfrm>
            <a:off x="7726680" y="4604004"/>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Icons: key (OTP), exchange, globe, route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First card dark to lead the row</a:t>
            </a:r>
            <a:endParaRPr lang="en-US" sz="1100" dirty="0"/>
          </a:p>
        </p:txBody>
      </p:sp>
      <p:sp>
        <p:nvSpPr>
          <p:cNvPr id="57" name="Shape 47"/>
          <p:cNvSpPr/>
          <p:nvPr/>
        </p:nvSpPr>
        <p:spPr>
          <a:xfrm>
            <a:off x="7360920" y="5088636"/>
            <a:ext cx="274320" cy="274320"/>
          </a:xfrm>
          <a:prstGeom prst="ellipse">
            <a:avLst/>
          </a:prstGeom>
          <a:solidFill>
            <a:srgbClr val="ECEBFF"/>
          </a:solidFill>
          <a:ln/>
        </p:spPr>
      </p:sp>
      <p:pic>
        <p:nvPicPr>
          <p:cNvPr id="58" name="Image 8" descr="preencoded.png">    </p:cNvPr>
          <p:cNvPicPr>
            <a:picLocks noChangeAspect="1"/>
          </p:cNvPicPr>
          <p:nvPr/>
        </p:nvPicPr>
        <p:blipFill>
          <a:blip r:embed="rId9"/>
          <a:stretch>
            <a:fillRect/>
          </a:stretch>
        </p:blipFill>
        <p:spPr>
          <a:xfrm>
            <a:off x="7429500" y="5157216"/>
            <a:ext cx="137160" cy="137160"/>
          </a:xfrm>
          <a:prstGeom prst="rect">
            <a:avLst/>
          </a:prstGeom>
        </p:spPr>
      </p:pic>
      <p:sp>
        <p:nvSpPr>
          <p:cNvPr id="59" name="Text 48"/>
          <p:cNvSpPr txBox="1"/>
          <p:nvPr/>
        </p:nvSpPr>
        <p:spPr>
          <a:xfrm>
            <a:off x="7726680" y="5106924"/>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0" name="Text 49"/>
          <p:cNvSpPr txBox="1"/>
          <p:nvPr/>
        </p:nvSpPr>
        <p:spPr>
          <a:xfrm>
            <a:off x="7726680" y="5381244"/>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Informational; anchor target for hero scroll button</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Staggered scroll-reveal</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Key benefits and flexible commercial models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SMS PAGE · SECTION 3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omaginfo.com/services/sms</a:t>
            </a:r>
            <a:endParaRPr lang="en-US" sz="700" dirty="0"/>
          </a:p>
        </p:txBody>
      </p:sp>
      <p:sp>
        <p:nvSpPr>
          <p:cNvPr id="12" name="Text 10"/>
          <p:cNvSpPr txBox="1"/>
          <p:nvPr/>
        </p:nvSpPr>
        <p:spPr>
          <a:xfrm>
            <a:off x="749808" y="1737360"/>
            <a:ext cx="6135624" cy="320040"/>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Key Benefits of Our SMS Services</a:t>
            </a:r>
            <a:endParaRPr lang="en-US" sz="1400" dirty="0"/>
          </a:p>
        </p:txBody>
      </p:sp>
      <p:sp>
        <p:nvSpPr>
          <p:cNvPr id="13" name="Shape 11"/>
          <p:cNvSpPr/>
          <p:nvPr/>
        </p:nvSpPr>
        <p:spPr>
          <a:xfrm>
            <a:off x="749808" y="2148840"/>
            <a:ext cx="1965960" cy="868680"/>
          </a:xfrm>
          <a:prstGeom prst="roundRect">
            <a:avLst>
              <a:gd name="adj" fmla="val 12632"/>
            </a:avLst>
          </a:prstGeom>
          <a:solidFill>
            <a:srgbClr val="FFFFFF"/>
          </a:solidFill>
          <a:ln w="9525">
            <a:solidFill>
              <a:srgbClr val="E4E3EF"/>
            </a:solidFill>
            <a:prstDash val="solid"/>
          </a:ln>
        </p:spPr>
      </p:sp>
      <p:sp>
        <p:nvSpPr>
          <p:cNvPr id="14" name="Shape 12"/>
          <p:cNvSpPr/>
          <p:nvPr/>
        </p:nvSpPr>
        <p:spPr>
          <a:xfrm>
            <a:off x="859536" y="2267712"/>
            <a:ext cx="155448" cy="155448"/>
          </a:xfrm>
          <a:prstGeom prst="ellipse">
            <a:avLst/>
          </a:prstGeom>
          <a:solidFill>
            <a:srgbClr val="ECEBFF"/>
          </a:solidFill>
          <a:ln/>
        </p:spPr>
      </p:sp>
      <p:pic>
        <p:nvPicPr>
          <p:cNvPr id="15" name="Image 0" descr="preencoded.png">    </p:cNvPr>
          <p:cNvPicPr>
            <a:picLocks noChangeAspect="1"/>
          </p:cNvPicPr>
          <p:nvPr/>
        </p:nvPicPr>
        <p:blipFill>
          <a:blip r:embed="rId1"/>
          <a:stretch>
            <a:fillRect/>
          </a:stretch>
        </p:blipFill>
        <p:spPr>
          <a:xfrm>
            <a:off x="900684" y="2308860"/>
            <a:ext cx="73152" cy="73152"/>
          </a:xfrm>
          <a:prstGeom prst="rect">
            <a:avLst/>
          </a:prstGeom>
        </p:spPr>
      </p:pic>
      <p:sp>
        <p:nvSpPr>
          <p:cNvPr id="16" name="Text 13"/>
          <p:cNvSpPr txBox="1"/>
          <p:nvPr/>
        </p:nvSpPr>
        <p:spPr>
          <a:xfrm>
            <a:off x="1078992" y="225856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International Reach</a:t>
            </a:r>
            <a:endParaRPr lang="en-US" sz="800" dirty="0"/>
          </a:p>
        </p:txBody>
      </p:sp>
      <p:sp>
        <p:nvSpPr>
          <p:cNvPr id="17" name="Text 14"/>
          <p:cNvSpPr txBox="1"/>
          <p:nvPr/>
        </p:nvSpPr>
        <p:spPr>
          <a:xfrm>
            <a:off x="859536" y="251460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Messaging connectivity across available destinations in multiple regions.</a:t>
            </a:r>
            <a:endParaRPr lang="en-US" sz="680" dirty="0"/>
          </a:p>
        </p:txBody>
      </p:sp>
      <p:sp>
        <p:nvSpPr>
          <p:cNvPr id="18" name="Shape 15"/>
          <p:cNvSpPr/>
          <p:nvPr/>
        </p:nvSpPr>
        <p:spPr>
          <a:xfrm>
            <a:off x="2834640" y="2148840"/>
            <a:ext cx="1965960" cy="868680"/>
          </a:xfrm>
          <a:prstGeom prst="roundRect">
            <a:avLst>
              <a:gd name="adj" fmla="val 12632"/>
            </a:avLst>
          </a:prstGeom>
          <a:solidFill>
            <a:srgbClr val="FFFFFF"/>
          </a:solidFill>
          <a:ln w="9525">
            <a:solidFill>
              <a:srgbClr val="E4E3EF"/>
            </a:solidFill>
            <a:prstDash val="solid"/>
          </a:ln>
        </p:spPr>
      </p:sp>
      <p:sp>
        <p:nvSpPr>
          <p:cNvPr id="19" name="Shape 16"/>
          <p:cNvSpPr/>
          <p:nvPr/>
        </p:nvSpPr>
        <p:spPr>
          <a:xfrm>
            <a:off x="2944368" y="2267712"/>
            <a:ext cx="155448" cy="155448"/>
          </a:xfrm>
          <a:prstGeom prst="ellipse">
            <a:avLst/>
          </a:prstGeom>
          <a:solidFill>
            <a:srgbClr val="ECEBFF"/>
          </a:solidFill>
          <a:ln/>
        </p:spPr>
      </p:sp>
      <p:pic>
        <p:nvPicPr>
          <p:cNvPr id="20" name="Image 1" descr="preencoded.png">    </p:cNvPr>
          <p:cNvPicPr>
            <a:picLocks noChangeAspect="1"/>
          </p:cNvPicPr>
          <p:nvPr/>
        </p:nvPicPr>
        <p:blipFill>
          <a:blip r:embed="rId2"/>
          <a:stretch>
            <a:fillRect/>
          </a:stretch>
        </p:blipFill>
        <p:spPr>
          <a:xfrm>
            <a:off x="2985516" y="2308860"/>
            <a:ext cx="73152" cy="73152"/>
          </a:xfrm>
          <a:prstGeom prst="rect">
            <a:avLst/>
          </a:prstGeom>
        </p:spPr>
      </p:pic>
      <p:sp>
        <p:nvSpPr>
          <p:cNvPr id="21" name="Text 17"/>
          <p:cNvSpPr txBox="1"/>
          <p:nvPr/>
        </p:nvSpPr>
        <p:spPr>
          <a:xfrm>
            <a:off x="3163824" y="225856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Direct Route Opportunities</a:t>
            </a:r>
            <a:endParaRPr lang="en-US" sz="800" dirty="0"/>
          </a:p>
        </p:txBody>
      </p:sp>
      <p:sp>
        <p:nvSpPr>
          <p:cNvPr id="22" name="Text 18"/>
          <p:cNvSpPr txBox="1"/>
          <p:nvPr/>
        </p:nvSpPr>
        <p:spPr>
          <a:xfrm>
            <a:off x="2944368" y="251460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Access to available direct operator connections and optimized routing options.</a:t>
            </a:r>
            <a:endParaRPr lang="en-US" sz="680" dirty="0"/>
          </a:p>
        </p:txBody>
      </p:sp>
      <p:sp>
        <p:nvSpPr>
          <p:cNvPr id="23" name="Shape 19"/>
          <p:cNvSpPr/>
          <p:nvPr/>
        </p:nvSpPr>
        <p:spPr>
          <a:xfrm>
            <a:off x="4919472" y="2148840"/>
            <a:ext cx="1965960" cy="868680"/>
          </a:xfrm>
          <a:prstGeom prst="roundRect">
            <a:avLst>
              <a:gd name="adj" fmla="val 12632"/>
            </a:avLst>
          </a:prstGeom>
          <a:solidFill>
            <a:srgbClr val="FFFFFF"/>
          </a:solidFill>
          <a:ln w="9525">
            <a:solidFill>
              <a:srgbClr val="E4E3EF"/>
            </a:solidFill>
            <a:prstDash val="solid"/>
          </a:ln>
        </p:spPr>
      </p:sp>
      <p:sp>
        <p:nvSpPr>
          <p:cNvPr id="24" name="Shape 20"/>
          <p:cNvSpPr/>
          <p:nvPr/>
        </p:nvSpPr>
        <p:spPr>
          <a:xfrm>
            <a:off x="5029200" y="2267712"/>
            <a:ext cx="155448" cy="155448"/>
          </a:xfrm>
          <a:prstGeom prst="ellipse">
            <a:avLst/>
          </a:prstGeom>
          <a:solidFill>
            <a:srgbClr val="ECEBFF"/>
          </a:solidFill>
          <a:ln/>
        </p:spPr>
      </p:sp>
      <p:pic>
        <p:nvPicPr>
          <p:cNvPr id="25" name="Image 2" descr="preencoded.png">    </p:cNvPr>
          <p:cNvPicPr>
            <a:picLocks noChangeAspect="1"/>
          </p:cNvPicPr>
          <p:nvPr/>
        </p:nvPicPr>
        <p:blipFill>
          <a:blip r:embed="rId3"/>
          <a:stretch>
            <a:fillRect/>
          </a:stretch>
        </p:blipFill>
        <p:spPr>
          <a:xfrm>
            <a:off x="5070348" y="2308860"/>
            <a:ext cx="73152" cy="73152"/>
          </a:xfrm>
          <a:prstGeom prst="rect">
            <a:avLst/>
          </a:prstGeom>
        </p:spPr>
      </p:pic>
      <p:sp>
        <p:nvSpPr>
          <p:cNvPr id="26" name="Text 21"/>
          <p:cNvSpPr txBox="1"/>
          <p:nvPr/>
        </p:nvSpPr>
        <p:spPr>
          <a:xfrm>
            <a:off x="5248656" y="225856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Business-Specific Routing</a:t>
            </a:r>
            <a:endParaRPr lang="en-US" sz="800" dirty="0"/>
          </a:p>
        </p:txBody>
      </p:sp>
      <p:sp>
        <p:nvSpPr>
          <p:cNvPr id="27" name="Text 22"/>
          <p:cNvSpPr txBox="1"/>
          <p:nvPr/>
        </p:nvSpPr>
        <p:spPr>
          <a:xfrm>
            <a:off x="5029200" y="251460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Routing arrangements tailored to partner requirements, traffic profiles, and destination needs.</a:t>
            </a:r>
            <a:endParaRPr lang="en-US" sz="680" dirty="0"/>
          </a:p>
        </p:txBody>
      </p:sp>
      <p:sp>
        <p:nvSpPr>
          <p:cNvPr id="28" name="Shape 23"/>
          <p:cNvSpPr/>
          <p:nvPr/>
        </p:nvSpPr>
        <p:spPr>
          <a:xfrm>
            <a:off x="749808" y="3108960"/>
            <a:ext cx="1965960" cy="868680"/>
          </a:xfrm>
          <a:prstGeom prst="roundRect">
            <a:avLst>
              <a:gd name="adj" fmla="val 12632"/>
            </a:avLst>
          </a:prstGeom>
          <a:solidFill>
            <a:srgbClr val="FFFFFF"/>
          </a:solidFill>
          <a:ln w="9525">
            <a:solidFill>
              <a:srgbClr val="E4E3EF"/>
            </a:solidFill>
            <a:prstDash val="solid"/>
          </a:ln>
        </p:spPr>
      </p:sp>
      <p:sp>
        <p:nvSpPr>
          <p:cNvPr id="29" name="Shape 24"/>
          <p:cNvSpPr/>
          <p:nvPr/>
        </p:nvSpPr>
        <p:spPr>
          <a:xfrm>
            <a:off x="859536" y="3227832"/>
            <a:ext cx="155448" cy="155448"/>
          </a:xfrm>
          <a:prstGeom prst="ellipse">
            <a:avLst/>
          </a:prstGeom>
          <a:solidFill>
            <a:srgbClr val="ECEBFF"/>
          </a:solidFill>
          <a:ln/>
        </p:spPr>
      </p:sp>
      <p:pic>
        <p:nvPicPr>
          <p:cNvPr id="30" name="Image 3" descr="preencoded.png">    </p:cNvPr>
          <p:cNvPicPr>
            <a:picLocks noChangeAspect="1"/>
          </p:cNvPicPr>
          <p:nvPr/>
        </p:nvPicPr>
        <p:blipFill>
          <a:blip r:embed="rId4"/>
          <a:stretch>
            <a:fillRect/>
          </a:stretch>
        </p:blipFill>
        <p:spPr>
          <a:xfrm>
            <a:off x="900684" y="3268980"/>
            <a:ext cx="73152" cy="73152"/>
          </a:xfrm>
          <a:prstGeom prst="rect">
            <a:avLst/>
          </a:prstGeom>
        </p:spPr>
      </p:pic>
      <p:sp>
        <p:nvSpPr>
          <p:cNvPr id="31" name="Text 25"/>
          <p:cNvSpPr txBox="1"/>
          <p:nvPr/>
        </p:nvSpPr>
        <p:spPr>
          <a:xfrm>
            <a:off x="1078992" y="321868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Flexible Pricing Models</a:t>
            </a:r>
            <a:endParaRPr lang="en-US" sz="800" dirty="0"/>
          </a:p>
        </p:txBody>
      </p:sp>
      <p:sp>
        <p:nvSpPr>
          <p:cNvPr id="32" name="Text 26"/>
          <p:cNvSpPr txBox="1"/>
          <p:nvPr/>
        </p:nvSpPr>
        <p:spPr>
          <a:xfrm>
            <a:off x="859536" y="347472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Commercial options based on submitted or successfully delivered messages, as agreed for each route.</a:t>
            </a:r>
            <a:endParaRPr lang="en-US" sz="680" dirty="0"/>
          </a:p>
        </p:txBody>
      </p:sp>
      <p:sp>
        <p:nvSpPr>
          <p:cNvPr id="33" name="Shape 27"/>
          <p:cNvSpPr/>
          <p:nvPr/>
        </p:nvSpPr>
        <p:spPr>
          <a:xfrm>
            <a:off x="2834640" y="3108960"/>
            <a:ext cx="1965960" cy="868680"/>
          </a:xfrm>
          <a:prstGeom prst="roundRect">
            <a:avLst>
              <a:gd name="adj" fmla="val 12632"/>
            </a:avLst>
          </a:prstGeom>
          <a:solidFill>
            <a:srgbClr val="FFFFFF"/>
          </a:solidFill>
          <a:ln w="9525">
            <a:solidFill>
              <a:srgbClr val="E4E3EF"/>
            </a:solidFill>
            <a:prstDash val="solid"/>
          </a:ln>
        </p:spPr>
      </p:sp>
      <p:sp>
        <p:nvSpPr>
          <p:cNvPr id="34" name="Shape 28"/>
          <p:cNvSpPr/>
          <p:nvPr/>
        </p:nvSpPr>
        <p:spPr>
          <a:xfrm>
            <a:off x="2944368" y="3227832"/>
            <a:ext cx="155448" cy="155448"/>
          </a:xfrm>
          <a:prstGeom prst="ellipse">
            <a:avLst/>
          </a:prstGeom>
          <a:solidFill>
            <a:srgbClr val="ECEBFF"/>
          </a:solidFill>
          <a:ln/>
        </p:spPr>
      </p:sp>
      <p:pic>
        <p:nvPicPr>
          <p:cNvPr id="35" name="Image 4" descr="preencoded.png">    </p:cNvPr>
          <p:cNvPicPr>
            <a:picLocks noChangeAspect="1"/>
          </p:cNvPicPr>
          <p:nvPr/>
        </p:nvPicPr>
        <p:blipFill>
          <a:blip r:embed="rId5"/>
          <a:stretch>
            <a:fillRect/>
          </a:stretch>
        </p:blipFill>
        <p:spPr>
          <a:xfrm>
            <a:off x="2985516" y="3268980"/>
            <a:ext cx="73152" cy="73152"/>
          </a:xfrm>
          <a:prstGeom prst="rect">
            <a:avLst/>
          </a:prstGeom>
        </p:spPr>
      </p:pic>
      <p:sp>
        <p:nvSpPr>
          <p:cNvPr id="36" name="Text 29"/>
          <p:cNvSpPr txBox="1"/>
          <p:nvPr/>
        </p:nvSpPr>
        <p:spPr>
          <a:xfrm>
            <a:off x="3163824" y="321868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Delivery-Focused Approach</a:t>
            </a:r>
            <a:endParaRPr lang="en-US" sz="800" dirty="0"/>
          </a:p>
        </p:txBody>
      </p:sp>
      <p:sp>
        <p:nvSpPr>
          <p:cNvPr id="37" name="Text 30"/>
          <p:cNvSpPr txBox="1"/>
          <p:nvPr/>
        </p:nvSpPr>
        <p:spPr>
          <a:xfrm>
            <a:off x="2944368" y="347472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Emphasis on route performance, delivery reporting, and efficient message handling.</a:t>
            </a:r>
            <a:endParaRPr lang="en-US" sz="680" dirty="0"/>
          </a:p>
        </p:txBody>
      </p:sp>
      <p:sp>
        <p:nvSpPr>
          <p:cNvPr id="38" name="Shape 31"/>
          <p:cNvSpPr/>
          <p:nvPr/>
        </p:nvSpPr>
        <p:spPr>
          <a:xfrm>
            <a:off x="4919472" y="3108960"/>
            <a:ext cx="1965960" cy="868680"/>
          </a:xfrm>
          <a:prstGeom prst="roundRect">
            <a:avLst>
              <a:gd name="adj" fmla="val 12632"/>
            </a:avLst>
          </a:prstGeom>
          <a:solidFill>
            <a:srgbClr val="FFFFFF"/>
          </a:solidFill>
          <a:ln w="9525">
            <a:solidFill>
              <a:srgbClr val="E4E3EF"/>
            </a:solidFill>
            <a:prstDash val="solid"/>
          </a:ln>
        </p:spPr>
      </p:sp>
      <p:sp>
        <p:nvSpPr>
          <p:cNvPr id="39" name="Shape 32"/>
          <p:cNvSpPr/>
          <p:nvPr/>
        </p:nvSpPr>
        <p:spPr>
          <a:xfrm>
            <a:off x="5029200" y="3227832"/>
            <a:ext cx="155448" cy="155448"/>
          </a:xfrm>
          <a:prstGeom prst="ellipse">
            <a:avLst/>
          </a:prstGeom>
          <a:solidFill>
            <a:srgbClr val="ECEBFF"/>
          </a:solidFill>
          <a:ln/>
        </p:spPr>
      </p:sp>
      <p:pic>
        <p:nvPicPr>
          <p:cNvPr id="40" name="Image 5" descr="preencoded.png">    </p:cNvPr>
          <p:cNvPicPr>
            <a:picLocks noChangeAspect="1"/>
          </p:cNvPicPr>
          <p:nvPr/>
        </p:nvPicPr>
        <p:blipFill>
          <a:blip r:embed="rId6"/>
          <a:stretch>
            <a:fillRect/>
          </a:stretch>
        </p:blipFill>
        <p:spPr>
          <a:xfrm>
            <a:off x="5070348" y="3268980"/>
            <a:ext cx="73152" cy="73152"/>
          </a:xfrm>
          <a:prstGeom prst="rect">
            <a:avLst/>
          </a:prstGeom>
        </p:spPr>
      </p:pic>
      <p:sp>
        <p:nvSpPr>
          <p:cNvPr id="41" name="Text 33"/>
          <p:cNvSpPr txBox="1"/>
          <p:nvPr/>
        </p:nvSpPr>
        <p:spPr>
          <a:xfrm>
            <a:off x="5248656" y="3218688"/>
            <a:ext cx="1600200" cy="182880"/>
          </a:xfrm>
          <a:prstGeom prst="rect">
            <a:avLst/>
          </a:prstGeom>
          <a:noFill/>
          <a:ln/>
        </p:spPr>
        <p:txBody>
          <a:bodyPr wrap="square" lIns="0" tIns="0" rIns="0" bIns="0" rtlCol="0" anchor="ctr"/>
          <a:lstStyle/>
          <a:p>
            <a:pPr indent="0" marL="0">
              <a:buNone/>
            </a:pPr>
            <a:r>
              <a:rPr lang="en-US" sz="800" b="1" dirty="0">
                <a:solidFill>
                  <a:srgbClr val="16161F"/>
                </a:solidFill>
                <a:latin typeface="Calibri" pitchFamily="34" charset="0"/>
                <a:ea typeface="Calibri" pitchFamily="34" charset="-122"/>
                <a:cs typeface="Calibri" pitchFamily="34" charset="-120"/>
              </a:rPr>
              <a:t>Scalable Messaging Support</a:t>
            </a:r>
            <a:endParaRPr lang="en-US" sz="800" dirty="0"/>
          </a:p>
        </p:txBody>
      </p:sp>
      <p:sp>
        <p:nvSpPr>
          <p:cNvPr id="42" name="Text 34"/>
          <p:cNvSpPr txBox="1"/>
          <p:nvPr/>
        </p:nvSpPr>
        <p:spPr>
          <a:xfrm>
            <a:off x="5029200" y="3474720"/>
            <a:ext cx="1746504" cy="475488"/>
          </a:xfrm>
          <a:prstGeom prst="rect">
            <a:avLst/>
          </a:prstGeom>
          <a:noFill/>
          <a:ln/>
        </p:spPr>
        <p:txBody>
          <a:bodyPr wrap="square" lIns="0" tIns="0" rIns="0" bIns="0" rtlCol="0" anchor="t"/>
          <a:lstStyle/>
          <a:p>
            <a:pPr indent="0" marL="0">
              <a:buNone/>
            </a:pPr>
            <a:r>
              <a:rPr lang="en-US" sz="680" dirty="0">
                <a:solidFill>
                  <a:srgbClr val="5F6075"/>
                </a:solidFill>
                <a:latin typeface="Calibri" pitchFamily="34" charset="0"/>
                <a:ea typeface="Calibri" pitchFamily="34" charset="-122"/>
                <a:cs typeface="Calibri" pitchFamily="34" charset="-120"/>
              </a:rPr>
              <a:t>Solutions designed to accommodate different business messaging volumes and evolving connectivity requirements.</a:t>
            </a:r>
            <a:endParaRPr lang="en-US" sz="680" dirty="0"/>
          </a:p>
        </p:txBody>
      </p:sp>
      <p:sp>
        <p:nvSpPr>
          <p:cNvPr id="43" name="Shape 35"/>
          <p:cNvSpPr/>
          <p:nvPr/>
        </p:nvSpPr>
        <p:spPr>
          <a:xfrm>
            <a:off x="749808" y="4160520"/>
            <a:ext cx="6135624" cy="1965960"/>
          </a:xfrm>
          <a:prstGeom prst="roundRect">
            <a:avLst>
              <a:gd name="adj" fmla="val 6512"/>
            </a:avLst>
          </a:prstGeom>
          <a:solidFill>
            <a:srgbClr val="F3F2FA"/>
          </a:solidFill>
          <a:ln/>
        </p:spPr>
      </p:sp>
      <p:sp>
        <p:nvSpPr>
          <p:cNvPr id="44" name="Text 36"/>
          <p:cNvSpPr txBox="1"/>
          <p:nvPr/>
        </p:nvSpPr>
        <p:spPr>
          <a:xfrm>
            <a:off x="932688" y="4297680"/>
            <a:ext cx="2743200" cy="274320"/>
          </a:xfrm>
          <a:prstGeom prst="rect">
            <a:avLst/>
          </a:prstGeom>
          <a:noFill/>
          <a:ln/>
        </p:spPr>
        <p:txBody>
          <a:bodyPr wrap="square" lIns="0" tIns="0" rIns="0" bIns="0" rtlCol="0" anchor="t"/>
          <a:lstStyle/>
          <a:p>
            <a:pPr indent="0" marL="0">
              <a:buNone/>
            </a:pPr>
            <a:r>
              <a:rPr lang="en-US" sz="1100" b="1" dirty="0">
                <a:solidFill>
                  <a:srgbClr val="16161F"/>
                </a:solidFill>
                <a:latin typeface="Calibri" pitchFamily="34" charset="0"/>
                <a:ea typeface="Calibri" pitchFamily="34" charset="-122"/>
                <a:cs typeface="Calibri" pitchFamily="34" charset="-120"/>
              </a:rPr>
              <a:t>Flexible Commercial Models</a:t>
            </a:r>
            <a:endParaRPr lang="en-US" sz="1100" dirty="0"/>
          </a:p>
        </p:txBody>
      </p:sp>
      <p:sp>
        <p:nvSpPr>
          <p:cNvPr id="45" name="Text 37"/>
          <p:cNvSpPr txBox="1"/>
          <p:nvPr/>
        </p:nvSpPr>
        <p:spPr>
          <a:xfrm>
            <a:off x="932688" y="4617720"/>
            <a:ext cx="2880360" cy="141732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We recognize that messaging businesses have different commercial and operational needs. Omaginfo LLC can explore pricing arrangements based on message submission or confirmed delivery, depending on destination capabilities, reporting availability, and mutually agreed terms. Our objective is to help partners select suitable routes and commercial models that align with their messaging requirements.</a:t>
            </a:r>
            <a:endParaRPr lang="en-US" sz="700" dirty="0"/>
          </a:p>
        </p:txBody>
      </p:sp>
      <p:sp>
        <p:nvSpPr>
          <p:cNvPr id="46" name="Shape 38"/>
          <p:cNvSpPr/>
          <p:nvPr/>
        </p:nvSpPr>
        <p:spPr>
          <a:xfrm>
            <a:off x="3995928" y="4343400"/>
            <a:ext cx="1371600" cy="1600200"/>
          </a:xfrm>
          <a:prstGeom prst="roundRect">
            <a:avLst>
              <a:gd name="adj" fmla="val 8000"/>
            </a:avLst>
          </a:prstGeom>
          <a:solidFill>
            <a:srgbClr val="FFFFFF"/>
          </a:solidFill>
          <a:ln w="9525">
            <a:solidFill>
              <a:srgbClr val="E4E3EF"/>
            </a:solidFill>
            <a:prstDash val="solid"/>
          </a:ln>
        </p:spPr>
      </p:sp>
      <p:sp>
        <p:nvSpPr>
          <p:cNvPr id="47" name="Shape 39"/>
          <p:cNvSpPr/>
          <p:nvPr/>
        </p:nvSpPr>
        <p:spPr>
          <a:xfrm>
            <a:off x="4453128" y="4526280"/>
            <a:ext cx="457200" cy="457200"/>
          </a:xfrm>
          <a:prstGeom prst="ellipse">
            <a:avLst/>
          </a:prstGeom>
          <a:solidFill>
            <a:srgbClr val="ECEBFF"/>
          </a:solidFill>
          <a:ln/>
        </p:spPr>
      </p:sp>
      <p:pic>
        <p:nvPicPr>
          <p:cNvPr id="48" name="Image 6" descr="preencoded.png">    </p:cNvPr>
          <p:cNvPicPr>
            <a:picLocks noChangeAspect="1"/>
          </p:cNvPicPr>
          <p:nvPr/>
        </p:nvPicPr>
        <p:blipFill>
          <a:blip r:embed="rId7"/>
          <a:stretch>
            <a:fillRect/>
          </a:stretch>
        </p:blipFill>
        <p:spPr>
          <a:xfrm>
            <a:off x="4572000" y="4645152"/>
            <a:ext cx="219456" cy="219456"/>
          </a:xfrm>
          <a:prstGeom prst="rect">
            <a:avLst/>
          </a:prstGeom>
        </p:spPr>
      </p:pic>
      <p:sp>
        <p:nvSpPr>
          <p:cNvPr id="49" name="Text 40"/>
          <p:cNvSpPr txBox="1"/>
          <p:nvPr/>
        </p:nvSpPr>
        <p:spPr>
          <a:xfrm>
            <a:off x="4087368" y="5074920"/>
            <a:ext cx="1188720" cy="274320"/>
          </a:xfrm>
          <a:prstGeom prst="rect">
            <a:avLst/>
          </a:prstGeom>
          <a:noFill/>
          <a:ln/>
        </p:spPr>
        <p:txBody>
          <a:bodyPr wrap="square" lIns="0" tIns="0" rIns="0" bIns="0" rtlCol="0" anchor="t"/>
          <a:lstStyle/>
          <a:p>
            <a:pPr algn="ctr" indent="0" marL="0">
              <a:buNone/>
            </a:pPr>
            <a:r>
              <a:rPr lang="en-US" sz="900" b="1" dirty="0">
                <a:solidFill>
                  <a:srgbClr val="16161F"/>
                </a:solidFill>
                <a:latin typeface="Calibri" pitchFamily="34" charset="0"/>
                <a:ea typeface="Calibri" pitchFamily="34" charset="-122"/>
                <a:cs typeface="Calibri" pitchFamily="34" charset="-120"/>
              </a:rPr>
              <a:t>Submission-based</a:t>
            </a:r>
            <a:endParaRPr lang="en-US" sz="900" dirty="0"/>
          </a:p>
        </p:txBody>
      </p:sp>
      <p:sp>
        <p:nvSpPr>
          <p:cNvPr id="50" name="Text 41"/>
          <p:cNvSpPr txBox="1"/>
          <p:nvPr/>
        </p:nvSpPr>
        <p:spPr>
          <a:xfrm>
            <a:off x="4087368" y="5349240"/>
            <a:ext cx="1188720" cy="411480"/>
          </a:xfrm>
          <a:prstGeom prst="rect">
            <a:avLst/>
          </a:prstGeom>
          <a:noFill/>
          <a:ln/>
        </p:spPr>
        <p:txBody>
          <a:bodyPr wrap="square" lIns="0" tIns="0" rIns="0" bIns="0" rtlCol="0" anchor="t"/>
          <a:lstStyle/>
          <a:p>
            <a:pPr algn="ctr" indent="0" marL="0">
              <a:buNone/>
            </a:pPr>
            <a:r>
              <a:rPr lang="en-US" sz="700" dirty="0">
                <a:solidFill>
                  <a:srgbClr val="5F6075"/>
                </a:solidFill>
                <a:latin typeface="Calibri" pitchFamily="34" charset="0"/>
                <a:ea typeface="Calibri" pitchFamily="34" charset="-122"/>
                <a:cs typeface="Calibri" pitchFamily="34" charset="-120"/>
              </a:rPr>
              <a:t>Pricing on messages submitted</a:t>
            </a:r>
            <a:endParaRPr lang="en-US" sz="700" dirty="0"/>
          </a:p>
        </p:txBody>
      </p:sp>
      <p:sp>
        <p:nvSpPr>
          <p:cNvPr id="51" name="Text 42"/>
          <p:cNvSpPr txBox="1"/>
          <p:nvPr/>
        </p:nvSpPr>
        <p:spPr>
          <a:xfrm>
            <a:off x="5184648" y="53035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52" name="Shape 43"/>
          <p:cNvSpPr/>
          <p:nvPr/>
        </p:nvSpPr>
        <p:spPr>
          <a:xfrm>
            <a:off x="5458968" y="4343400"/>
            <a:ext cx="1371600" cy="1600200"/>
          </a:xfrm>
          <a:prstGeom prst="roundRect">
            <a:avLst>
              <a:gd name="adj" fmla="val 8000"/>
            </a:avLst>
          </a:prstGeom>
          <a:solidFill>
            <a:srgbClr val="1B1B28"/>
          </a:solidFill>
          <a:ln/>
        </p:spPr>
      </p:sp>
      <p:sp>
        <p:nvSpPr>
          <p:cNvPr id="53" name="Shape 44"/>
          <p:cNvSpPr/>
          <p:nvPr/>
        </p:nvSpPr>
        <p:spPr>
          <a:xfrm>
            <a:off x="5916168" y="4526280"/>
            <a:ext cx="457200" cy="457200"/>
          </a:xfrm>
          <a:prstGeom prst="ellipse">
            <a:avLst/>
          </a:prstGeom>
          <a:solidFill>
            <a:srgbClr val="3A3360"/>
          </a:solidFill>
          <a:ln/>
        </p:spPr>
      </p:sp>
      <p:pic>
        <p:nvPicPr>
          <p:cNvPr id="54" name="Image 7" descr="preencoded.png">    </p:cNvPr>
          <p:cNvPicPr>
            <a:picLocks noChangeAspect="1"/>
          </p:cNvPicPr>
          <p:nvPr/>
        </p:nvPicPr>
        <p:blipFill>
          <a:blip r:embed="rId8"/>
          <a:stretch>
            <a:fillRect/>
          </a:stretch>
        </p:blipFill>
        <p:spPr>
          <a:xfrm>
            <a:off x="6035040" y="4645152"/>
            <a:ext cx="219456" cy="219456"/>
          </a:xfrm>
          <a:prstGeom prst="rect">
            <a:avLst/>
          </a:prstGeom>
        </p:spPr>
      </p:pic>
      <p:sp>
        <p:nvSpPr>
          <p:cNvPr id="55" name="Text 45"/>
          <p:cNvSpPr txBox="1"/>
          <p:nvPr/>
        </p:nvSpPr>
        <p:spPr>
          <a:xfrm>
            <a:off x="5550408" y="5074920"/>
            <a:ext cx="1188720" cy="274320"/>
          </a:xfrm>
          <a:prstGeom prst="rect">
            <a:avLst/>
          </a:prstGeom>
          <a:noFill/>
          <a:ln/>
        </p:spPr>
        <p:txBody>
          <a:bodyPr wrap="square" lIns="0" tIns="0" rIns="0" bIns="0" rtlCol="0" anchor="t"/>
          <a:lstStyle/>
          <a:p>
            <a:pPr algn="ctr" indent="0" marL="0">
              <a:buNone/>
            </a:pPr>
            <a:r>
              <a:rPr lang="en-US" sz="900" b="1" dirty="0">
                <a:solidFill>
                  <a:srgbClr val="FFFFFF"/>
                </a:solidFill>
                <a:latin typeface="Calibri" pitchFamily="34" charset="0"/>
                <a:ea typeface="Calibri" pitchFamily="34" charset="-122"/>
                <a:cs typeface="Calibri" pitchFamily="34" charset="-120"/>
              </a:rPr>
              <a:t>Delivery-based</a:t>
            </a:r>
            <a:endParaRPr lang="en-US" sz="900" dirty="0"/>
          </a:p>
        </p:txBody>
      </p:sp>
      <p:sp>
        <p:nvSpPr>
          <p:cNvPr id="56" name="Text 46"/>
          <p:cNvSpPr txBox="1"/>
          <p:nvPr/>
        </p:nvSpPr>
        <p:spPr>
          <a:xfrm>
            <a:off x="5550408" y="5349240"/>
            <a:ext cx="1188720" cy="411480"/>
          </a:xfrm>
          <a:prstGeom prst="rect">
            <a:avLst/>
          </a:prstGeom>
          <a:noFill/>
          <a:ln/>
        </p:spPr>
        <p:txBody>
          <a:bodyPr wrap="square" lIns="0" tIns="0" rIns="0" bIns="0" rtlCol="0" anchor="t"/>
          <a:lstStyle/>
          <a:p>
            <a:pPr algn="ctr" indent="0" marL="0">
              <a:buNone/>
            </a:pPr>
            <a:r>
              <a:rPr lang="en-US" sz="700" dirty="0">
                <a:solidFill>
                  <a:srgbClr val="C9C9DA"/>
                </a:solidFill>
                <a:latin typeface="Calibri" pitchFamily="34" charset="0"/>
                <a:ea typeface="Calibri" pitchFamily="34" charset="-122"/>
                <a:cs typeface="Calibri" pitchFamily="34" charset="-120"/>
              </a:rPr>
              <a:t>Pricing on confirmed delivery</a:t>
            </a:r>
            <a:endParaRPr lang="en-US" sz="700" dirty="0"/>
          </a:p>
        </p:txBody>
      </p:sp>
      <p:sp>
        <p:nvSpPr>
          <p:cNvPr id="57" name="Text 47"/>
          <p:cNvSpPr txBox="1"/>
          <p:nvPr/>
        </p:nvSpPr>
        <p:spPr>
          <a:xfrm>
            <a:off x="6647688" y="53035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58" name="Shape 48"/>
          <p:cNvSpPr/>
          <p:nvPr/>
        </p:nvSpPr>
        <p:spPr>
          <a:xfrm>
            <a:off x="7360920" y="1325880"/>
            <a:ext cx="274320" cy="274320"/>
          </a:xfrm>
          <a:prstGeom prst="ellipse">
            <a:avLst/>
          </a:prstGeom>
          <a:solidFill>
            <a:srgbClr val="ECEBFF"/>
          </a:solidFill>
          <a:ln/>
        </p:spPr>
      </p:sp>
      <p:pic>
        <p:nvPicPr>
          <p:cNvPr id="59" name="Image 8" descr="preencoded.png">    </p:cNvPr>
          <p:cNvPicPr>
            <a:picLocks noChangeAspect="1"/>
          </p:cNvPicPr>
          <p:nvPr/>
        </p:nvPicPr>
        <p:blipFill>
          <a:blip r:embed="rId9"/>
          <a:stretch>
            <a:fillRect/>
          </a:stretch>
        </p:blipFill>
        <p:spPr>
          <a:xfrm>
            <a:off x="7429500" y="1394460"/>
            <a:ext cx="137160" cy="137160"/>
          </a:xfrm>
          <a:prstGeom prst="rect">
            <a:avLst/>
          </a:prstGeom>
        </p:spPr>
      </p:pic>
      <p:sp>
        <p:nvSpPr>
          <p:cNvPr id="60" name="Text 49"/>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61" name="Text 50"/>
          <p:cNvSpPr txBox="1"/>
          <p:nvPr/>
        </p:nvSpPr>
        <p:spPr>
          <a:xfrm>
            <a:off x="7726680" y="1618488"/>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Benefits: 3 × 2 grid of tick cards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Commercial models: text left, two option cards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1 column; the two option cards sit side by side</a:t>
            </a:r>
            <a:endParaRPr lang="en-US" sz="1100" dirty="0"/>
          </a:p>
        </p:txBody>
      </p:sp>
      <p:sp>
        <p:nvSpPr>
          <p:cNvPr id="62" name="Shape 51"/>
          <p:cNvSpPr/>
          <p:nvPr/>
        </p:nvSpPr>
        <p:spPr>
          <a:xfrm>
            <a:off x="7360920" y="2272284"/>
            <a:ext cx="274320" cy="274320"/>
          </a:xfrm>
          <a:prstGeom prst="ellipse">
            <a:avLst/>
          </a:prstGeom>
          <a:solidFill>
            <a:srgbClr val="ECEBFF"/>
          </a:solidFill>
          <a:ln/>
        </p:spPr>
      </p:sp>
      <p:pic>
        <p:nvPicPr>
          <p:cNvPr id="63" name="Image 9" descr="preencoded.png">    </p:cNvPr>
          <p:cNvPicPr>
            <a:picLocks noChangeAspect="1"/>
          </p:cNvPicPr>
          <p:nvPr/>
        </p:nvPicPr>
        <p:blipFill>
          <a:blip r:embed="rId10"/>
          <a:stretch>
            <a:fillRect/>
          </a:stretch>
        </p:blipFill>
        <p:spPr>
          <a:xfrm>
            <a:off x="7429500" y="2340864"/>
            <a:ext cx="137160" cy="137160"/>
          </a:xfrm>
          <a:prstGeom prst="rect">
            <a:avLst/>
          </a:prstGeom>
        </p:spPr>
      </p:pic>
      <p:sp>
        <p:nvSpPr>
          <p:cNvPr id="64" name="Text 52"/>
          <p:cNvSpPr txBox="1"/>
          <p:nvPr/>
        </p:nvSpPr>
        <p:spPr>
          <a:xfrm>
            <a:off x="7726680" y="229057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5" name="Text 53"/>
          <p:cNvSpPr txBox="1"/>
          <p:nvPr/>
        </p:nvSpPr>
        <p:spPr>
          <a:xfrm>
            <a:off x="7726680" y="2564892"/>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Six benefits and the commercial-models text verbatim (item 7)</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Option card captions ✱ summarise the document's two pricing bases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No rates or prices shown (agreed per route)</a:t>
            </a:r>
            <a:endParaRPr lang="en-US" sz="1100" dirty="0"/>
          </a:p>
        </p:txBody>
      </p:sp>
      <p:sp>
        <p:nvSpPr>
          <p:cNvPr id="66" name="Shape 54"/>
          <p:cNvSpPr/>
          <p:nvPr/>
        </p:nvSpPr>
        <p:spPr>
          <a:xfrm>
            <a:off x="7360920" y="3387852"/>
            <a:ext cx="274320" cy="274320"/>
          </a:xfrm>
          <a:prstGeom prst="ellipse">
            <a:avLst/>
          </a:prstGeom>
          <a:solidFill>
            <a:srgbClr val="ECEBFF"/>
          </a:solidFill>
          <a:ln/>
        </p:spPr>
      </p:sp>
      <p:pic>
        <p:nvPicPr>
          <p:cNvPr id="67" name="Image 10" descr="preencoded.png">    </p:cNvPr>
          <p:cNvPicPr>
            <a:picLocks noChangeAspect="1"/>
          </p:cNvPicPr>
          <p:nvPr/>
        </p:nvPicPr>
        <p:blipFill>
          <a:blip r:embed="rId11"/>
          <a:stretch>
            <a:fillRect/>
          </a:stretch>
        </p:blipFill>
        <p:spPr>
          <a:xfrm>
            <a:off x="7429500" y="3456432"/>
            <a:ext cx="137160" cy="137160"/>
          </a:xfrm>
          <a:prstGeom prst="rect">
            <a:avLst/>
          </a:prstGeom>
        </p:spPr>
      </p:pic>
      <p:sp>
        <p:nvSpPr>
          <p:cNvPr id="68" name="Text 55"/>
          <p:cNvSpPr txBox="1"/>
          <p:nvPr/>
        </p:nvSpPr>
        <p:spPr>
          <a:xfrm>
            <a:off x="7726680" y="34061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9" name="Text 56"/>
          <p:cNvSpPr txBox="1"/>
          <p:nvPr/>
        </p:nvSpPr>
        <p:spPr>
          <a:xfrm>
            <a:off x="7726680" y="3680460"/>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 icons; paper-plane vs clipboard-check icons for the two models</a:t>
            </a:r>
            <a:endParaRPr lang="en-US" sz="1100" dirty="0"/>
          </a:p>
        </p:txBody>
      </p:sp>
      <p:sp>
        <p:nvSpPr>
          <p:cNvPr id="70" name="Shape 57"/>
          <p:cNvSpPr/>
          <p:nvPr/>
        </p:nvSpPr>
        <p:spPr>
          <a:xfrm>
            <a:off x="7360920" y="4165092"/>
            <a:ext cx="274320" cy="274320"/>
          </a:xfrm>
          <a:prstGeom prst="ellipse">
            <a:avLst/>
          </a:prstGeom>
          <a:solidFill>
            <a:srgbClr val="ECEBFF"/>
          </a:solidFill>
          <a:ln/>
        </p:spPr>
      </p:sp>
      <p:pic>
        <p:nvPicPr>
          <p:cNvPr id="71" name="Image 11" descr="preencoded.png">    </p:cNvPr>
          <p:cNvPicPr>
            <a:picLocks noChangeAspect="1"/>
          </p:cNvPicPr>
          <p:nvPr/>
        </p:nvPicPr>
        <p:blipFill>
          <a:blip r:embed="rId12"/>
          <a:stretch>
            <a:fillRect/>
          </a:stretch>
        </p:blipFill>
        <p:spPr>
          <a:xfrm>
            <a:off x="7429500" y="4233672"/>
            <a:ext cx="137160" cy="137160"/>
          </a:xfrm>
          <a:prstGeom prst="rect">
            <a:avLst/>
          </a:prstGeom>
        </p:spPr>
      </p:pic>
      <p:sp>
        <p:nvSpPr>
          <p:cNvPr id="72" name="Text 58"/>
          <p:cNvSpPr txBox="1"/>
          <p:nvPr/>
        </p:nvSpPr>
        <p:spPr>
          <a:xfrm>
            <a:off x="7726680" y="418338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73" name="Text 59"/>
          <p:cNvSpPr txBox="1"/>
          <p:nvPr/>
        </p:nvSpPr>
        <p:spPr>
          <a:xfrm>
            <a:off x="7726680" y="4457700"/>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Static content; optional 'Ask about pricing' link → Contact (SMS)</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Who can benefit and closing CTA</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SMS PAGE · SECTION 4 OF 4</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omaginfo.com/services/sms</a:t>
            </a:r>
            <a:endParaRPr lang="en-US" sz="700" dirty="0"/>
          </a:p>
        </p:txBody>
      </p:sp>
      <p:sp>
        <p:nvSpPr>
          <p:cNvPr id="12" name="Text 10"/>
          <p:cNvSpPr txBox="1"/>
          <p:nvPr/>
        </p:nvSpPr>
        <p:spPr>
          <a:xfrm>
            <a:off x="749808" y="1737360"/>
            <a:ext cx="6135624" cy="320040"/>
          </a:xfrm>
          <a:prstGeom prst="rect">
            <a:avLst/>
          </a:prstGeom>
          <a:noFill/>
          <a:ln/>
        </p:spPr>
        <p:txBody>
          <a:bodyPr wrap="square" lIns="0" tIns="0" rIns="0" bIns="0" rtlCol="0" anchor="t"/>
          <a:lstStyle/>
          <a:p>
            <a:pPr algn="ctr" indent="0" marL="0">
              <a:buNone/>
            </a:pPr>
            <a:r>
              <a:rPr lang="en-US" sz="1400" b="1" dirty="0">
                <a:solidFill>
                  <a:srgbClr val="16161F"/>
                </a:solidFill>
                <a:latin typeface="Calibri" pitchFamily="34" charset="0"/>
                <a:ea typeface="Calibri" pitchFamily="34" charset="-122"/>
                <a:cs typeface="Calibri" pitchFamily="34" charset="-120"/>
              </a:rPr>
              <a:t>Who Can Benefit from Our SMS Solutions?</a:t>
            </a:r>
            <a:endParaRPr lang="en-US" sz="1400" dirty="0"/>
          </a:p>
        </p:txBody>
      </p:sp>
      <p:sp>
        <p:nvSpPr>
          <p:cNvPr id="13" name="Text 11"/>
          <p:cNvSpPr txBox="1"/>
          <p:nvPr/>
        </p:nvSpPr>
        <p:spPr>
          <a:xfrm>
            <a:off x="749808" y="2103120"/>
            <a:ext cx="6135624" cy="228600"/>
          </a:xfrm>
          <a:prstGeom prst="rect">
            <a:avLst/>
          </a:prstGeom>
          <a:noFill/>
          <a:ln/>
        </p:spPr>
        <p:txBody>
          <a:bodyPr wrap="square" lIns="0" tIns="0" rIns="0" bIns="0" rtlCol="0" anchor="t"/>
          <a:lstStyle/>
          <a:p>
            <a:pPr algn="ctr" indent="0" marL="0">
              <a:buNone/>
            </a:pPr>
            <a:r>
              <a:rPr lang="en-US" sz="850" dirty="0">
                <a:solidFill>
                  <a:srgbClr val="5F6075"/>
                </a:solidFill>
                <a:latin typeface="Calibri" pitchFamily="34" charset="0"/>
                <a:ea typeface="Calibri" pitchFamily="34" charset="-122"/>
                <a:cs typeface="Calibri" pitchFamily="34" charset="-120"/>
              </a:rPr>
              <a:t>Our services are designed for:</a:t>
            </a:r>
            <a:endParaRPr lang="en-US" sz="850" dirty="0"/>
          </a:p>
        </p:txBody>
      </p:sp>
      <p:sp>
        <p:nvSpPr>
          <p:cNvPr id="14" name="Shape 12"/>
          <p:cNvSpPr/>
          <p:nvPr/>
        </p:nvSpPr>
        <p:spPr>
          <a:xfrm>
            <a:off x="749808" y="2514600"/>
            <a:ext cx="1152144" cy="1691640"/>
          </a:xfrm>
          <a:prstGeom prst="roundRect">
            <a:avLst>
              <a:gd name="adj" fmla="val 11111"/>
            </a:avLst>
          </a:prstGeom>
          <a:solidFill>
            <a:srgbClr val="FFFFFF"/>
          </a:solidFill>
          <a:ln w="9525">
            <a:solidFill>
              <a:srgbClr val="E4E3EF"/>
            </a:solidFill>
            <a:prstDash val="solid"/>
          </a:ln>
        </p:spPr>
      </p:sp>
      <p:sp>
        <p:nvSpPr>
          <p:cNvPr id="15" name="Shape 13"/>
          <p:cNvSpPr/>
          <p:nvPr/>
        </p:nvSpPr>
        <p:spPr>
          <a:xfrm>
            <a:off x="1097280" y="2697480"/>
            <a:ext cx="457200" cy="457200"/>
          </a:xfrm>
          <a:prstGeom prst="ellipse">
            <a:avLst/>
          </a:prstGeom>
          <a:solidFill>
            <a:srgbClr val="ECEBFF"/>
          </a:solidFill>
          <a:ln/>
        </p:spPr>
      </p:sp>
      <p:pic>
        <p:nvPicPr>
          <p:cNvPr id="16" name="Image 0" descr="preencoded.png">    </p:cNvPr>
          <p:cNvPicPr>
            <a:picLocks noChangeAspect="1"/>
          </p:cNvPicPr>
          <p:nvPr/>
        </p:nvPicPr>
        <p:blipFill>
          <a:blip r:embed="rId1"/>
          <a:stretch>
            <a:fillRect/>
          </a:stretch>
        </p:blipFill>
        <p:spPr>
          <a:xfrm>
            <a:off x="1216152" y="2816352"/>
            <a:ext cx="219456" cy="219456"/>
          </a:xfrm>
          <a:prstGeom prst="rect">
            <a:avLst/>
          </a:prstGeom>
        </p:spPr>
      </p:pic>
      <p:sp>
        <p:nvSpPr>
          <p:cNvPr id="17" name="Text 14"/>
          <p:cNvSpPr txBox="1"/>
          <p:nvPr/>
        </p:nvSpPr>
        <p:spPr>
          <a:xfrm>
            <a:off x="841248" y="3291840"/>
            <a:ext cx="969264" cy="822960"/>
          </a:xfrm>
          <a:prstGeom prst="rect">
            <a:avLst/>
          </a:prstGeom>
          <a:noFill/>
          <a:ln/>
        </p:spPr>
        <p:txBody>
          <a:bodyPr wrap="square" lIns="0" tIns="0" rIns="0" bIns="0" rtlCol="0" anchor="t"/>
          <a:lstStyle/>
          <a:p>
            <a:pPr algn="ctr" indent="0" marL="0">
              <a:buNone/>
            </a:pPr>
            <a:r>
              <a:rPr lang="en-US" sz="780" b="1" dirty="0">
                <a:solidFill>
                  <a:srgbClr val="16161F"/>
                </a:solidFill>
                <a:latin typeface="Calibri" pitchFamily="34" charset="0"/>
                <a:ea typeface="Calibri" pitchFamily="34" charset="-122"/>
                <a:cs typeface="Calibri" pitchFamily="34" charset="-120"/>
              </a:rPr>
              <a:t>Telecom operators and mobile network operators</a:t>
            </a:r>
            <a:endParaRPr lang="en-US" sz="780" dirty="0"/>
          </a:p>
        </p:txBody>
      </p:sp>
      <p:sp>
        <p:nvSpPr>
          <p:cNvPr id="18" name="Shape 15"/>
          <p:cNvSpPr/>
          <p:nvPr/>
        </p:nvSpPr>
        <p:spPr>
          <a:xfrm>
            <a:off x="1993392" y="2514600"/>
            <a:ext cx="1152144" cy="1691640"/>
          </a:xfrm>
          <a:prstGeom prst="roundRect">
            <a:avLst>
              <a:gd name="adj" fmla="val 11111"/>
            </a:avLst>
          </a:prstGeom>
          <a:solidFill>
            <a:srgbClr val="F3F2FA"/>
          </a:solidFill>
          <a:ln w="9525">
            <a:solidFill>
              <a:srgbClr val="E4E3EF"/>
            </a:solidFill>
            <a:prstDash val="solid"/>
          </a:ln>
        </p:spPr>
      </p:sp>
      <p:sp>
        <p:nvSpPr>
          <p:cNvPr id="19" name="Shape 16"/>
          <p:cNvSpPr/>
          <p:nvPr/>
        </p:nvSpPr>
        <p:spPr>
          <a:xfrm>
            <a:off x="2340864" y="2697480"/>
            <a:ext cx="457200" cy="457200"/>
          </a:xfrm>
          <a:prstGeom prst="ellipse">
            <a:avLst/>
          </a:prstGeom>
          <a:solidFill>
            <a:srgbClr val="ECEBFF"/>
          </a:solidFill>
          <a:ln/>
        </p:spPr>
      </p:sp>
      <p:pic>
        <p:nvPicPr>
          <p:cNvPr id="20" name="Image 1" descr="preencoded.png">    </p:cNvPr>
          <p:cNvPicPr>
            <a:picLocks noChangeAspect="1"/>
          </p:cNvPicPr>
          <p:nvPr/>
        </p:nvPicPr>
        <p:blipFill>
          <a:blip r:embed="rId2"/>
          <a:stretch>
            <a:fillRect/>
          </a:stretch>
        </p:blipFill>
        <p:spPr>
          <a:xfrm>
            <a:off x="2459736" y="2816352"/>
            <a:ext cx="219456" cy="219456"/>
          </a:xfrm>
          <a:prstGeom prst="rect">
            <a:avLst/>
          </a:prstGeom>
        </p:spPr>
      </p:pic>
      <p:sp>
        <p:nvSpPr>
          <p:cNvPr id="21" name="Text 17"/>
          <p:cNvSpPr txBox="1"/>
          <p:nvPr/>
        </p:nvSpPr>
        <p:spPr>
          <a:xfrm>
            <a:off x="2084832" y="3291840"/>
            <a:ext cx="969264" cy="822960"/>
          </a:xfrm>
          <a:prstGeom prst="rect">
            <a:avLst/>
          </a:prstGeom>
          <a:noFill/>
          <a:ln/>
        </p:spPr>
        <p:txBody>
          <a:bodyPr wrap="square" lIns="0" tIns="0" rIns="0" bIns="0" rtlCol="0" anchor="t"/>
          <a:lstStyle/>
          <a:p>
            <a:pPr algn="ctr" indent="0" marL="0">
              <a:buNone/>
            </a:pPr>
            <a:r>
              <a:rPr lang="en-US" sz="780" b="1" dirty="0">
                <a:solidFill>
                  <a:srgbClr val="16161F"/>
                </a:solidFill>
                <a:latin typeface="Calibri" pitchFamily="34" charset="0"/>
                <a:ea typeface="Calibri" pitchFamily="34" charset="-122"/>
                <a:cs typeface="Calibri" pitchFamily="34" charset="-120"/>
              </a:rPr>
              <a:t>International SMS aggregators</a:t>
            </a:r>
            <a:endParaRPr lang="en-US" sz="780" dirty="0"/>
          </a:p>
        </p:txBody>
      </p:sp>
      <p:sp>
        <p:nvSpPr>
          <p:cNvPr id="22" name="Shape 18"/>
          <p:cNvSpPr/>
          <p:nvPr/>
        </p:nvSpPr>
        <p:spPr>
          <a:xfrm>
            <a:off x="3236976" y="2514600"/>
            <a:ext cx="1152144" cy="1691640"/>
          </a:xfrm>
          <a:prstGeom prst="roundRect">
            <a:avLst>
              <a:gd name="adj" fmla="val 11111"/>
            </a:avLst>
          </a:prstGeom>
          <a:solidFill>
            <a:srgbClr val="FFFFFF"/>
          </a:solidFill>
          <a:ln w="9525">
            <a:solidFill>
              <a:srgbClr val="E4E3EF"/>
            </a:solidFill>
            <a:prstDash val="solid"/>
          </a:ln>
        </p:spPr>
      </p:sp>
      <p:sp>
        <p:nvSpPr>
          <p:cNvPr id="23" name="Shape 19"/>
          <p:cNvSpPr/>
          <p:nvPr/>
        </p:nvSpPr>
        <p:spPr>
          <a:xfrm>
            <a:off x="3584448" y="2697480"/>
            <a:ext cx="457200" cy="457200"/>
          </a:xfrm>
          <a:prstGeom prst="ellipse">
            <a:avLst/>
          </a:prstGeom>
          <a:solidFill>
            <a:srgbClr val="ECEBFF"/>
          </a:solidFill>
          <a:ln/>
        </p:spPr>
      </p:sp>
      <p:pic>
        <p:nvPicPr>
          <p:cNvPr id="24" name="Image 2" descr="preencoded.png">    </p:cNvPr>
          <p:cNvPicPr>
            <a:picLocks noChangeAspect="1"/>
          </p:cNvPicPr>
          <p:nvPr/>
        </p:nvPicPr>
        <p:blipFill>
          <a:blip r:embed="rId3"/>
          <a:stretch>
            <a:fillRect/>
          </a:stretch>
        </p:blipFill>
        <p:spPr>
          <a:xfrm>
            <a:off x="3703320" y="2816352"/>
            <a:ext cx="219456" cy="219456"/>
          </a:xfrm>
          <a:prstGeom prst="rect">
            <a:avLst/>
          </a:prstGeom>
        </p:spPr>
      </p:pic>
      <p:sp>
        <p:nvSpPr>
          <p:cNvPr id="25" name="Text 20"/>
          <p:cNvSpPr txBox="1"/>
          <p:nvPr/>
        </p:nvSpPr>
        <p:spPr>
          <a:xfrm>
            <a:off x="3328416" y="3291840"/>
            <a:ext cx="969264" cy="822960"/>
          </a:xfrm>
          <a:prstGeom prst="rect">
            <a:avLst/>
          </a:prstGeom>
          <a:noFill/>
          <a:ln/>
        </p:spPr>
        <p:txBody>
          <a:bodyPr wrap="square" lIns="0" tIns="0" rIns="0" bIns="0" rtlCol="0" anchor="t"/>
          <a:lstStyle/>
          <a:p>
            <a:pPr algn="ctr" indent="0" marL="0">
              <a:buNone/>
            </a:pPr>
            <a:r>
              <a:rPr lang="en-US" sz="780" b="1" dirty="0">
                <a:solidFill>
                  <a:srgbClr val="16161F"/>
                </a:solidFill>
                <a:latin typeface="Calibri" pitchFamily="34" charset="0"/>
                <a:ea typeface="Calibri" pitchFamily="34" charset="-122"/>
                <a:cs typeface="Calibri" pitchFamily="34" charset="-120"/>
              </a:rPr>
              <a:t>A2P messaging providers and CPaaS platforms</a:t>
            </a:r>
            <a:endParaRPr lang="en-US" sz="780" dirty="0"/>
          </a:p>
        </p:txBody>
      </p:sp>
      <p:sp>
        <p:nvSpPr>
          <p:cNvPr id="26" name="Shape 21"/>
          <p:cNvSpPr/>
          <p:nvPr/>
        </p:nvSpPr>
        <p:spPr>
          <a:xfrm>
            <a:off x="4480560" y="2514600"/>
            <a:ext cx="1152144" cy="1691640"/>
          </a:xfrm>
          <a:prstGeom prst="roundRect">
            <a:avLst>
              <a:gd name="adj" fmla="val 11111"/>
            </a:avLst>
          </a:prstGeom>
          <a:solidFill>
            <a:srgbClr val="F3F2FA"/>
          </a:solidFill>
          <a:ln w="9525">
            <a:solidFill>
              <a:srgbClr val="E4E3EF"/>
            </a:solidFill>
            <a:prstDash val="solid"/>
          </a:ln>
        </p:spPr>
      </p:sp>
      <p:sp>
        <p:nvSpPr>
          <p:cNvPr id="27" name="Shape 22"/>
          <p:cNvSpPr/>
          <p:nvPr/>
        </p:nvSpPr>
        <p:spPr>
          <a:xfrm>
            <a:off x="4828032" y="2697480"/>
            <a:ext cx="457200" cy="457200"/>
          </a:xfrm>
          <a:prstGeom prst="ellipse">
            <a:avLst/>
          </a:prstGeom>
          <a:solidFill>
            <a:srgbClr val="ECEBFF"/>
          </a:solidFill>
          <a:ln/>
        </p:spPr>
      </p:sp>
      <p:pic>
        <p:nvPicPr>
          <p:cNvPr id="28" name="Image 3" descr="preencoded.png">    </p:cNvPr>
          <p:cNvPicPr>
            <a:picLocks noChangeAspect="1"/>
          </p:cNvPicPr>
          <p:nvPr/>
        </p:nvPicPr>
        <p:blipFill>
          <a:blip r:embed="rId4"/>
          <a:stretch>
            <a:fillRect/>
          </a:stretch>
        </p:blipFill>
        <p:spPr>
          <a:xfrm>
            <a:off x="4946904" y="2816352"/>
            <a:ext cx="219456" cy="219456"/>
          </a:xfrm>
          <a:prstGeom prst="rect">
            <a:avLst/>
          </a:prstGeom>
        </p:spPr>
      </p:pic>
      <p:sp>
        <p:nvSpPr>
          <p:cNvPr id="29" name="Text 23"/>
          <p:cNvSpPr txBox="1"/>
          <p:nvPr/>
        </p:nvSpPr>
        <p:spPr>
          <a:xfrm>
            <a:off x="4572000" y="3291840"/>
            <a:ext cx="969264" cy="822960"/>
          </a:xfrm>
          <a:prstGeom prst="rect">
            <a:avLst/>
          </a:prstGeom>
          <a:noFill/>
          <a:ln/>
        </p:spPr>
        <p:txBody>
          <a:bodyPr wrap="square" lIns="0" tIns="0" rIns="0" bIns="0" rtlCol="0" anchor="t"/>
          <a:lstStyle/>
          <a:p>
            <a:pPr algn="ctr" indent="0" marL="0">
              <a:buNone/>
            </a:pPr>
            <a:r>
              <a:rPr lang="en-US" sz="780" b="1" dirty="0">
                <a:solidFill>
                  <a:srgbClr val="16161F"/>
                </a:solidFill>
                <a:latin typeface="Calibri" pitchFamily="34" charset="0"/>
                <a:ea typeface="Calibri" pitchFamily="34" charset="-122"/>
                <a:cs typeface="Calibri" pitchFamily="34" charset="-120"/>
              </a:rPr>
              <a:t>Businesses requiring international messaging connectivity</a:t>
            </a:r>
            <a:endParaRPr lang="en-US" sz="780" dirty="0"/>
          </a:p>
        </p:txBody>
      </p:sp>
      <p:sp>
        <p:nvSpPr>
          <p:cNvPr id="30" name="Shape 24"/>
          <p:cNvSpPr/>
          <p:nvPr/>
        </p:nvSpPr>
        <p:spPr>
          <a:xfrm>
            <a:off x="5724144" y="2514600"/>
            <a:ext cx="1152144" cy="1691640"/>
          </a:xfrm>
          <a:prstGeom prst="roundRect">
            <a:avLst>
              <a:gd name="adj" fmla="val 11111"/>
            </a:avLst>
          </a:prstGeom>
          <a:solidFill>
            <a:srgbClr val="FFFFFF"/>
          </a:solidFill>
          <a:ln w="9525">
            <a:solidFill>
              <a:srgbClr val="E4E3EF"/>
            </a:solidFill>
            <a:prstDash val="solid"/>
          </a:ln>
        </p:spPr>
      </p:sp>
      <p:sp>
        <p:nvSpPr>
          <p:cNvPr id="31" name="Shape 25"/>
          <p:cNvSpPr/>
          <p:nvPr/>
        </p:nvSpPr>
        <p:spPr>
          <a:xfrm>
            <a:off x="6071616" y="2697480"/>
            <a:ext cx="457200" cy="457200"/>
          </a:xfrm>
          <a:prstGeom prst="ellipse">
            <a:avLst/>
          </a:prstGeom>
          <a:solidFill>
            <a:srgbClr val="ECEBFF"/>
          </a:solidFill>
          <a:ln/>
        </p:spPr>
      </p:sp>
      <p:pic>
        <p:nvPicPr>
          <p:cNvPr id="32" name="Image 4" descr="preencoded.png">    </p:cNvPr>
          <p:cNvPicPr>
            <a:picLocks noChangeAspect="1"/>
          </p:cNvPicPr>
          <p:nvPr/>
        </p:nvPicPr>
        <p:blipFill>
          <a:blip r:embed="rId5"/>
          <a:stretch>
            <a:fillRect/>
          </a:stretch>
        </p:blipFill>
        <p:spPr>
          <a:xfrm>
            <a:off x="6190488" y="2816352"/>
            <a:ext cx="219456" cy="219456"/>
          </a:xfrm>
          <a:prstGeom prst="rect">
            <a:avLst/>
          </a:prstGeom>
        </p:spPr>
      </p:pic>
      <p:sp>
        <p:nvSpPr>
          <p:cNvPr id="33" name="Text 26"/>
          <p:cNvSpPr txBox="1"/>
          <p:nvPr/>
        </p:nvSpPr>
        <p:spPr>
          <a:xfrm>
            <a:off x="5815584" y="3291840"/>
            <a:ext cx="969264" cy="822960"/>
          </a:xfrm>
          <a:prstGeom prst="rect">
            <a:avLst/>
          </a:prstGeom>
          <a:noFill/>
          <a:ln/>
        </p:spPr>
        <p:txBody>
          <a:bodyPr wrap="square" lIns="0" tIns="0" rIns="0" bIns="0" rtlCol="0" anchor="t"/>
          <a:lstStyle/>
          <a:p>
            <a:pPr algn="ctr" indent="0" marL="0">
              <a:buNone/>
            </a:pPr>
            <a:r>
              <a:rPr lang="en-US" sz="780" b="1" dirty="0">
                <a:solidFill>
                  <a:srgbClr val="16161F"/>
                </a:solidFill>
                <a:latin typeface="Calibri" pitchFamily="34" charset="0"/>
                <a:ea typeface="Calibri" pitchFamily="34" charset="-122"/>
                <a:cs typeface="Calibri" pitchFamily="34" charset="-120"/>
              </a:rPr>
              <a:t>Service providers seeking additional SMS routing opportunities</a:t>
            </a:r>
            <a:endParaRPr lang="en-US" sz="780" dirty="0"/>
          </a:p>
        </p:txBody>
      </p:sp>
      <p:sp>
        <p:nvSpPr>
          <p:cNvPr id="34" name="Shape 27"/>
          <p:cNvSpPr/>
          <p:nvPr/>
        </p:nvSpPr>
        <p:spPr>
          <a:xfrm>
            <a:off x="749808" y="4480560"/>
            <a:ext cx="6135624" cy="1600200"/>
          </a:xfrm>
          <a:prstGeom prst="roundRect">
            <a:avLst>
              <a:gd name="adj" fmla="val 9143"/>
            </a:avLst>
          </a:prstGeom>
          <a:solidFill>
            <a:srgbClr val="1B1B28"/>
          </a:solidFill>
          <a:ln/>
        </p:spPr>
      </p:sp>
      <p:sp>
        <p:nvSpPr>
          <p:cNvPr id="35" name="Text 28"/>
          <p:cNvSpPr txBox="1"/>
          <p:nvPr/>
        </p:nvSpPr>
        <p:spPr>
          <a:xfrm>
            <a:off x="1024128" y="4663440"/>
            <a:ext cx="3840480" cy="5029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Build Your Global Messaging Network with Omaginfo LLC</a:t>
            </a:r>
            <a:endParaRPr lang="en-US" sz="1300" dirty="0"/>
          </a:p>
        </p:txBody>
      </p:sp>
      <p:sp>
        <p:nvSpPr>
          <p:cNvPr id="36" name="Text 29"/>
          <p:cNvSpPr txBox="1"/>
          <p:nvPr/>
        </p:nvSpPr>
        <p:spPr>
          <a:xfrm>
            <a:off x="1024128" y="5212080"/>
            <a:ext cx="4023360" cy="777240"/>
          </a:xfrm>
          <a:prstGeom prst="rect">
            <a:avLst/>
          </a:prstGeom>
          <a:noFill/>
          <a:ln/>
        </p:spPr>
        <p:txBody>
          <a:bodyPr wrap="square" lIns="0" tIns="0" rIns="0" bIns="0" rtlCol="0" anchor="t"/>
          <a:lstStyle/>
          <a:p>
            <a:pPr indent="0" marL="0">
              <a:buNone/>
            </a:pPr>
            <a:r>
              <a:rPr lang="en-US" sz="750" dirty="0">
                <a:solidFill>
                  <a:srgbClr val="C9C9DA"/>
                </a:solidFill>
                <a:latin typeface="Calibri" pitchFamily="34" charset="0"/>
                <a:ea typeface="Calibri" pitchFamily="34" charset="-122"/>
                <a:cs typeface="Calibri" pitchFamily="34" charset="-120"/>
              </a:rPr>
              <a:t>Whether you are expanding into new destinations, looking for additional SMS routes, or seeking a messaging connectivity partner, Omaginfo LLC welcomes the opportunity to discuss your requirements. Contact our team to explore available destinations, routing options, and commercial opportunities for your SMS traffic.</a:t>
            </a:r>
            <a:endParaRPr lang="en-US" sz="750" dirty="0"/>
          </a:p>
        </p:txBody>
      </p:sp>
      <p:sp>
        <p:nvSpPr>
          <p:cNvPr id="37" name="Shape 30"/>
          <p:cNvSpPr/>
          <p:nvPr/>
        </p:nvSpPr>
        <p:spPr>
          <a:xfrm>
            <a:off x="5376672" y="5120640"/>
            <a:ext cx="1299911" cy="256032"/>
          </a:xfrm>
          <a:prstGeom prst="roundRect">
            <a:avLst>
              <a:gd name="adj" fmla="val 50000"/>
            </a:avLst>
          </a:prstGeom>
          <a:solidFill>
            <a:srgbClr val="7B6CF6"/>
          </a:solidFill>
          <a:ln/>
        </p:spPr>
      </p:sp>
      <p:sp>
        <p:nvSpPr>
          <p:cNvPr id="38" name="Text 31"/>
          <p:cNvSpPr txBox="1"/>
          <p:nvPr/>
        </p:nvSpPr>
        <p:spPr>
          <a:xfrm>
            <a:off x="5376672" y="5120640"/>
            <a:ext cx="129991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Discuss SMS Routes</a:t>
            </a:r>
            <a:endParaRPr lang="en-US" sz="850" dirty="0"/>
          </a:p>
        </p:txBody>
      </p:sp>
      <p:sp>
        <p:nvSpPr>
          <p:cNvPr id="39" name="Text 32"/>
          <p:cNvSpPr txBox="1"/>
          <p:nvPr/>
        </p:nvSpPr>
        <p:spPr>
          <a:xfrm>
            <a:off x="6658295" y="50749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0" name="Shape 33"/>
          <p:cNvSpPr/>
          <p:nvPr/>
        </p:nvSpPr>
        <p:spPr>
          <a:xfrm>
            <a:off x="7360920" y="1325880"/>
            <a:ext cx="274320" cy="274320"/>
          </a:xfrm>
          <a:prstGeom prst="ellipse">
            <a:avLst/>
          </a:prstGeom>
          <a:solidFill>
            <a:srgbClr val="ECEBFF"/>
          </a:solidFill>
          <a:ln/>
        </p:spPr>
      </p:sp>
      <p:pic>
        <p:nvPicPr>
          <p:cNvPr id="41" name="Image 5" descr="preencoded.png">    </p:cNvPr>
          <p:cNvPicPr>
            <a:picLocks noChangeAspect="1"/>
          </p:cNvPicPr>
          <p:nvPr/>
        </p:nvPicPr>
        <p:blipFill>
          <a:blip r:embed="rId6"/>
          <a:stretch>
            <a:fillRect/>
          </a:stretch>
        </p:blipFill>
        <p:spPr>
          <a:xfrm>
            <a:off x="7429500" y="1394460"/>
            <a:ext cx="137160" cy="137160"/>
          </a:xfrm>
          <a:prstGeom prst="rect">
            <a:avLst/>
          </a:prstGeom>
        </p:spPr>
      </p:pic>
      <p:sp>
        <p:nvSpPr>
          <p:cNvPr id="42" name="Text 34"/>
          <p:cNvSpPr txBox="1"/>
          <p:nvPr/>
        </p:nvSpPr>
        <p:spPr>
          <a:xfrm>
            <a:off x="7726680" y="1344168"/>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3" name="Text 35"/>
          <p:cNvSpPr txBox="1"/>
          <p:nvPr/>
        </p:nvSpPr>
        <p:spPr>
          <a:xfrm>
            <a:off x="7726680" y="161848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 intro line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Five audience cards in one row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Dark CTA band (dark variant of the global band)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Tablet: 3 + 2 cards; phone: 1 per row</a:t>
            </a:r>
            <a:endParaRPr lang="en-US" sz="1100" dirty="0"/>
          </a:p>
        </p:txBody>
      </p:sp>
      <p:sp>
        <p:nvSpPr>
          <p:cNvPr id="44" name="Shape 36"/>
          <p:cNvSpPr/>
          <p:nvPr/>
        </p:nvSpPr>
        <p:spPr>
          <a:xfrm>
            <a:off x="7360920" y="2441448"/>
            <a:ext cx="274320" cy="274320"/>
          </a:xfrm>
          <a:prstGeom prst="ellipse">
            <a:avLst/>
          </a:prstGeom>
          <a:solidFill>
            <a:srgbClr val="ECEBFF"/>
          </a:solidFill>
          <a:ln/>
        </p:spPr>
      </p:sp>
      <p:pic>
        <p:nvPicPr>
          <p:cNvPr id="45" name="Image 6" descr="preencoded.png">    </p:cNvPr>
          <p:cNvPicPr>
            <a:picLocks noChangeAspect="1"/>
          </p:cNvPicPr>
          <p:nvPr/>
        </p:nvPicPr>
        <p:blipFill>
          <a:blip r:embed="rId7"/>
          <a:stretch>
            <a:fillRect/>
          </a:stretch>
        </p:blipFill>
        <p:spPr>
          <a:xfrm>
            <a:off x="7429500" y="2510028"/>
            <a:ext cx="137160" cy="137160"/>
          </a:xfrm>
          <a:prstGeom prst="rect">
            <a:avLst/>
          </a:prstGeom>
        </p:spPr>
      </p:pic>
      <p:sp>
        <p:nvSpPr>
          <p:cNvPr id="46" name="Text 37"/>
          <p:cNvSpPr txBox="1"/>
          <p:nvPr/>
        </p:nvSpPr>
        <p:spPr>
          <a:xfrm>
            <a:off x="7726680" y="245973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47" name="Text 38"/>
          <p:cNvSpPr txBox="1"/>
          <p:nvPr/>
        </p:nvSpPr>
        <p:spPr>
          <a:xfrm>
            <a:off x="7726680" y="273405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intro and five audiences verbatim (item 7)</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CTA heading and paragraph verbatim; button ✱</a:t>
            </a:r>
            <a:endParaRPr lang="en-US" sz="1100" dirty="0"/>
          </a:p>
        </p:txBody>
      </p:sp>
      <p:sp>
        <p:nvSpPr>
          <p:cNvPr id="48" name="Shape 39"/>
          <p:cNvSpPr/>
          <p:nvPr/>
        </p:nvSpPr>
        <p:spPr>
          <a:xfrm>
            <a:off x="7360920" y="3218688"/>
            <a:ext cx="274320" cy="274320"/>
          </a:xfrm>
          <a:prstGeom prst="ellipse">
            <a:avLst/>
          </a:prstGeom>
          <a:solidFill>
            <a:srgbClr val="ECEBFF"/>
          </a:solidFill>
          <a:ln/>
        </p:spPr>
      </p:sp>
      <p:pic>
        <p:nvPicPr>
          <p:cNvPr id="49" name="Image 7" descr="preencoded.png">    </p:cNvPr>
          <p:cNvPicPr>
            <a:picLocks noChangeAspect="1"/>
          </p:cNvPicPr>
          <p:nvPr/>
        </p:nvPicPr>
        <p:blipFill>
          <a:blip r:embed="rId8"/>
          <a:stretch>
            <a:fillRect/>
          </a:stretch>
        </p:blipFill>
        <p:spPr>
          <a:xfrm>
            <a:off x="7429500" y="3287268"/>
            <a:ext cx="137160" cy="137160"/>
          </a:xfrm>
          <a:prstGeom prst="rect">
            <a:avLst/>
          </a:prstGeom>
        </p:spPr>
      </p:pic>
      <p:sp>
        <p:nvSpPr>
          <p:cNvPr id="50" name="Text 40"/>
          <p:cNvSpPr txBox="1"/>
          <p:nvPr/>
        </p:nvSpPr>
        <p:spPr>
          <a:xfrm>
            <a:off x="7726680" y="323697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1" name="Text 41"/>
          <p:cNvSpPr txBox="1"/>
          <p:nvPr/>
        </p:nvSpPr>
        <p:spPr>
          <a:xfrm>
            <a:off x="7726680" y="351129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Icons: tower, exchange, server, building, network</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Dark band with optional faint message-bubble pattern</a:t>
            </a:r>
            <a:endParaRPr lang="en-US" sz="1100" dirty="0"/>
          </a:p>
        </p:txBody>
      </p:sp>
      <p:sp>
        <p:nvSpPr>
          <p:cNvPr id="52" name="Shape 42"/>
          <p:cNvSpPr/>
          <p:nvPr/>
        </p:nvSpPr>
        <p:spPr>
          <a:xfrm>
            <a:off x="7360920" y="3995928"/>
            <a:ext cx="274320" cy="274320"/>
          </a:xfrm>
          <a:prstGeom prst="ellipse">
            <a:avLst/>
          </a:prstGeom>
          <a:solidFill>
            <a:srgbClr val="ECEBFF"/>
          </a:solidFill>
          <a:ln/>
        </p:spPr>
      </p:sp>
      <p:pic>
        <p:nvPicPr>
          <p:cNvPr id="53" name="Image 8" descr="preencoded.png">    </p:cNvPr>
          <p:cNvPicPr>
            <a:picLocks noChangeAspect="1"/>
          </p:cNvPicPr>
          <p:nvPr/>
        </p:nvPicPr>
        <p:blipFill>
          <a:blip r:embed="rId9"/>
          <a:stretch>
            <a:fillRect/>
          </a:stretch>
        </p:blipFill>
        <p:spPr>
          <a:xfrm>
            <a:off x="7429500" y="4064508"/>
            <a:ext cx="137160" cy="137160"/>
          </a:xfrm>
          <a:prstGeom prst="rect">
            <a:avLst/>
          </a:prstGeom>
        </p:spPr>
      </p:pic>
      <p:sp>
        <p:nvSpPr>
          <p:cNvPr id="54" name="Text 43"/>
          <p:cNvSpPr txBox="1"/>
          <p:nvPr/>
        </p:nvSpPr>
        <p:spPr>
          <a:xfrm>
            <a:off x="7726680" y="4014216"/>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5" name="Text 44"/>
          <p:cNvSpPr txBox="1"/>
          <p:nvPr/>
        </p:nvSpPr>
        <p:spPr>
          <a:xfrm>
            <a:off x="7726680" y="4288536"/>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Discuss SMS Routes → Contact Us with 'SMS' pre-selected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06</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Contact Us page</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One clear place to start a partnership conversation, with all enquiries sent to info@omaginfo.com.</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7086600" y="2065302"/>
            <a:ext cx="4389120" cy="2727396"/>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Enquiry form and contact details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CONTACT US · SECTION 1 OF 2</a:t>
            </a:r>
            <a:endParaRPr lang="en-US" sz="1050" dirty="0"/>
          </a:p>
        </p:txBody>
      </p:sp>
      <p:sp>
        <p:nvSpPr>
          <p:cNvPr id="4" name="Shape 2"/>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sx="100000" sy="100000" kx="0" ky="0" algn="bl" rotWithShape="0" blurRad="101600" dist="25400" dir="5400000">
              <a:srgbClr val="28207A">
                <a:alpha val="12000"/>
              </a:srgbClr>
            </a:outerShdw>
          </a:effectLst>
        </p:spPr>
      </p:sp>
      <p:sp>
        <p:nvSpPr>
          <p:cNvPr id="5" name="Shape 3"/>
          <p:cNvSpPr/>
          <p:nvPr/>
        </p:nvSpPr>
        <p:spPr>
          <a:xfrm>
            <a:off x="548640" y="1325880"/>
            <a:ext cx="6537960" cy="274320"/>
          </a:xfrm>
          <a:prstGeom prst="roundRect">
            <a:avLst>
              <a:gd name="adj" fmla="val 40000"/>
            </a:avLst>
          </a:prstGeom>
          <a:solidFill>
            <a:srgbClr val="EEEDF6"/>
          </a:solidFill>
          <a:ln/>
        </p:spPr>
      </p:sp>
      <p:sp>
        <p:nvSpPr>
          <p:cNvPr id="6" name="Shape 4"/>
          <p:cNvSpPr/>
          <p:nvPr/>
        </p:nvSpPr>
        <p:spPr>
          <a:xfrm>
            <a:off x="548640" y="1490472"/>
            <a:ext cx="6537960" cy="109728"/>
          </a:xfrm>
          <a:prstGeom prst="rect">
            <a:avLst/>
          </a:prstGeom>
          <a:solidFill>
            <a:srgbClr val="EEEDF6"/>
          </a:solidFill>
          <a:ln/>
        </p:spPr>
      </p:sp>
      <p:sp>
        <p:nvSpPr>
          <p:cNvPr id="7" name="Shape 5"/>
          <p:cNvSpPr/>
          <p:nvPr/>
        </p:nvSpPr>
        <p:spPr>
          <a:xfrm>
            <a:off x="676656" y="1417320"/>
            <a:ext cx="91440" cy="91440"/>
          </a:xfrm>
          <a:prstGeom prst="ellipse">
            <a:avLst/>
          </a:prstGeom>
          <a:solidFill>
            <a:srgbClr val="F2B77A"/>
          </a:solidFill>
          <a:ln/>
        </p:spPr>
      </p:sp>
      <p:sp>
        <p:nvSpPr>
          <p:cNvPr id="8" name="Shape 6"/>
          <p:cNvSpPr/>
          <p:nvPr/>
        </p:nvSpPr>
        <p:spPr>
          <a:xfrm>
            <a:off x="822960" y="1417320"/>
            <a:ext cx="91440" cy="91440"/>
          </a:xfrm>
          <a:prstGeom prst="ellipse">
            <a:avLst/>
          </a:prstGeom>
          <a:solidFill>
            <a:srgbClr val="B3A8FF"/>
          </a:solidFill>
          <a:ln/>
        </p:spPr>
      </p:sp>
      <p:sp>
        <p:nvSpPr>
          <p:cNvPr id="9" name="Shape 7"/>
          <p:cNvSpPr/>
          <p:nvPr/>
        </p:nvSpPr>
        <p:spPr>
          <a:xfrm>
            <a:off x="969264" y="1417320"/>
            <a:ext cx="91440" cy="91440"/>
          </a:xfrm>
          <a:prstGeom prst="ellipse">
            <a:avLst/>
          </a:prstGeom>
          <a:solidFill>
            <a:srgbClr val="9DF0D4"/>
          </a:solidFill>
          <a:ln/>
        </p:spPr>
      </p:sp>
      <p:sp>
        <p:nvSpPr>
          <p:cNvPr id="10" name="Shape 8"/>
          <p:cNvSpPr/>
          <p:nvPr/>
        </p:nvSpPr>
        <p:spPr>
          <a:xfrm>
            <a:off x="2628900" y="1380744"/>
            <a:ext cx="2377440" cy="164592"/>
          </a:xfrm>
          <a:prstGeom prst="roundRect">
            <a:avLst>
              <a:gd name="adj" fmla="val 50000"/>
            </a:avLst>
          </a:prstGeom>
          <a:solidFill>
            <a:srgbClr val="FFFFFF"/>
          </a:solidFill>
          <a:ln/>
        </p:spPr>
      </p:sp>
      <p:sp>
        <p:nvSpPr>
          <p:cNvPr id="11" name="Text 9"/>
          <p:cNvSpPr txBox="1"/>
          <p:nvPr/>
        </p:nvSpPr>
        <p:spPr>
          <a:xfrm>
            <a:off x="2628900" y="1380744"/>
            <a:ext cx="2377440" cy="164592"/>
          </a:xfrm>
          <a:prstGeom prst="rect">
            <a:avLst/>
          </a:prstGeom>
          <a:noFill/>
          <a:ln/>
        </p:spPr>
        <p:txBody>
          <a:bodyPr wrap="square" lIns="0" tIns="0" rIns="0" bIns="0" rtlCol="0" anchor="ctr"/>
          <a:lstStyle/>
          <a:p>
            <a:pPr algn="ctr" indent="0" marL="0">
              <a:buNone/>
            </a:pPr>
            <a:r>
              <a:rPr lang="en-US" sz="700" dirty="0">
                <a:solidFill>
                  <a:srgbClr val="8B8BA3"/>
                </a:solidFill>
                <a:latin typeface="Calibri" pitchFamily="34" charset="0"/>
                <a:ea typeface="Calibri" pitchFamily="34" charset="-122"/>
                <a:cs typeface="Calibri" pitchFamily="34" charset="-120"/>
              </a:rPr>
              <a:t>omaginfo.com/contact</a:t>
            </a:r>
            <a:endParaRPr lang="en-US" sz="700" dirty="0"/>
          </a:p>
        </p:txBody>
      </p:sp>
      <p:sp>
        <p:nvSpPr>
          <p:cNvPr id="12" name="Shape 10"/>
          <p:cNvSpPr/>
          <p:nvPr/>
        </p:nvSpPr>
        <p:spPr>
          <a:xfrm>
            <a:off x="3408426" y="1737360"/>
            <a:ext cx="818388" cy="201168"/>
          </a:xfrm>
          <a:prstGeom prst="roundRect">
            <a:avLst>
              <a:gd name="adj" fmla="val 50000"/>
            </a:avLst>
          </a:prstGeom>
          <a:solidFill>
            <a:srgbClr val="ECEBFF"/>
          </a:solidFill>
          <a:ln/>
        </p:spPr>
      </p:sp>
      <p:sp>
        <p:nvSpPr>
          <p:cNvPr id="13" name="Text 11"/>
          <p:cNvSpPr txBox="1"/>
          <p:nvPr/>
        </p:nvSpPr>
        <p:spPr>
          <a:xfrm>
            <a:off x="3408426" y="1737360"/>
            <a:ext cx="818388" cy="201168"/>
          </a:xfrm>
          <a:prstGeom prst="rect">
            <a:avLst/>
          </a:prstGeom>
          <a:noFill/>
          <a:ln/>
        </p:spPr>
        <p:txBody>
          <a:bodyPr wrap="square" lIns="0" tIns="0" rIns="0" bIns="0" rtlCol="0" anchor="ctr"/>
          <a:lstStyle/>
          <a:p>
            <a:pPr algn="ctr" indent="0" marL="0">
              <a:buNone/>
            </a:pPr>
            <a:r>
              <a:rPr lang="en-US" sz="700" b="1" spc="100" kern="0" dirty="0">
                <a:solidFill>
                  <a:srgbClr val="7B6CF6"/>
                </a:solidFill>
                <a:latin typeface="Calibri" pitchFamily="34" charset="0"/>
                <a:ea typeface="Calibri" pitchFamily="34" charset="-122"/>
                <a:cs typeface="Calibri" pitchFamily="34" charset="-120"/>
              </a:rPr>
              <a:t>CONTACT US</a:t>
            </a:r>
            <a:endParaRPr lang="en-US" sz="700" dirty="0"/>
          </a:p>
        </p:txBody>
      </p:sp>
      <p:sp>
        <p:nvSpPr>
          <p:cNvPr id="14" name="Text 12"/>
          <p:cNvSpPr txBox="1"/>
          <p:nvPr/>
        </p:nvSpPr>
        <p:spPr>
          <a:xfrm>
            <a:off x="749808" y="1993392"/>
            <a:ext cx="6135624" cy="365760"/>
          </a:xfrm>
          <a:prstGeom prst="rect">
            <a:avLst/>
          </a:prstGeom>
          <a:noFill/>
          <a:ln/>
        </p:spPr>
        <p:txBody>
          <a:bodyPr wrap="square" lIns="0" tIns="0" rIns="0" bIns="0" rtlCol="0" anchor="t"/>
          <a:lstStyle/>
          <a:p>
            <a:pPr algn="ctr" indent="0" marL="0">
              <a:buNone/>
            </a:pPr>
            <a:r>
              <a:rPr lang="en-US" sz="1700" b="1" dirty="0">
                <a:solidFill>
                  <a:srgbClr val="16161F"/>
                </a:solidFill>
                <a:latin typeface="Calibri" pitchFamily="34" charset="0"/>
                <a:ea typeface="Calibri" pitchFamily="34" charset="-122"/>
                <a:cs typeface="Calibri" pitchFamily="34" charset="-120"/>
              </a:rPr>
              <a:t>Connect with Omaginfo LLC</a:t>
            </a:r>
            <a:endParaRPr lang="en-US" sz="1700" dirty="0"/>
          </a:p>
        </p:txBody>
      </p:sp>
      <p:sp>
        <p:nvSpPr>
          <p:cNvPr id="15" name="Text 13"/>
          <p:cNvSpPr txBox="1"/>
          <p:nvPr/>
        </p:nvSpPr>
        <p:spPr>
          <a:xfrm>
            <a:off x="749808" y="2359152"/>
            <a:ext cx="6135624" cy="228600"/>
          </a:xfrm>
          <a:prstGeom prst="rect">
            <a:avLst/>
          </a:prstGeom>
          <a:noFill/>
          <a:ln/>
        </p:spPr>
        <p:txBody>
          <a:bodyPr wrap="square" lIns="0" tIns="0" rIns="0" bIns="0" rtlCol="0" anchor="t"/>
          <a:lstStyle/>
          <a:p>
            <a:pPr algn="ctr" indent="0" marL="0">
              <a:buNone/>
            </a:pPr>
            <a:r>
              <a:rPr lang="en-US" sz="850" dirty="0">
                <a:solidFill>
                  <a:srgbClr val="5F6075"/>
                </a:solidFill>
                <a:latin typeface="Calibri" pitchFamily="34" charset="0"/>
                <a:ea typeface="Calibri" pitchFamily="34" charset="-122"/>
                <a:cs typeface="Calibri" pitchFamily="34" charset="-120"/>
              </a:rPr>
              <a:t>Discuss your routing requirements and explore opportunities for collaboration.</a:t>
            </a:r>
            <a:endParaRPr lang="en-US" sz="850" dirty="0"/>
          </a:p>
        </p:txBody>
      </p:sp>
      <p:sp>
        <p:nvSpPr>
          <p:cNvPr id="16" name="Shape 14"/>
          <p:cNvSpPr/>
          <p:nvPr/>
        </p:nvSpPr>
        <p:spPr>
          <a:xfrm>
            <a:off x="749808" y="2743200"/>
            <a:ext cx="3611880" cy="3337560"/>
          </a:xfrm>
          <a:prstGeom prst="roundRect">
            <a:avLst>
              <a:gd name="adj" fmla="val 4384"/>
            </a:avLst>
          </a:prstGeom>
          <a:solidFill>
            <a:srgbClr val="FFFFFF"/>
          </a:solidFill>
          <a:ln w="9525">
            <a:solidFill>
              <a:srgbClr val="E4E3EF"/>
            </a:solidFill>
            <a:prstDash val="solid"/>
          </a:ln>
        </p:spPr>
      </p:sp>
      <p:sp>
        <p:nvSpPr>
          <p:cNvPr id="17" name="Shape 15"/>
          <p:cNvSpPr/>
          <p:nvPr/>
        </p:nvSpPr>
        <p:spPr>
          <a:xfrm>
            <a:off x="932688" y="2907792"/>
            <a:ext cx="2926080" cy="274320"/>
          </a:xfrm>
          <a:prstGeom prst="roundRect">
            <a:avLst>
              <a:gd name="adj" fmla="val 50000"/>
            </a:avLst>
          </a:prstGeom>
          <a:solidFill>
            <a:srgbClr val="F3F2FA"/>
          </a:solidFill>
          <a:ln/>
        </p:spPr>
      </p:sp>
      <p:sp>
        <p:nvSpPr>
          <p:cNvPr id="18" name="Shape 16"/>
          <p:cNvSpPr/>
          <p:nvPr/>
        </p:nvSpPr>
        <p:spPr>
          <a:xfrm>
            <a:off x="960120" y="2935224"/>
            <a:ext cx="910742" cy="219456"/>
          </a:xfrm>
          <a:prstGeom prst="roundRect">
            <a:avLst>
              <a:gd name="adj" fmla="val 50000"/>
            </a:avLst>
          </a:prstGeom>
          <a:solidFill>
            <a:srgbClr val="16161F"/>
          </a:solidFill>
          <a:ln/>
        </p:spPr>
      </p:sp>
      <p:sp>
        <p:nvSpPr>
          <p:cNvPr id="19" name="Text 17"/>
          <p:cNvSpPr txBox="1"/>
          <p:nvPr/>
        </p:nvSpPr>
        <p:spPr>
          <a:xfrm>
            <a:off x="960120" y="2935224"/>
            <a:ext cx="91074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Voice / VoIP</a:t>
            </a:r>
            <a:endParaRPr lang="en-US" sz="750" dirty="0"/>
          </a:p>
        </p:txBody>
      </p:sp>
      <p:sp>
        <p:nvSpPr>
          <p:cNvPr id="20" name="Text 18"/>
          <p:cNvSpPr txBox="1"/>
          <p:nvPr/>
        </p:nvSpPr>
        <p:spPr>
          <a:xfrm>
            <a:off x="1889150" y="2935224"/>
            <a:ext cx="433426" cy="219456"/>
          </a:xfrm>
          <a:prstGeom prst="rect">
            <a:avLst/>
          </a:prstGeom>
          <a:noFill/>
          <a:ln/>
        </p:spPr>
        <p:txBody>
          <a:bodyPr wrap="square" lIns="0" tIns="0" rIns="0" bIns="0" rtlCol="0" anchor="ctr"/>
          <a:lstStyle/>
          <a:p>
            <a:pPr algn="ctr" indent="0" marL="0">
              <a:buNone/>
            </a:pPr>
            <a:r>
              <a:rPr lang="en-US" sz="750" b="1" dirty="0">
                <a:solidFill>
                  <a:srgbClr val="5F6075"/>
                </a:solidFill>
                <a:latin typeface="Calibri" pitchFamily="34" charset="0"/>
                <a:ea typeface="Calibri" pitchFamily="34" charset="-122"/>
                <a:cs typeface="Calibri" pitchFamily="34" charset="-120"/>
              </a:rPr>
              <a:t>SMS</a:t>
            </a:r>
            <a:endParaRPr lang="en-US" sz="750" dirty="0"/>
          </a:p>
        </p:txBody>
      </p:sp>
      <p:sp>
        <p:nvSpPr>
          <p:cNvPr id="21" name="Text 19"/>
          <p:cNvSpPr txBox="1"/>
          <p:nvPr/>
        </p:nvSpPr>
        <p:spPr>
          <a:xfrm>
            <a:off x="2340864" y="2935224"/>
            <a:ext cx="857707" cy="219456"/>
          </a:xfrm>
          <a:prstGeom prst="rect">
            <a:avLst/>
          </a:prstGeom>
          <a:noFill/>
          <a:ln/>
        </p:spPr>
        <p:txBody>
          <a:bodyPr wrap="square" lIns="0" tIns="0" rIns="0" bIns="0" rtlCol="0" anchor="ctr"/>
          <a:lstStyle/>
          <a:p>
            <a:pPr algn="ctr" indent="0" marL="0">
              <a:buNone/>
            </a:pPr>
            <a:r>
              <a:rPr lang="en-US" sz="750" b="1" dirty="0">
                <a:solidFill>
                  <a:srgbClr val="5F6075"/>
                </a:solidFill>
                <a:latin typeface="Calibri" pitchFamily="34" charset="0"/>
                <a:ea typeface="Calibri" pitchFamily="34" charset="-122"/>
                <a:cs typeface="Calibri" pitchFamily="34" charset="-120"/>
              </a:rPr>
              <a:t>Partnership</a:t>
            </a:r>
            <a:endParaRPr lang="en-US" sz="750" dirty="0"/>
          </a:p>
        </p:txBody>
      </p:sp>
      <p:sp>
        <p:nvSpPr>
          <p:cNvPr id="22" name="Text 20"/>
          <p:cNvSpPr txBox="1"/>
          <p:nvPr/>
        </p:nvSpPr>
        <p:spPr>
          <a:xfrm>
            <a:off x="3216859" y="2935224"/>
            <a:ext cx="645566" cy="219456"/>
          </a:xfrm>
          <a:prstGeom prst="rect">
            <a:avLst/>
          </a:prstGeom>
          <a:noFill/>
          <a:ln/>
        </p:spPr>
        <p:txBody>
          <a:bodyPr wrap="square" lIns="0" tIns="0" rIns="0" bIns="0" rtlCol="0" anchor="ctr"/>
          <a:lstStyle/>
          <a:p>
            <a:pPr algn="ctr" indent="0" marL="0">
              <a:buNone/>
            </a:pPr>
            <a:r>
              <a:rPr lang="en-US" sz="750" b="1" dirty="0">
                <a:solidFill>
                  <a:srgbClr val="5F6075"/>
                </a:solidFill>
                <a:latin typeface="Calibri" pitchFamily="34" charset="0"/>
                <a:ea typeface="Calibri" pitchFamily="34" charset="-122"/>
                <a:cs typeface="Calibri" pitchFamily="34" charset="-120"/>
              </a:rPr>
              <a:t>General</a:t>
            </a:r>
            <a:endParaRPr lang="en-US" sz="750" dirty="0"/>
          </a:p>
        </p:txBody>
      </p:sp>
      <p:sp>
        <p:nvSpPr>
          <p:cNvPr id="23" name="Text 21"/>
          <p:cNvSpPr txBox="1"/>
          <p:nvPr/>
        </p:nvSpPr>
        <p:spPr>
          <a:xfrm>
            <a:off x="3877056" y="286207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4" name="Text 22"/>
          <p:cNvSpPr txBox="1"/>
          <p:nvPr/>
        </p:nvSpPr>
        <p:spPr>
          <a:xfrm>
            <a:off x="932688" y="3310128"/>
            <a:ext cx="1554480" cy="164592"/>
          </a:xfrm>
          <a:prstGeom prst="rect">
            <a:avLst/>
          </a:prstGeom>
          <a:noFill/>
          <a:ln/>
        </p:spPr>
        <p:txBody>
          <a:bodyPr wrap="square" lIns="0" tIns="0" rIns="0" bIns="0" rtlCol="0" anchor="t"/>
          <a:lstStyle/>
          <a:p>
            <a:pPr indent="0" marL="0">
              <a:buNone/>
            </a:pPr>
            <a:r>
              <a:rPr lang="en-US" sz="750" b="1" dirty="0">
                <a:solidFill>
                  <a:srgbClr val="16161F"/>
                </a:solidFill>
                <a:latin typeface="Calibri" pitchFamily="34" charset="0"/>
                <a:ea typeface="Calibri" pitchFamily="34" charset="-122"/>
                <a:cs typeface="Calibri" pitchFamily="34" charset="-120"/>
              </a:rPr>
              <a:t>Full name *</a:t>
            </a:r>
            <a:endParaRPr lang="en-US" sz="750" dirty="0"/>
          </a:p>
        </p:txBody>
      </p:sp>
      <p:sp>
        <p:nvSpPr>
          <p:cNvPr id="25" name="Shape 23"/>
          <p:cNvSpPr/>
          <p:nvPr/>
        </p:nvSpPr>
        <p:spPr>
          <a:xfrm>
            <a:off x="932688" y="3493008"/>
            <a:ext cx="1554480" cy="274320"/>
          </a:xfrm>
          <a:prstGeom prst="roundRect">
            <a:avLst>
              <a:gd name="adj" fmla="val 26667"/>
            </a:avLst>
          </a:prstGeom>
          <a:solidFill>
            <a:srgbClr val="F3F2FA"/>
          </a:solidFill>
          <a:ln w="9525">
            <a:solidFill>
              <a:srgbClr val="E4E3EF"/>
            </a:solidFill>
            <a:prstDash val="solid"/>
          </a:ln>
        </p:spPr>
      </p:sp>
      <p:sp>
        <p:nvSpPr>
          <p:cNvPr id="26" name="Text 24"/>
          <p:cNvSpPr txBox="1"/>
          <p:nvPr/>
        </p:nvSpPr>
        <p:spPr>
          <a:xfrm>
            <a:off x="1024128" y="3493008"/>
            <a:ext cx="1371600" cy="274320"/>
          </a:xfrm>
          <a:prstGeom prst="rect">
            <a:avLst/>
          </a:prstGeom>
          <a:noFill/>
          <a:ln/>
        </p:spPr>
        <p:txBody>
          <a:bodyPr wrap="square" lIns="0" tIns="0" rIns="0" bIns="0" rtlCol="0" anchor="ctr"/>
          <a:lstStyle/>
          <a:p>
            <a:pPr indent="0" marL="0">
              <a:buNone/>
            </a:pPr>
            <a:r>
              <a:rPr lang="en-US" sz="750" dirty="0">
                <a:solidFill>
                  <a:srgbClr val="8B8BA3"/>
                </a:solidFill>
                <a:latin typeface="Calibri" pitchFamily="34" charset="0"/>
                <a:ea typeface="Calibri" pitchFamily="34" charset="-122"/>
                <a:cs typeface="Calibri" pitchFamily="34" charset="-120"/>
              </a:rPr>
              <a:t>Your name</a:t>
            </a:r>
            <a:endParaRPr lang="en-US" sz="750" dirty="0"/>
          </a:p>
        </p:txBody>
      </p:sp>
      <p:sp>
        <p:nvSpPr>
          <p:cNvPr id="27" name="Text 25"/>
          <p:cNvSpPr txBox="1"/>
          <p:nvPr/>
        </p:nvSpPr>
        <p:spPr>
          <a:xfrm>
            <a:off x="2624328" y="3310128"/>
            <a:ext cx="1554480" cy="164592"/>
          </a:xfrm>
          <a:prstGeom prst="rect">
            <a:avLst/>
          </a:prstGeom>
          <a:noFill/>
          <a:ln/>
        </p:spPr>
        <p:txBody>
          <a:bodyPr wrap="square" lIns="0" tIns="0" rIns="0" bIns="0" rtlCol="0" anchor="t"/>
          <a:lstStyle/>
          <a:p>
            <a:pPr indent="0" marL="0">
              <a:buNone/>
            </a:pPr>
            <a:r>
              <a:rPr lang="en-US" sz="750" b="1" dirty="0">
                <a:solidFill>
                  <a:srgbClr val="16161F"/>
                </a:solidFill>
                <a:latin typeface="Calibri" pitchFamily="34" charset="0"/>
                <a:ea typeface="Calibri" pitchFamily="34" charset="-122"/>
                <a:cs typeface="Calibri" pitchFamily="34" charset="-120"/>
              </a:rPr>
              <a:t>Company *</a:t>
            </a:r>
            <a:endParaRPr lang="en-US" sz="750" dirty="0"/>
          </a:p>
        </p:txBody>
      </p:sp>
      <p:sp>
        <p:nvSpPr>
          <p:cNvPr id="28" name="Shape 26"/>
          <p:cNvSpPr/>
          <p:nvPr/>
        </p:nvSpPr>
        <p:spPr>
          <a:xfrm>
            <a:off x="2624328" y="3493008"/>
            <a:ext cx="1554480" cy="274320"/>
          </a:xfrm>
          <a:prstGeom prst="roundRect">
            <a:avLst>
              <a:gd name="adj" fmla="val 26667"/>
            </a:avLst>
          </a:prstGeom>
          <a:solidFill>
            <a:srgbClr val="F3F2FA"/>
          </a:solidFill>
          <a:ln w="9525">
            <a:solidFill>
              <a:srgbClr val="E4E3EF"/>
            </a:solidFill>
            <a:prstDash val="solid"/>
          </a:ln>
        </p:spPr>
      </p:sp>
      <p:sp>
        <p:nvSpPr>
          <p:cNvPr id="29" name="Text 27"/>
          <p:cNvSpPr txBox="1"/>
          <p:nvPr/>
        </p:nvSpPr>
        <p:spPr>
          <a:xfrm>
            <a:off x="2715768" y="3493008"/>
            <a:ext cx="1371600" cy="274320"/>
          </a:xfrm>
          <a:prstGeom prst="rect">
            <a:avLst/>
          </a:prstGeom>
          <a:noFill/>
          <a:ln/>
        </p:spPr>
        <p:txBody>
          <a:bodyPr wrap="square" lIns="0" tIns="0" rIns="0" bIns="0" rtlCol="0" anchor="ctr"/>
          <a:lstStyle/>
          <a:p>
            <a:pPr indent="0" marL="0">
              <a:buNone/>
            </a:pPr>
            <a:r>
              <a:rPr lang="en-US" sz="750" dirty="0">
                <a:solidFill>
                  <a:srgbClr val="8B8BA3"/>
                </a:solidFill>
                <a:latin typeface="Calibri" pitchFamily="34" charset="0"/>
                <a:ea typeface="Calibri" pitchFamily="34" charset="-122"/>
                <a:cs typeface="Calibri" pitchFamily="34" charset="-120"/>
              </a:rPr>
              <a:t>Company name</a:t>
            </a:r>
            <a:endParaRPr lang="en-US" sz="750" dirty="0"/>
          </a:p>
        </p:txBody>
      </p:sp>
      <p:sp>
        <p:nvSpPr>
          <p:cNvPr id="30" name="Text 28"/>
          <p:cNvSpPr txBox="1"/>
          <p:nvPr/>
        </p:nvSpPr>
        <p:spPr>
          <a:xfrm>
            <a:off x="932688" y="3840480"/>
            <a:ext cx="1554480" cy="164592"/>
          </a:xfrm>
          <a:prstGeom prst="rect">
            <a:avLst/>
          </a:prstGeom>
          <a:noFill/>
          <a:ln/>
        </p:spPr>
        <p:txBody>
          <a:bodyPr wrap="square" lIns="0" tIns="0" rIns="0" bIns="0" rtlCol="0" anchor="t"/>
          <a:lstStyle/>
          <a:p>
            <a:pPr indent="0" marL="0">
              <a:buNone/>
            </a:pPr>
            <a:r>
              <a:rPr lang="en-US" sz="750" b="1" dirty="0">
                <a:solidFill>
                  <a:srgbClr val="16161F"/>
                </a:solidFill>
                <a:latin typeface="Calibri" pitchFamily="34" charset="0"/>
                <a:ea typeface="Calibri" pitchFamily="34" charset="-122"/>
                <a:cs typeface="Calibri" pitchFamily="34" charset="-120"/>
              </a:rPr>
              <a:t>Business email *</a:t>
            </a:r>
            <a:endParaRPr lang="en-US" sz="750" dirty="0"/>
          </a:p>
        </p:txBody>
      </p:sp>
      <p:sp>
        <p:nvSpPr>
          <p:cNvPr id="31" name="Shape 29"/>
          <p:cNvSpPr/>
          <p:nvPr/>
        </p:nvSpPr>
        <p:spPr>
          <a:xfrm>
            <a:off x="932688" y="4023360"/>
            <a:ext cx="1554480" cy="274320"/>
          </a:xfrm>
          <a:prstGeom prst="roundRect">
            <a:avLst>
              <a:gd name="adj" fmla="val 26667"/>
            </a:avLst>
          </a:prstGeom>
          <a:solidFill>
            <a:srgbClr val="F3F2FA"/>
          </a:solidFill>
          <a:ln w="9525">
            <a:solidFill>
              <a:srgbClr val="E4E3EF"/>
            </a:solidFill>
            <a:prstDash val="solid"/>
          </a:ln>
        </p:spPr>
      </p:sp>
      <p:sp>
        <p:nvSpPr>
          <p:cNvPr id="32" name="Text 30"/>
          <p:cNvSpPr txBox="1"/>
          <p:nvPr/>
        </p:nvSpPr>
        <p:spPr>
          <a:xfrm>
            <a:off x="1024128" y="4023360"/>
            <a:ext cx="1371600" cy="274320"/>
          </a:xfrm>
          <a:prstGeom prst="rect">
            <a:avLst/>
          </a:prstGeom>
          <a:noFill/>
          <a:ln/>
        </p:spPr>
        <p:txBody>
          <a:bodyPr wrap="square" lIns="0" tIns="0" rIns="0" bIns="0" rtlCol="0" anchor="ctr"/>
          <a:lstStyle/>
          <a:p>
            <a:pPr indent="0" marL="0">
              <a:buNone/>
            </a:pPr>
            <a:r>
              <a:rPr lang="en-US" sz="750" dirty="0">
                <a:solidFill>
                  <a:srgbClr val="8B8BA3"/>
                </a:solidFill>
                <a:latin typeface="Calibri" pitchFamily="34" charset="0"/>
                <a:ea typeface="Calibri" pitchFamily="34" charset="-122"/>
                <a:cs typeface="Calibri" pitchFamily="34" charset="-120"/>
              </a:rPr>
              <a:t>name@company.com</a:t>
            </a:r>
            <a:endParaRPr lang="en-US" sz="750" dirty="0"/>
          </a:p>
        </p:txBody>
      </p:sp>
      <p:sp>
        <p:nvSpPr>
          <p:cNvPr id="33" name="Text 31"/>
          <p:cNvSpPr txBox="1"/>
          <p:nvPr/>
        </p:nvSpPr>
        <p:spPr>
          <a:xfrm>
            <a:off x="2624328" y="3840480"/>
            <a:ext cx="1554480" cy="164592"/>
          </a:xfrm>
          <a:prstGeom prst="rect">
            <a:avLst/>
          </a:prstGeom>
          <a:noFill/>
          <a:ln/>
        </p:spPr>
        <p:txBody>
          <a:bodyPr wrap="square" lIns="0" tIns="0" rIns="0" bIns="0" rtlCol="0" anchor="t"/>
          <a:lstStyle/>
          <a:p>
            <a:pPr indent="0" marL="0">
              <a:buNone/>
            </a:pPr>
            <a:r>
              <a:rPr lang="en-US" sz="750" b="1" dirty="0">
                <a:solidFill>
                  <a:srgbClr val="16161F"/>
                </a:solidFill>
                <a:latin typeface="Calibri" pitchFamily="34" charset="0"/>
                <a:ea typeface="Calibri" pitchFamily="34" charset="-122"/>
                <a:cs typeface="Calibri" pitchFamily="34" charset="-120"/>
              </a:rPr>
              <a:t>Phone</a:t>
            </a:r>
            <a:endParaRPr lang="en-US" sz="750" dirty="0"/>
          </a:p>
        </p:txBody>
      </p:sp>
      <p:sp>
        <p:nvSpPr>
          <p:cNvPr id="34" name="Shape 32"/>
          <p:cNvSpPr/>
          <p:nvPr/>
        </p:nvSpPr>
        <p:spPr>
          <a:xfrm>
            <a:off x="2624328" y="4023360"/>
            <a:ext cx="1554480" cy="274320"/>
          </a:xfrm>
          <a:prstGeom prst="roundRect">
            <a:avLst>
              <a:gd name="adj" fmla="val 26667"/>
            </a:avLst>
          </a:prstGeom>
          <a:solidFill>
            <a:srgbClr val="F3F2FA"/>
          </a:solidFill>
          <a:ln w="9525">
            <a:solidFill>
              <a:srgbClr val="E4E3EF"/>
            </a:solidFill>
            <a:prstDash val="solid"/>
          </a:ln>
        </p:spPr>
      </p:sp>
      <p:sp>
        <p:nvSpPr>
          <p:cNvPr id="35" name="Text 33"/>
          <p:cNvSpPr txBox="1"/>
          <p:nvPr/>
        </p:nvSpPr>
        <p:spPr>
          <a:xfrm>
            <a:off x="2715768" y="4023360"/>
            <a:ext cx="1371600" cy="274320"/>
          </a:xfrm>
          <a:prstGeom prst="rect">
            <a:avLst/>
          </a:prstGeom>
          <a:noFill/>
          <a:ln/>
        </p:spPr>
        <p:txBody>
          <a:bodyPr wrap="square" lIns="0" tIns="0" rIns="0" bIns="0" rtlCol="0" anchor="ctr"/>
          <a:lstStyle/>
          <a:p>
            <a:pPr indent="0" marL="0">
              <a:buNone/>
            </a:pPr>
            <a:r>
              <a:rPr lang="en-US" sz="750" dirty="0">
                <a:solidFill>
                  <a:srgbClr val="8B8BA3"/>
                </a:solidFill>
                <a:latin typeface="Calibri" pitchFamily="34" charset="0"/>
                <a:ea typeface="Calibri" pitchFamily="34" charset="-122"/>
                <a:cs typeface="Calibri" pitchFamily="34" charset="-120"/>
              </a:rPr>
              <a:t>+ country code</a:t>
            </a:r>
            <a:endParaRPr lang="en-US" sz="750" dirty="0"/>
          </a:p>
        </p:txBody>
      </p:sp>
      <p:sp>
        <p:nvSpPr>
          <p:cNvPr id="36" name="Text 34"/>
          <p:cNvSpPr txBox="1"/>
          <p:nvPr/>
        </p:nvSpPr>
        <p:spPr>
          <a:xfrm>
            <a:off x="932688" y="4370832"/>
            <a:ext cx="3246120" cy="164592"/>
          </a:xfrm>
          <a:prstGeom prst="rect">
            <a:avLst/>
          </a:prstGeom>
          <a:noFill/>
          <a:ln/>
        </p:spPr>
        <p:txBody>
          <a:bodyPr wrap="square" lIns="0" tIns="0" rIns="0" bIns="0" rtlCol="0" anchor="t"/>
          <a:lstStyle/>
          <a:p>
            <a:pPr indent="0" marL="0">
              <a:buNone/>
            </a:pPr>
            <a:r>
              <a:rPr lang="en-US" sz="750" b="1" dirty="0">
                <a:solidFill>
                  <a:srgbClr val="16161F"/>
                </a:solidFill>
                <a:latin typeface="Calibri" pitchFamily="34" charset="0"/>
                <a:ea typeface="Calibri" pitchFamily="34" charset="-122"/>
                <a:cs typeface="Calibri" pitchFamily="34" charset="-120"/>
              </a:rPr>
              <a:t>Message *</a:t>
            </a:r>
            <a:endParaRPr lang="en-US" sz="750" dirty="0"/>
          </a:p>
        </p:txBody>
      </p:sp>
      <p:sp>
        <p:nvSpPr>
          <p:cNvPr id="37" name="Shape 35"/>
          <p:cNvSpPr/>
          <p:nvPr/>
        </p:nvSpPr>
        <p:spPr>
          <a:xfrm>
            <a:off x="932688" y="4553712"/>
            <a:ext cx="3246120" cy="640080"/>
          </a:xfrm>
          <a:prstGeom prst="roundRect">
            <a:avLst>
              <a:gd name="adj" fmla="val 11429"/>
            </a:avLst>
          </a:prstGeom>
          <a:solidFill>
            <a:srgbClr val="F3F2FA"/>
          </a:solidFill>
          <a:ln w="9525">
            <a:solidFill>
              <a:srgbClr val="E4E3EF"/>
            </a:solidFill>
            <a:prstDash val="solid"/>
          </a:ln>
        </p:spPr>
      </p:sp>
      <p:sp>
        <p:nvSpPr>
          <p:cNvPr id="38" name="Text 36"/>
          <p:cNvSpPr txBox="1"/>
          <p:nvPr/>
        </p:nvSpPr>
        <p:spPr>
          <a:xfrm>
            <a:off x="1024128" y="4553712"/>
            <a:ext cx="3063240" cy="274320"/>
          </a:xfrm>
          <a:prstGeom prst="rect">
            <a:avLst/>
          </a:prstGeom>
          <a:noFill/>
          <a:ln/>
        </p:spPr>
        <p:txBody>
          <a:bodyPr wrap="square" lIns="0" tIns="0" rIns="0" bIns="0" rtlCol="0" anchor="ctr"/>
          <a:lstStyle/>
          <a:p>
            <a:pPr indent="0" marL="0">
              <a:buNone/>
            </a:pPr>
            <a:r>
              <a:rPr lang="en-US" sz="750" dirty="0">
                <a:solidFill>
                  <a:srgbClr val="8B8BA3"/>
                </a:solidFill>
                <a:latin typeface="Calibri" pitchFamily="34" charset="0"/>
                <a:ea typeface="Calibri" pitchFamily="34" charset="-122"/>
                <a:cs typeface="Calibri" pitchFamily="34" charset="-120"/>
              </a:rPr>
              <a:t>Tell us about your destinations and traffic requirements</a:t>
            </a:r>
            <a:endParaRPr lang="en-US" sz="750" dirty="0"/>
          </a:p>
        </p:txBody>
      </p:sp>
      <p:sp>
        <p:nvSpPr>
          <p:cNvPr id="39" name="Shape 37"/>
          <p:cNvSpPr/>
          <p:nvPr/>
        </p:nvSpPr>
        <p:spPr>
          <a:xfrm>
            <a:off x="932688" y="5257800"/>
            <a:ext cx="118872" cy="118872"/>
          </a:xfrm>
          <a:prstGeom prst="roundRect">
            <a:avLst>
              <a:gd name="adj" fmla="val 15385"/>
            </a:avLst>
          </a:prstGeom>
          <a:solidFill>
            <a:srgbClr val="FFFFFF"/>
          </a:solidFill>
          <a:ln w="9525">
            <a:solidFill>
              <a:srgbClr val="5F6075"/>
            </a:solidFill>
            <a:prstDash val="solid"/>
          </a:ln>
        </p:spPr>
      </p:sp>
      <p:sp>
        <p:nvSpPr>
          <p:cNvPr id="40" name="Text 38"/>
          <p:cNvSpPr txBox="1"/>
          <p:nvPr/>
        </p:nvSpPr>
        <p:spPr>
          <a:xfrm>
            <a:off x="1115568" y="5230368"/>
            <a:ext cx="2286000" cy="182880"/>
          </a:xfrm>
          <a:prstGeom prst="rect">
            <a:avLst/>
          </a:prstGeom>
          <a:noFill/>
          <a:ln/>
        </p:spPr>
        <p:txBody>
          <a:bodyPr wrap="square" lIns="0" tIns="0" rIns="0" bIns="0" rtlCol="0" anchor="t"/>
          <a:lstStyle/>
          <a:p>
            <a:pPr indent="0" marL="0">
              <a:buNone/>
            </a:pPr>
            <a:r>
              <a:rPr lang="en-US" sz="700" dirty="0">
                <a:solidFill>
                  <a:srgbClr val="5F6075"/>
                </a:solidFill>
                <a:latin typeface="Calibri" pitchFamily="34" charset="0"/>
                <a:ea typeface="Calibri" pitchFamily="34" charset="-122"/>
                <a:cs typeface="Calibri" pitchFamily="34" charset="-120"/>
              </a:rPr>
              <a:t>I agree to the Privacy Policy</a:t>
            </a:r>
            <a:endParaRPr lang="en-US" sz="700" dirty="0"/>
          </a:p>
        </p:txBody>
      </p:sp>
      <p:sp>
        <p:nvSpPr>
          <p:cNvPr id="41" name="Shape 39"/>
          <p:cNvSpPr/>
          <p:nvPr/>
        </p:nvSpPr>
        <p:spPr>
          <a:xfrm>
            <a:off x="932688" y="5577840"/>
            <a:ext cx="964143" cy="256032"/>
          </a:xfrm>
          <a:prstGeom prst="roundRect">
            <a:avLst>
              <a:gd name="adj" fmla="val 50000"/>
            </a:avLst>
          </a:prstGeom>
          <a:solidFill>
            <a:srgbClr val="7B6CF6"/>
          </a:solidFill>
          <a:ln/>
        </p:spPr>
      </p:sp>
      <p:sp>
        <p:nvSpPr>
          <p:cNvPr id="42" name="Text 40"/>
          <p:cNvSpPr txBox="1"/>
          <p:nvPr/>
        </p:nvSpPr>
        <p:spPr>
          <a:xfrm>
            <a:off x="932688" y="5577840"/>
            <a:ext cx="964143"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Send Enquiry</a:t>
            </a:r>
            <a:endParaRPr lang="en-US" sz="850" dirty="0"/>
          </a:p>
        </p:txBody>
      </p:sp>
      <p:sp>
        <p:nvSpPr>
          <p:cNvPr id="43" name="Text 41"/>
          <p:cNvSpPr txBox="1"/>
          <p:nvPr/>
        </p:nvSpPr>
        <p:spPr>
          <a:xfrm>
            <a:off x="1878543" y="5532120"/>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4" name="Text 42"/>
          <p:cNvSpPr txBox="1"/>
          <p:nvPr/>
        </p:nvSpPr>
        <p:spPr>
          <a:xfrm>
            <a:off x="2167128" y="5623560"/>
            <a:ext cx="2103120" cy="182880"/>
          </a:xfrm>
          <a:prstGeom prst="rect">
            <a:avLst/>
          </a:prstGeom>
          <a:noFill/>
          <a:ln/>
        </p:spPr>
        <p:txBody>
          <a:bodyPr wrap="square" lIns="0" tIns="0" rIns="0" bIns="0" rtlCol="0" anchor="t"/>
          <a:lstStyle/>
          <a:p>
            <a:pPr indent="0" marL="0">
              <a:buNone/>
            </a:pPr>
            <a:r>
              <a:rPr lang="en-US" sz="650" i="1" dirty="0">
                <a:solidFill>
                  <a:srgbClr val="7B6CF6"/>
                </a:solidFill>
                <a:latin typeface="Calibri" pitchFamily="34" charset="0"/>
                <a:ea typeface="Calibri" pitchFamily="34" charset="-122"/>
                <a:cs typeface="Calibri" pitchFamily="34" charset="-120"/>
              </a:rPr>
              <a:t>✱ Field labels, placeholders and toggle are proposed</a:t>
            </a:r>
            <a:endParaRPr lang="en-US" sz="650" dirty="0"/>
          </a:p>
        </p:txBody>
      </p:sp>
      <p:sp>
        <p:nvSpPr>
          <p:cNvPr id="45" name="Shape 43"/>
          <p:cNvSpPr/>
          <p:nvPr/>
        </p:nvSpPr>
        <p:spPr>
          <a:xfrm>
            <a:off x="4498848" y="2743200"/>
            <a:ext cx="2386584" cy="3337560"/>
          </a:xfrm>
          <a:prstGeom prst="roundRect">
            <a:avLst>
              <a:gd name="adj" fmla="val 6130"/>
            </a:avLst>
          </a:prstGeom>
          <a:solidFill>
            <a:srgbClr val="1B1B28"/>
          </a:solidFill>
          <a:ln/>
        </p:spPr>
      </p:sp>
      <p:sp>
        <p:nvSpPr>
          <p:cNvPr id="46" name="Text 44"/>
          <p:cNvSpPr txBox="1"/>
          <p:nvPr/>
        </p:nvSpPr>
        <p:spPr>
          <a:xfrm>
            <a:off x="4681728" y="2907792"/>
            <a:ext cx="182880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Get in Touch</a:t>
            </a:r>
            <a:endParaRPr lang="en-US" sz="1100" dirty="0"/>
          </a:p>
        </p:txBody>
      </p:sp>
      <p:sp>
        <p:nvSpPr>
          <p:cNvPr id="47" name="Text 45"/>
          <p:cNvSpPr txBox="1"/>
          <p:nvPr/>
        </p:nvSpPr>
        <p:spPr>
          <a:xfrm>
            <a:off x="5550408" y="2862072"/>
            <a:ext cx="137160" cy="137160"/>
          </a:xfrm>
          <a:prstGeom prst="rect">
            <a:avLst/>
          </a:prstGeom>
          <a:noFill/>
          <a:ln/>
        </p:spPr>
        <p:txBody>
          <a:bodyPr wrap="square" lIns="0" tIns="0" rIns="0" bIns="0" rtlCol="0" anchor="t"/>
          <a:lstStyle/>
          <a:p>
            <a:pPr indent="0" marL="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pic>
        <p:nvPicPr>
          <p:cNvPr id="48" name="Image 0" descr="preencoded.png">    </p:cNvPr>
          <p:cNvPicPr>
            <a:picLocks noChangeAspect="1"/>
          </p:cNvPicPr>
          <p:nvPr/>
        </p:nvPicPr>
        <p:blipFill>
          <a:blip r:embed="rId1"/>
          <a:stretch>
            <a:fillRect/>
          </a:stretch>
        </p:blipFill>
        <p:spPr>
          <a:xfrm>
            <a:off x="4681728" y="3319272"/>
            <a:ext cx="155448" cy="155448"/>
          </a:xfrm>
          <a:prstGeom prst="rect">
            <a:avLst/>
          </a:prstGeom>
        </p:spPr>
      </p:pic>
      <p:sp>
        <p:nvSpPr>
          <p:cNvPr id="49" name="Text 46"/>
          <p:cNvSpPr txBox="1"/>
          <p:nvPr/>
        </p:nvSpPr>
        <p:spPr>
          <a:xfrm>
            <a:off x="4937760" y="3291840"/>
            <a:ext cx="1371600" cy="146304"/>
          </a:xfrm>
          <a:prstGeom prst="rect">
            <a:avLst/>
          </a:prstGeom>
          <a:noFill/>
          <a:ln/>
        </p:spPr>
        <p:txBody>
          <a:bodyPr wrap="square" lIns="0" tIns="0" rIns="0" bIns="0" rtlCol="0" anchor="t"/>
          <a:lstStyle/>
          <a:p>
            <a:pPr indent="0" marL="0">
              <a:buNone/>
            </a:pPr>
            <a:r>
              <a:rPr lang="en-US" sz="650" spc="100" kern="0" dirty="0">
                <a:solidFill>
                  <a:srgbClr val="8B8BA3"/>
                </a:solidFill>
                <a:latin typeface="Calibri" pitchFamily="34" charset="0"/>
                <a:ea typeface="Calibri" pitchFamily="34" charset="-122"/>
                <a:cs typeface="Calibri" pitchFamily="34" charset="-120"/>
              </a:rPr>
              <a:t>EMAIL</a:t>
            </a:r>
            <a:endParaRPr lang="en-US" sz="650" dirty="0"/>
          </a:p>
        </p:txBody>
      </p:sp>
      <p:sp>
        <p:nvSpPr>
          <p:cNvPr id="50" name="Text 47"/>
          <p:cNvSpPr txBox="1"/>
          <p:nvPr/>
        </p:nvSpPr>
        <p:spPr>
          <a:xfrm>
            <a:off x="4937760" y="3438144"/>
            <a:ext cx="1837944" cy="201168"/>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info@omaginfo.com</a:t>
            </a:r>
            <a:endParaRPr lang="en-US" sz="800" dirty="0"/>
          </a:p>
        </p:txBody>
      </p:sp>
      <p:pic>
        <p:nvPicPr>
          <p:cNvPr id="51" name="Image 1" descr="preencoded.png">    </p:cNvPr>
          <p:cNvPicPr>
            <a:picLocks noChangeAspect="1"/>
          </p:cNvPicPr>
          <p:nvPr/>
        </p:nvPicPr>
        <p:blipFill>
          <a:blip r:embed="rId2"/>
          <a:stretch>
            <a:fillRect/>
          </a:stretch>
        </p:blipFill>
        <p:spPr>
          <a:xfrm>
            <a:off x="4681728" y="3886200"/>
            <a:ext cx="155448" cy="155448"/>
          </a:xfrm>
          <a:prstGeom prst="rect">
            <a:avLst/>
          </a:prstGeom>
        </p:spPr>
      </p:pic>
      <p:sp>
        <p:nvSpPr>
          <p:cNvPr id="52" name="Text 48"/>
          <p:cNvSpPr txBox="1"/>
          <p:nvPr/>
        </p:nvSpPr>
        <p:spPr>
          <a:xfrm>
            <a:off x="4937760" y="3858768"/>
            <a:ext cx="1371600" cy="146304"/>
          </a:xfrm>
          <a:prstGeom prst="rect">
            <a:avLst/>
          </a:prstGeom>
          <a:noFill/>
          <a:ln/>
        </p:spPr>
        <p:txBody>
          <a:bodyPr wrap="square" lIns="0" tIns="0" rIns="0" bIns="0" rtlCol="0" anchor="t"/>
          <a:lstStyle/>
          <a:p>
            <a:pPr indent="0" marL="0">
              <a:buNone/>
            </a:pPr>
            <a:r>
              <a:rPr lang="en-US" sz="650" spc="100" kern="0" dirty="0">
                <a:solidFill>
                  <a:srgbClr val="8B8BA3"/>
                </a:solidFill>
                <a:latin typeface="Calibri" pitchFamily="34" charset="0"/>
                <a:ea typeface="Calibri" pitchFamily="34" charset="-122"/>
                <a:cs typeface="Calibri" pitchFamily="34" charset="-120"/>
              </a:rPr>
              <a:t>PHONE</a:t>
            </a:r>
            <a:endParaRPr lang="en-US" sz="650" dirty="0"/>
          </a:p>
        </p:txBody>
      </p:sp>
      <p:sp>
        <p:nvSpPr>
          <p:cNvPr id="53" name="Text 49"/>
          <p:cNvSpPr txBox="1"/>
          <p:nvPr/>
        </p:nvSpPr>
        <p:spPr>
          <a:xfrm>
            <a:off x="4937760" y="4005072"/>
            <a:ext cx="1837944" cy="201168"/>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+1 (725) 465-8316</a:t>
            </a:r>
            <a:endParaRPr lang="en-US" sz="800" dirty="0"/>
          </a:p>
        </p:txBody>
      </p:sp>
      <p:pic>
        <p:nvPicPr>
          <p:cNvPr id="54" name="Image 2" descr="preencoded.png">    </p:cNvPr>
          <p:cNvPicPr>
            <a:picLocks noChangeAspect="1"/>
          </p:cNvPicPr>
          <p:nvPr/>
        </p:nvPicPr>
        <p:blipFill>
          <a:blip r:embed="rId3"/>
          <a:stretch>
            <a:fillRect/>
          </a:stretch>
        </p:blipFill>
        <p:spPr>
          <a:xfrm>
            <a:off x="4681728" y="4453128"/>
            <a:ext cx="155448" cy="155448"/>
          </a:xfrm>
          <a:prstGeom prst="rect">
            <a:avLst/>
          </a:prstGeom>
        </p:spPr>
      </p:pic>
      <p:sp>
        <p:nvSpPr>
          <p:cNvPr id="55" name="Text 50"/>
          <p:cNvSpPr txBox="1"/>
          <p:nvPr/>
        </p:nvSpPr>
        <p:spPr>
          <a:xfrm>
            <a:off x="4937760" y="4425696"/>
            <a:ext cx="1371600" cy="146304"/>
          </a:xfrm>
          <a:prstGeom prst="rect">
            <a:avLst/>
          </a:prstGeom>
          <a:noFill/>
          <a:ln/>
        </p:spPr>
        <p:txBody>
          <a:bodyPr wrap="square" lIns="0" tIns="0" rIns="0" bIns="0" rtlCol="0" anchor="t"/>
          <a:lstStyle/>
          <a:p>
            <a:pPr indent="0" marL="0">
              <a:buNone/>
            </a:pPr>
            <a:r>
              <a:rPr lang="en-US" sz="650" spc="100" kern="0" dirty="0">
                <a:solidFill>
                  <a:srgbClr val="8B8BA3"/>
                </a:solidFill>
                <a:latin typeface="Calibri" pitchFamily="34" charset="0"/>
                <a:ea typeface="Calibri" pitchFamily="34" charset="-122"/>
                <a:cs typeface="Calibri" pitchFamily="34" charset="-120"/>
              </a:rPr>
              <a:t>OFFICE</a:t>
            </a:r>
            <a:endParaRPr lang="en-US" sz="650" dirty="0"/>
          </a:p>
        </p:txBody>
      </p:sp>
      <p:sp>
        <p:nvSpPr>
          <p:cNvPr id="56" name="Text 51"/>
          <p:cNvSpPr txBox="1"/>
          <p:nvPr/>
        </p:nvSpPr>
        <p:spPr>
          <a:xfrm>
            <a:off x="4937760" y="4572000"/>
            <a:ext cx="1837944" cy="411480"/>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1309 Coffeen Avenue, STE 1200, Sheridan, Wyoming, USA 8280</a:t>
            </a:r>
            <a:endParaRPr lang="en-US" sz="800" dirty="0"/>
          </a:p>
        </p:txBody>
      </p:sp>
      <p:pic>
        <p:nvPicPr>
          <p:cNvPr id="57" name="Image 3" descr="preencoded.png">    </p:cNvPr>
          <p:cNvPicPr>
            <a:picLocks noChangeAspect="1"/>
          </p:cNvPicPr>
          <p:nvPr/>
        </p:nvPicPr>
        <p:blipFill>
          <a:blip r:embed="rId4"/>
          <a:stretch>
            <a:fillRect/>
          </a:stretch>
        </p:blipFill>
        <p:spPr>
          <a:xfrm>
            <a:off x="4681728" y="5020056"/>
            <a:ext cx="155448" cy="155448"/>
          </a:xfrm>
          <a:prstGeom prst="rect">
            <a:avLst/>
          </a:prstGeom>
        </p:spPr>
      </p:pic>
      <p:sp>
        <p:nvSpPr>
          <p:cNvPr id="58" name="Text 52"/>
          <p:cNvSpPr txBox="1"/>
          <p:nvPr/>
        </p:nvSpPr>
        <p:spPr>
          <a:xfrm>
            <a:off x="4937760" y="4992624"/>
            <a:ext cx="1371600" cy="146304"/>
          </a:xfrm>
          <a:prstGeom prst="rect">
            <a:avLst/>
          </a:prstGeom>
          <a:noFill/>
          <a:ln/>
        </p:spPr>
        <p:txBody>
          <a:bodyPr wrap="square" lIns="0" tIns="0" rIns="0" bIns="0" rtlCol="0" anchor="t"/>
          <a:lstStyle/>
          <a:p>
            <a:pPr indent="0" marL="0">
              <a:buNone/>
            </a:pPr>
            <a:r>
              <a:rPr lang="en-US" sz="650" spc="100" kern="0" dirty="0">
                <a:solidFill>
                  <a:srgbClr val="8B8BA3"/>
                </a:solidFill>
                <a:latin typeface="Calibri" pitchFamily="34" charset="0"/>
                <a:ea typeface="Calibri" pitchFamily="34" charset="-122"/>
                <a:cs typeface="Calibri" pitchFamily="34" charset="-120"/>
              </a:rPr>
              <a:t>LINKEDIN</a:t>
            </a:r>
            <a:endParaRPr lang="en-US" sz="650" dirty="0"/>
          </a:p>
        </p:txBody>
      </p:sp>
      <p:sp>
        <p:nvSpPr>
          <p:cNvPr id="59" name="Text 53"/>
          <p:cNvSpPr txBox="1"/>
          <p:nvPr/>
        </p:nvSpPr>
        <p:spPr>
          <a:xfrm>
            <a:off x="4937760" y="5138928"/>
            <a:ext cx="1837944" cy="201168"/>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Omaginfo LLC</a:t>
            </a:r>
            <a:endParaRPr lang="en-US" sz="800" dirty="0"/>
          </a:p>
        </p:txBody>
      </p:sp>
      <p:sp>
        <p:nvSpPr>
          <p:cNvPr id="60" name="Shape 54"/>
          <p:cNvSpPr/>
          <p:nvPr/>
        </p:nvSpPr>
        <p:spPr>
          <a:xfrm>
            <a:off x="5687568" y="4407408"/>
            <a:ext cx="537210" cy="182880"/>
          </a:xfrm>
          <a:prstGeom prst="roundRect">
            <a:avLst>
              <a:gd name="adj" fmla="val 50000"/>
            </a:avLst>
          </a:prstGeom>
          <a:solidFill>
            <a:srgbClr val="FDE9D3"/>
          </a:solidFill>
          <a:ln/>
        </p:spPr>
      </p:sp>
      <p:sp>
        <p:nvSpPr>
          <p:cNvPr id="61" name="Text 55"/>
          <p:cNvSpPr txBox="1"/>
          <p:nvPr/>
        </p:nvSpPr>
        <p:spPr>
          <a:xfrm>
            <a:off x="5687568" y="4407408"/>
            <a:ext cx="537210"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62" name="Shape 56"/>
          <p:cNvSpPr/>
          <p:nvPr/>
        </p:nvSpPr>
        <p:spPr>
          <a:xfrm>
            <a:off x="4681728" y="5532120"/>
            <a:ext cx="2020824" cy="384048"/>
          </a:xfrm>
          <a:prstGeom prst="roundRect">
            <a:avLst>
              <a:gd name="adj" fmla="val 19048"/>
            </a:avLst>
          </a:prstGeom>
          <a:solidFill>
            <a:srgbClr val="2A2A3C"/>
          </a:solidFill>
          <a:ln/>
        </p:spPr>
      </p:sp>
      <p:sp>
        <p:nvSpPr>
          <p:cNvPr id="63" name="Text 57"/>
          <p:cNvSpPr txBox="1"/>
          <p:nvPr/>
        </p:nvSpPr>
        <p:spPr>
          <a:xfrm>
            <a:off x="4773168" y="5532120"/>
            <a:ext cx="1463040" cy="384048"/>
          </a:xfrm>
          <a:prstGeom prst="rect">
            <a:avLst/>
          </a:prstGeom>
          <a:noFill/>
          <a:ln/>
        </p:spPr>
        <p:txBody>
          <a:bodyPr wrap="square" lIns="0" tIns="0" rIns="0" bIns="0" rtlCol="0" anchor="ctr"/>
          <a:lstStyle/>
          <a:p>
            <a:pPr indent="0" marL="0">
              <a:buNone/>
            </a:pPr>
            <a:r>
              <a:rPr lang="en-US" sz="700" dirty="0">
                <a:solidFill>
                  <a:srgbClr val="C9C9DA"/>
                </a:solidFill>
                <a:latin typeface="Calibri" pitchFamily="34" charset="0"/>
                <a:ea typeface="Calibri" pitchFamily="34" charset="-122"/>
                <a:cs typeface="Calibri" pitchFamily="34" charset="-120"/>
              </a:rPr>
              <a:t>Business hours / time zone</a:t>
            </a:r>
            <a:endParaRPr lang="en-US" sz="700" dirty="0"/>
          </a:p>
        </p:txBody>
      </p:sp>
      <p:sp>
        <p:nvSpPr>
          <p:cNvPr id="64" name="Shape 58"/>
          <p:cNvSpPr/>
          <p:nvPr/>
        </p:nvSpPr>
        <p:spPr>
          <a:xfrm>
            <a:off x="6291072" y="5632704"/>
            <a:ext cx="345186" cy="182880"/>
          </a:xfrm>
          <a:prstGeom prst="roundRect">
            <a:avLst>
              <a:gd name="adj" fmla="val 50000"/>
            </a:avLst>
          </a:prstGeom>
          <a:solidFill>
            <a:srgbClr val="FDE9D3"/>
          </a:solidFill>
          <a:ln/>
        </p:spPr>
      </p:sp>
      <p:sp>
        <p:nvSpPr>
          <p:cNvPr id="65" name="Text 59"/>
          <p:cNvSpPr txBox="1"/>
          <p:nvPr/>
        </p:nvSpPr>
        <p:spPr>
          <a:xfrm>
            <a:off x="6291072" y="5632704"/>
            <a:ext cx="345186" cy="182880"/>
          </a:xfrm>
          <a:prstGeom prst="rect">
            <a:avLst/>
          </a:prstGeom>
          <a:noFill/>
          <a:ln/>
        </p:spPr>
        <p:txBody>
          <a:bodyPr wrap="square" lIns="0" tIns="0" rIns="0" bIns="0" rtlCol="0" anchor="ctr"/>
          <a:lstStyle/>
          <a:p>
            <a:pPr algn="ctr" indent="0" marL="0">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66" name="Text 60"/>
          <p:cNvSpPr txBox="1"/>
          <p:nvPr/>
        </p:nvSpPr>
        <p:spPr>
          <a:xfrm>
            <a:off x="7360920" y="1325880"/>
            <a:ext cx="2743200" cy="182880"/>
          </a:xfrm>
          <a:prstGeom prst="rect">
            <a:avLst/>
          </a:prstGeom>
          <a:noFill/>
          <a:ln/>
        </p:spPr>
        <p:txBody>
          <a:bodyPr wrap="square" lIns="0" tIns="0" rIns="0" bIns="0" rtlCol="0" anchor="t"/>
          <a:lstStyle/>
          <a:p>
            <a:pPr indent="0" marL="0">
              <a:buNone/>
            </a:pPr>
            <a:r>
              <a:rPr lang="en-US" sz="800" b="1" spc="150" kern="0" dirty="0">
                <a:solidFill>
                  <a:srgbClr val="8B8BA3"/>
                </a:solidFill>
                <a:latin typeface="Calibri" pitchFamily="34" charset="0"/>
                <a:ea typeface="Calibri" pitchFamily="34" charset="-122"/>
                <a:cs typeface="Calibri" pitchFamily="34" charset="-120"/>
              </a:rPr>
              <a:t>SAMPLE REFERENCE</a:t>
            </a:r>
            <a:endParaRPr lang="en-US" sz="800" dirty="0"/>
          </a:p>
        </p:txBody>
      </p:sp>
      <p:sp>
        <p:nvSpPr>
          <p:cNvPr id="67" name="Shape 61"/>
          <p:cNvSpPr/>
          <p:nvPr/>
        </p:nvSpPr>
        <p:spPr>
          <a:xfrm>
            <a:off x="7360920" y="1545336"/>
            <a:ext cx="4297680" cy="914400"/>
          </a:xfrm>
          <a:prstGeom prst="roundRect">
            <a:avLst>
              <a:gd name="adj" fmla="val 8000"/>
            </a:avLst>
          </a:prstGeom>
          <a:solidFill>
            <a:srgbClr val="F3F2FA"/>
          </a:solidFill>
          <a:ln w="9525">
            <a:solidFill>
              <a:srgbClr val="E4E3EF"/>
            </a:solidFill>
            <a:prstDash val="solid"/>
          </a:ln>
        </p:spPr>
      </p:sp>
      <p:pic>
        <p:nvPicPr>
          <p:cNvPr id="68" name="Image 4" descr="preencoded.png">    </p:cNvPr>
          <p:cNvPicPr>
            <a:picLocks noChangeAspect="1"/>
          </p:cNvPicPr>
          <p:nvPr/>
        </p:nvPicPr>
        <p:blipFill>
          <a:blip r:embed="rId5"/>
          <a:stretch>
            <a:fillRect/>
          </a:stretch>
        </p:blipFill>
        <p:spPr>
          <a:xfrm>
            <a:off x="8847577" y="1591056"/>
            <a:ext cx="1324366" cy="822960"/>
          </a:xfrm>
          <a:prstGeom prst="rect">
            <a:avLst/>
          </a:prstGeom>
        </p:spPr>
      </p:pic>
      <p:sp>
        <p:nvSpPr>
          <p:cNvPr id="69" name="Shape 62"/>
          <p:cNvSpPr/>
          <p:nvPr/>
        </p:nvSpPr>
        <p:spPr>
          <a:xfrm>
            <a:off x="7360920" y="2587752"/>
            <a:ext cx="274320" cy="274320"/>
          </a:xfrm>
          <a:prstGeom prst="ellipse">
            <a:avLst/>
          </a:prstGeom>
          <a:solidFill>
            <a:srgbClr val="ECEBFF"/>
          </a:solidFill>
          <a:ln/>
        </p:spPr>
      </p:sp>
      <p:pic>
        <p:nvPicPr>
          <p:cNvPr id="70" name="Image 5" descr="preencoded.png">    </p:cNvPr>
          <p:cNvPicPr>
            <a:picLocks noChangeAspect="1"/>
          </p:cNvPicPr>
          <p:nvPr/>
        </p:nvPicPr>
        <p:blipFill>
          <a:blip r:embed="rId6"/>
          <a:stretch>
            <a:fillRect/>
          </a:stretch>
        </p:blipFill>
        <p:spPr>
          <a:xfrm>
            <a:off x="7429500" y="2656332"/>
            <a:ext cx="137160" cy="137160"/>
          </a:xfrm>
          <a:prstGeom prst="rect">
            <a:avLst/>
          </a:prstGeom>
        </p:spPr>
      </p:pic>
      <p:sp>
        <p:nvSpPr>
          <p:cNvPr id="71" name="Text 63"/>
          <p:cNvSpPr txBox="1"/>
          <p:nvPr/>
        </p:nvSpPr>
        <p:spPr>
          <a:xfrm>
            <a:off x="7726680" y="260604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72" name="Text 64"/>
          <p:cNvSpPr txBox="1"/>
          <p:nvPr/>
        </p:nvSpPr>
        <p:spPr>
          <a:xfrm>
            <a:off x="7726680" y="2880360"/>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form card (1.5) + dark info card (1)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form first, info card below; fields one per row</a:t>
            </a:r>
            <a:endParaRPr lang="en-US" sz="1100" dirty="0"/>
          </a:p>
        </p:txBody>
      </p:sp>
      <p:sp>
        <p:nvSpPr>
          <p:cNvPr id="73" name="Shape 65"/>
          <p:cNvSpPr/>
          <p:nvPr/>
        </p:nvSpPr>
        <p:spPr>
          <a:xfrm>
            <a:off x="7360920" y="3364992"/>
            <a:ext cx="274320" cy="274320"/>
          </a:xfrm>
          <a:prstGeom prst="ellipse">
            <a:avLst/>
          </a:prstGeom>
          <a:solidFill>
            <a:srgbClr val="ECEBFF"/>
          </a:solidFill>
          <a:ln/>
        </p:spPr>
      </p:sp>
      <p:pic>
        <p:nvPicPr>
          <p:cNvPr id="74" name="Image 6" descr="preencoded.png">    </p:cNvPr>
          <p:cNvPicPr>
            <a:picLocks noChangeAspect="1"/>
          </p:cNvPicPr>
          <p:nvPr/>
        </p:nvPicPr>
        <p:blipFill>
          <a:blip r:embed="rId7"/>
          <a:stretch>
            <a:fillRect/>
          </a:stretch>
        </p:blipFill>
        <p:spPr>
          <a:xfrm>
            <a:off x="7429500" y="3433572"/>
            <a:ext cx="137160" cy="137160"/>
          </a:xfrm>
          <a:prstGeom prst="rect">
            <a:avLst/>
          </a:prstGeom>
        </p:spPr>
      </p:pic>
      <p:sp>
        <p:nvSpPr>
          <p:cNvPr id="75" name="Text 66"/>
          <p:cNvSpPr txBox="1"/>
          <p:nvPr/>
        </p:nvSpPr>
        <p:spPr>
          <a:xfrm>
            <a:off x="7726680" y="3383280"/>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76" name="Text 67"/>
          <p:cNvSpPr txBox="1"/>
          <p:nvPr/>
        </p:nvSpPr>
        <p:spPr>
          <a:xfrm>
            <a:off x="7726680" y="3657600"/>
            <a:ext cx="3931920" cy="882396"/>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adapted from document text ('Connect with Omaginfo LLC…')</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phone, address and LinkedIn exactly as supplied (items 8–11)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status panel, hours and 1800 number removed</a:t>
            </a:r>
            <a:endParaRPr lang="en-US" sz="1100" dirty="0"/>
          </a:p>
        </p:txBody>
      </p:sp>
      <p:sp>
        <p:nvSpPr>
          <p:cNvPr id="77" name="Shape 68"/>
          <p:cNvSpPr/>
          <p:nvPr/>
        </p:nvSpPr>
        <p:spPr>
          <a:xfrm>
            <a:off x="7360920" y="4649724"/>
            <a:ext cx="274320" cy="274320"/>
          </a:xfrm>
          <a:prstGeom prst="ellipse">
            <a:avLst/>
          </a:prstGeom>
          <a:solidFill>
            <a:srgbClr val="ECEBFF"/>
          </a:solidFill>
          <a:ln/>
        </p:spPr>
      </p:sp>
      <p:pic>
        <p:nvPicPr>
          <p:cNvPr id="78" name="Image 7" descr="preencoded.png">    </p:cNvPr>
          <p:cNvPicPr>
            <a:picLocks noChangeAspect="1"/>
          </p:cNvPicPr>
          <p:nvPr/>
        </p:nvPicPr>
        <p:blipFill>
          <a:blip r:embed="rId8"/>
          <a:stretch>
            <a:fillRect/>
          </a:stretch>
        </p:blipFill>
        <p:spPr>
          <a:xfrm>
            <a:off x="7429500" y="4718304"/>
            <a:ext cx="137160" cy="137160"/>
          </a:xfrm>
          <a:prstGeom prst="rect">
            <a:avLst/>
          </a:prstGeom>
        </p:spPr>
      </p:pic>
      <p:sp>
        <p:nvSpPr>
          <p:cNvPr id="79" name="Text 69"/>
          <p:cNvSpPr txBox="1"/>
          <p:nvPr/>
        </p:nvSpPr>
        <p:spPr>
          <a:xfrm>
            <a:off x="7726680" y="466801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80" name="Text 70"/>
          <p:cNvSpPr txBox="1"/>
          <p:nvPr/>
        </p:nvSpPr>
        <p:spPr>
          <a:xfrm>
            <a:off x="7726680" y="4942332"/>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Line icons for each contact item</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Optional map embed of the office address (client to approve)</a:t>
            </a:r>
            <a:endParaRPr lang="en-US" sz="1100" dirty="0"/>
          </a:p>
        </p:txBody>
      </p:sp>
      <p:sp>
        <p:nvSpPr>
          <p:cNvPr id="81" name="Shape 71"/>
          <p:cNvSpPr/>
          <p:nvPr/>
        </p:nvSpPr>
        <p:spPr>
          <a:xfrm>
            <a:off x="7360920" y="5426964"/>
            <a:ext cx="274320" cy="274320"/>
          </a:xfrm>
          <a:prstGeom prst="ellipse">
            <a:avLst/>
          </a:prstGeom>
          <a:solidFill>
            <a:srgbClr val="ECEBFF"/>
          </a:solidFill>
          <a:ln/>
        </p:spPr>
      </p:sp>
      <p:pic>
        <p:nvPicPr>
          <p:cNvPr id="82" name="Image 8" descr="preencoded.png">    </p:cNvPr>
          <p:cNvPicPr>
            <a:picLocks noChangeAspect="1"/>
          </p:cNvPicPr>
          <p:nvPr/>
        </p:nvPicPr>
        <p:blipFill>
          <a:blip r:embed="rId9"/>
          <a:stretch>
            <a:fillRect/>
          </a:stretch>
        </p:blipFill>
        <p:spPr>
          <a:xfrm>
            <a:off x="7429500" y="5495544"/>
            <a:ext cx="137160" cy="137160"/>
          </a:xfrm>
          <a:prstGeom prst="rect">
            <a:avLst/>
          </a:prstGeom>
        </p:spPr>
      </p:pic>
      <p:sp>
        <p:nvSpPr>
          <p:cNvPr id="83" name="Text 72"/>
          <p:cNvSpPr txBox="1"/>
          <p:nvPr/>
        </p:nvSpPr>
        <p:spPr>
          <a:xfrm>
            <a:off x="7726680" y="5445252"/>
            <a:ext cx="2743200" cy="237744"/>
          </a:xfrm>
          <a:prstGeom prst="rect">
            <a:avLst/>
          </a:prstGeom>
          <a:noFill/>
          <a:ln/>
        </p:spPr>
        <p:txBody>
          <a:bodyPr wrap="square" lIns="0" tIns="0" rIns="0" bIns="0" rtlCol="0" anchor="ctr"/>
          <a:lstStyle/>
          <a:p>
            <a:pPr indent="0" marL="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84" name="Text 73"/>
          <p:cNvSpPr txBox="1"/>
          <p:nvPr/>
        </p:nvSpPr>
        <p:spPr>
          <a:xfrm>
            <a:off x="7726680" y="5719572"/>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 mailto:, phone → tel:, LinkedIn → company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Form behaviour detailed on the next slide</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How the enquiry form works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CONTACT US · SECTION 2 OF 2</a:t>
            </a:r>
            <a:endParaRPr lang="en-US" sz="1050" dirty="0"/>
          </a:p>
        </p:txBody>
      </p:sp>
      <p:sp>
        <p:nvSpPr>
          <p:cNvPr id="4" name="Shape 2"/>
          <p:cNvSpPr/>
          <p:nvPr/>
        </p:nvSpPr>
        <p:spPr>
          <a:xfrm>
            <a:off x="548640" y="1371600"/>
            <a:ext cx="2057400" cy="2514600"/>
          </a:xfrm>
          <a:prstGeom prst="roundRect">
            <a:avLst>
              <a:gd name="adj" fmla="val 7111"/>
            </a:avLst>
          </a:prstGeom>
          <a:solidFill>
            <a:srgbClr val="F3F2FA"/>
          </a:solidFill>
          <a:ln/>
        </p:spPr>
      </p:sp>
      <p:sp>
        <p:nvSpPr>
          <p:cNvPr id="5" name="Shape 3"/>
          <p:cNvSpPr/>
          <p:nvPr/>
        </p:nvSpPr>
        <p:spPr>
          <a:xfrm>
            <a:off x="777240" y="1600200"/>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05256" y="1728216"/>
            <a:ext cx="246888" cy="246888"/>
          </a:xfrm>
          <a:prstGeom prst="rect">
            <a:avLst/>
          </a:prstGeom>
        </p:spPr>
      </p:pic>
      <p:sp>
        <p:nvSpPr>
          <p:cNvPr id="7" name="Text 4"/>
          <p:cNvSpPr txBox="1"/>
          <p:nvPr/>
        </p:nvSpPr>
        <p:spPr>
          <a:xfrm>
            <a:off x="2194560" y="1572768"/>
            <a:ext cx="274320" cy="274320"/>
          </a:xfrm>
          <a:prstGeom prst="rect">
            <a:avLst/>
          </a:prstGeom>
          <a:noFill/>
          <a:ln/>
        </p:spPr>
        <p:txBody>
          <a:bodyPr wrap="square" lIns="0" tIns="0" rIns="0" bIns="0" rtlCol="0" anchor="t"/>
          <a:lstStyle/>
          <a:p>
            <a:pPr indent="0" marL="0">
              <a:buNone/>
            </a:pPr>
            <a:r>
              <a:rPr lang="en-US" sz="1400" b="1" dirty="0">
                <a:solidFill>
                  <a:srgbClr val="B3A8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777240" y="2240280"/>
            <a:ext cx="1691640" cy="32004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Visitor opens form</a:t>
            </a:r>
            <a:endParaRPr lang="en-US" sz="1400" dirty="0"/>
          </a:p>
        </p:txBody>
      </p:sp>
      <p:sp>
        <p:nvSpPr>
          <p:cNvPr id="9" name="Text 6"/>
          <p:cNvSpPr txBox="1"/>
          <p:nvPr/>
        </p:nvSpPr>
        <p:spPr>
          <a:xfrm>
            <a:off x="777240" y="2606040"/>
            <a:ext cx="1691640" cy="118872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Directly, or from a page CTA with the enquiry type pre-selected (?type=voice / sms)</a:t>
            </a:r>
            <a:endParaRPr lang="en-US" sz="1150" dirty="0"/>
          </a:p>
        </p:txBody>
      </p:sp>
      <p:pic>
        <p:nvPicPr>
          <p:cNvPr id="10" name="Image 1" descr="preencoded.png">    </p:cNvPr>
          <p:cNvPicPr>
            <a:picLocks noChangeAspect="1"/>
          </p:cNvPicPr>
          <p:nvPr/>
        </p:nvPicPr>
        <p:blipFill>
          <a:blip r:embed="rId2"/>
          <a:stretch>
            <a:fillRect/>
          </a:stretch>
        </p:blipFill>
        <p:spPr>
          <a:xfrm>
            <a:off x="2624328" y="2560320"/>
            <a:ext cx="164592" cy="164592"/>
          </a:xfrm>
          <a:prstGeom prst="rect">
            <a:avLst/>
          </a:prstGeom>
        </p:spPr>
      </p:pic>
      <p:sp>
        <p:nvSpPr>
          <p:cNvPr id="11" name="Shape 7"/>
          <p:cNvSpPr/>
          <p:nvPr/>
        </p:nvSpPr>
        <p:spPr>
          <a:xfrm>
            <a:off x="2807208" y="1371600"/>
            <a:ext cx="2057400" cy="2514600"/>
          </a:xfrm>
          <a:prstGeom prst="roundRect">
            <a:avLst>
              <a:gd name="adj" fmla="val 7111"/>
            </a:avLst>
          </a:prstGeom>
          <a:solidFill>
            <a:srgbClr val="F3F2FA"/>
          </a:solidFill>
          <a:ln/>
        </p:spPr>
      </p:sp>
      <p:sp>
        <p:nvSpPr>
          <p:cNvPr id="12" name="Shape 8"/>
          <p:cNvSpPr/>
          <p:nvPr/>
        </p:nvSpPr>
        <p:spPr>
          <a:xfrm>
            <a:off x="3035808" y="1600200"/>
            <a:ext cx="502920" cy="50292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3163824" y="1728216"/>
            <a:ext cx="246888" cy="246888"/>
          </a:xfrm>
          <a:prstGeom prst="rect">
            <a:avLst/>
          </a:prstGeom>
        </p:spPr>
      </p:pic>
      <p:sp>
        <p:nvSpPr>
          <p:cNvPr id="14" name="Text 9"/>
          <p:cNvSpPr txBox="1"/>
          <p:nvPr/>
        </p:nvSpPr>
        <p:spPr>
          <a:xfrm>
            <a:off x="4453128" y="1572768"/>
            <a:ext cx="274320" cy="274320"/>
          </a:xfrm>
          <a:prstGeom prst="rect">
            <a:avLst/>
          </a:prstGeom>
          <a:noFill/>
          <a:ln/>
        </p:spPr>
        <p:txBody>
          <a:bodyPr wrap="square" lIns="0" tIns="0" rIns="0" bIns="0" rtlCol="0" anchor="t"/>
          <a:lstStyle/>
          <a:p>
            <a:pPr indent="0" marL="0">
              <a:buNone/>
            </a:pPr>
            <a:r>
              <a:rPr lang="en-US" sz="1400" b="1" dirty="0">
                <a:solidFill>
                  <a:srgbClr val="B3A8FF"/>
                </a:solidFill>
                <a:latin typeface="Calibri" pitchFamily="34" charset="0"/>
                <a:ea typeface="Calibri" pitchFamily="34" charset="-122"/>
                <a:cs typeface="Calibri" pitchFamily="34" charset="-120"/>
              </a:rPr>
              <a:t>2</a:t>
            </a:r>
            <a:endParaRPr lang="en-US" sz="1400" dirty="0"/>
          </a:p>
        </p:txBody>
      </p:sp>
      <p:sp>
        <p:nvSpPr>
          <p:cNvPr id="15" name="Text 10"/>
          <p:cNvSpPr txBox="1"/>
          <p:nvPr/>
        </p:nvSpPr>
        <p:spPr>
          <a:xfrm>
            <a:off x="3035808" y="2240280"/>
            <a:ext cx="1691640" cy="32004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Validation</a:t>
            </a:r>
            <a:endParaRPr lang="en-US" sz="1400" dirty="0"/>
          </a:p>
        </p:txBody>
      </p:sp>
      <p:sp>
        <p:nvSpPr>
          <p:cNvPr id="16" name="Text 11"/>
          <p:cNvSpPr txBox="1"/>
          <p:nvPr/>
        </p:nvSpPr>
        <p:spPr>
          <a:xfrm>
            <a:off x="3035808" y="2606040"/>
            <a:ext cx="1691640" cy="118872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Required fields checked in the browser; invalid fields turn red with a short message</a:t>
            </a:r>
            <a:endParaRPr lang="en-US" sz="1150" dirty="0"/>
          </a:p>
        </p:txBody>
      </p:sp>
      <p:pic>
        <p:nvPicPr>
          <p:cNvPr id="17" name="Image 3" descr="preencoded.png">    </p:cNvPr>
          <p:cNvPicPr>
            <a:picLocks noChangeAspect="1"/>
          </p:cNvPicPr>
          <p:nvPr/>
        </p:nvPicPr>
        <p:blipFill>
          <a:blip r:embed="rId4"/>
          <a:stretch>
            <a:fillRect/>
          </a:stretch>
        </p:blipFill>
        <p:spPr>
          <a:xfrm>
            <a:off x="4882896" y="2560320"/>
            <a:ext cx="164592" cy="164592"/>
          </a:xfrm>
          <a:prstGeom prst="rect">
            <a:avLst/>
          </a:prstGeom>
        </p:spPr>
      </p:pic>
      <p:sp>
        <p:nvSpPr>
          <p:cNvPr id="18" name="Shape 12"/>
          <p:cNvSpPr/>
          <p:nvPr/>
        </p:nvSpPr>
        <p:spPr>
          <a:xfrm>
            <a:off x="5065776" y="1371600"/>
            <a:ext cx="2057400" cy="2514600"/>
          </a:xfrm>
          <a:prstGeom prst="roundRect">
            <a:avLst>
              <a:gd name="adj" fmla="val 7111"/>
            </a:avLst>
          </a:prstGeom>
          <a:solidFill>
            <a:srgbClr val="F3F2FA"/>
          </a:solidFill>
          <a:ln/>
        </p:spPr>
      </p:sp>
      <p:sp>
        <p:nvSpPr>
          <p:cNvPr id="19" name="Shape 13"/>
          <p:cNvSpPr/>
          <p:nvPr/>
        </p:nvSpPr>
        <p:spPr>
          <a:xfrm>
            <a:off x="5294376" y="1600200"/>
            <a:ext cx="502920" cy="502920"/>
          </a:xfrm>
          <a:prstGeom prst="ellipse">
            <a:avLst/>
          </a:prstGeom>
          <a:solidFill>
            <a:srgbClr val="FFFFFF"/>
          </a:solidFill>
          <a:ln/>
        </p:spPr>
      </p:sp>
      <p:pic>
        <p:nvPicPr>
          <p:cNvPr id="20" name="Image 4" descr="preencoded.png">    </p:cNvPr>
          <p:cNvPicPr>
            <a:picLocks noChangeAspect="1"/>
          </p:cNvPicPr>
          <p:nvPr/>
        </p:nvPicPr>
        <p:blipFill>
          <a:blip r:embed="rId5"/>
          <a:stretch>
            <a:fillRect/>
          </a:stretch>
        </p:blipFill>
        <p:spPr>
          <a:xfrm>
            <a:off x="5422392" y="1728216"/>
            <a:ext cx="246888" cy="246888"/>
          </a:xfrm>
          <a:prstGeom prst="rect">
            <a:avLst/>
          </a:prstGeom>
        </p:spPr>
      </p:pic>
      <p:sp>
        <p:nvSpPr>
          <p:cNvPr id="21" name="Text 14"/>
          <p:cNvSpPr txBox="1"/>
          <p:nvPr/>
        </p:nvSpPr>
        <p:spPr>
          <a:xfrm>
            <a:off x="6711696" y="1572768"/>
            <a:ext cx="274320" cy="274320"/>
          </a:xfrm>
          <a:prstGeom prst="rect">
            <a:avLst/>
          </a:prstGeom>
          <a:noFill/>
          <a:ln/>
        </p:spPr>
        <p:txBody>
          <a:bodyPr wrap="square" lIns="0" tIns="0" rIns="0" bIns="0" rtlCol="0" anchor="t"/>
          <a:lstStyle/>
          <a:p>
            <a:pPr indent="0" marL="0">
              <a:buNone/>
            </a:pPr>
            <a:r>
              <a:rPr lang="en-US" sz="1400" b="1" dirty="0">
                <a:solidFill>
                  <a:srgbClr val="B3A8FF"/>
                </a:solidFill>
                <a:latin typeface="Calibri" pitchFamily="34" charset="0"/>
                <a:ea typeface="Calibri" pitchFamily="34" charset="-122"/>
                <a:cs typeface="Calibri" pitchFamily="34" charset="-120"/>
              </a:rPr>
              <a:t>3</a:t>
            </a:r>
            <a:endParaRPr lang="en-US" sz="1400" dirty="0"/>
          </a:p>
        </p:txBody>
      </p:sp>
      <p:sp>
        <p:nvSpPr>
          <p:cNvPr id="22" name="Text 15"/>
          <p:cNvSpPr txBox="1"/>
          <p:nvPr/>
        </p:nvSpPr>
        <p:spPr>
          <a:xfrm>
            <a:off x="5294376" y="2240280"/>
            <a:ext cx="1691640" cy="32004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Spam protection</a:t>
            </a:r>
            <a:endParaRPr lang="en-US" sz="1400" dirty="0"/>
          </a:p>
        </p:txBody>
      </p:sp>
      <p:sp>
        <p:nvSpPr>
          <p:cNvPr id="23" name="Text 16"/>
          <p:cNvSpPr txBox="1"/>
          <p:nvPr/>
        </p:nvSpPr>
        <p:spPr>
          <a:xfrm>
            <a:off x="5294376" y="2606040"/>
            <a:ext cx="1691640" cy="118872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Hidden honeypot field + reCAPTCHA / Turnstile (client to choose)</a:t>
            </a:r>
            <a:endParaRPr lang="en-US" sz="1150" dirty="0"/>
          </a:p>
        </p:txBody>
      </p:sp>
      <p:pic>
        <p:nvPicPr>
          <p:cNvPr id="24" name="Image 5" descr="preencoded.png">    </p:cNvPr>
          <p:cNvPicPr>
            <a:picLocks noChangeAspect="1"/>
          </p:cNvPicPr>
          <p:nvPr/>
        </p:nvPicPr>
        <p:blipFill>
          <a:blip r:embed="rId6"/>
          <a:stretch>
            <a:fillRect/>
          </a:stretch>
        </p:blipFill>
        <p:spPr>
          <a:xfrm>
            <a:off x="7141464" y="2560320"/>
            <a:ext cx="164592" cy="164592"/>
          </a:xfrm>
          <a:prstGeom prst="rect">
            <a:avLst/>
          </a:prstGeom>
        </p:spPr>
      </p:pic>
      <p:sp>
        <p:nvSpPr>
          <p:cNvPr id="25" name="Shape 17"/>
          <p:cNvSpPr/>
          <p:nvPr/>
        </p:nvSpPr>
        <p:spPr>
          <a:xfrm>
            <a:off x="7324344" y="1371600"/>
            <a:ext cx="2057400" cy="2514600"/>
          </a:xfrm>
          <a:prstGeom prst="roundRect">
            <a:avLst>
              <a:gd name="adj" fmla="val 7111"/>
            </a:avLst>
          </a:prstGeom>
          <a:solidFill>
            <a:srgbClr val="1B1B28"/>
          </a:solidFill>
          <a:ln/>
        </p:spPr>
      </p:sp>
      <p:sp>
        <p:nvSpPr>
          <p:cNvPr id="26" name="Shape 18"/>
          <p:cNvSpPr/>
          <p:nvPr/>
        </p:nvSpPr>
        <p:spPr>
          <a:xfrm>
            <a:off x="7552944" y="1600200"/>
            <a:ext cx="502920" cy="502920"/>
          </a:xfrm>
          <a:prstGeom prst="ellipse">
            <a:avLst/>
          </a:prstGeom>
          <a:solidFill>
            <a:srgbClr val="3A3360"/>
          </a:solidFill>
          <a:ln/>
        </p:spPr>
      </p:sp>
      <p:pic>
        <p:nvPicPr>
          <p:cNvPr id="27" name="Image 6" descr="preencoded.png">    </p:cNvPr>
          <p:cNvPicPr>
            <a:picLocks noChangeAspect="1"/>
          </p:cNvPicPr>
          <p:nvPr/>
        </p:nvPicPr>
        <p:blipFill>
          <a:blip r:embed="rId7"/>
          <a:stretch>
            <a:fillRect/>
          </a:stretch>
        </p:blipFill>
        <p:spPr>
          <a:xfrm>
            <a:off x="7680960" y="1728216"/>
            <a:ext cx="246888" cy="246888"/>
          </a:xfrm>
          <a:prstGeom prst="rect">
            <a:avLst/>
          </a:prstGeom>
        </p:spPr>
      </p:pic>
      <p:sp>
        <p:nvSpPr>
          <p:cNvPr id="28" name="Text 19"/>
          <p:cNvSpPr txBox="1"/>
          <p:nvPr/>
        </p:nvSpPr>
        <p:spPr>
          <a:xfrm>
            <a:off x="8970264" y="1572768"/>
            <a:ext cx="274320" cy="274320"/>
          </a:xfrm>
          <a:prstGeom prst="rect">
            <a:avLst/>
          </a:prstGeom>
          <a:noFill/>
          <a:ln/>
        </p:spPr>
        <p:txBody>
          <a:bodyPr wrap="square" lIns="0" tIns="0" rIns="0" bIns="0" rtlCol="0" anchor="t"/>
          <a:lstStyle/>
          <a:p>
            <a:pPr indent="0" marL="0">
              <a:buNone/>
            </a:pPr>
            <a:r>
              <a:rPr lang="en-US" sz="1400" b="1" dirty="0">
                <a:solidFill>
                  <a:srgbClr val="9DF0D4"/>
                </a:solidFill>
                <a:latin typeface="Calibri" pitchFamily="34" charset="0"/>
                <a:ea typeface="Calibri" pitchFamily="34" charset="-122"/>
                <a:cs typeface="Calibri" pitchFamily="34" charset="-120"/>
              </a:rPr>
              <a:t>4</a:t>
            </a:r>
            <a:endParaRPr lang="en-US" sz="1400" dirty="0"/>
          </a:p>
        </p:txBody>
      </p:sp>
      <p:sp>
        <p:nvSpPr>
          <p:cNvPr id="29" name="Text 20"/>
          <p:cNvSpPr txBox="1"/>
          <p:nvPr/>
        </p:nvSpPr>
        <p:spPr>
          <a:xfrm>
            <a:off x="7552944" y="2240280"/>
            <a:ext cx="169164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Delivery</a:t>
            </a:r>
            <a:endParaRPr lang="en-US" sz="1400" dirty="0"/>
          </a:p>
        </p:txBody>
      </p:sp>
      <p:sp>
        <p:nvSpPr>
          <p:cNvPr id="30" name="Text 21"/>
          <p:cNvSpPr txBox="1"/>
          <p:nvPr/>
        </p:nvSpPr>
        <p:spPr>
          <a:xfrm>
            <a:off x="7552944" y="2606040"/>
            <a:ext cx="1691640" cy="1188720"/>
          </a:xfrm>
          <a:prstGeom prst="rect">
            <a:avLst/>
          </a:prstGeom>
          <a:noFill/>
          <a:ln/>
        </p:spPr>
        <p:txBody>
          <a:bodyPr wrap="square" lIns="0" tIns="0" rIns="0" bIns="0" rtlCol="0" anchor="t"/>
          <a:lstStyle/>
          <a:p>
            <a:pPr indent="0" marL="0">
              <a:buNone/>
            </a:pPr>
            <a:r>
              <a:rPr lang="en-US" sz="1150" dirty="0">
                <a:solidFill>
                  <a:srgbClr val="C9C9DA"/>
                </a:solidFill>
                <a:latin typeface="Calibri" pitchFamily="34" charset="0"/>
                <a:ea typeface="Calibri" pitchFamily="34" charset="-122"/>
                <a:cs typeface="Calibri" pitchFamily="34" charset="-120"/>
              </a:rPr>
              <a:t>Enquiry emailed to info@omaginfo.com with the type in the subject line</a:t>
            </a:r>
            <a:endParaRPr lang="en-US" sz="1150" dirty="0"/>
          </a:p>
        </p:txBody>
      </p:sp>
      <p:pic>
        <p:nvPicPr>
          <p:cNvPr id="31" name="Image 7" descr="preencoded.png">    </p:cNvPr>
          <p:cNvPicPr>
            <a:picLocks noChangeAspect="1"/>
          </p:cNvPicPr>
          <p:nvPr/>
        </p:nvPicPr>
        <p:blipFill>
          <a:blip r:embed="rId8"/>
          <a:stretch>
            <a:fillRect/>
          </a:stretch>
        </p:blipFill>
        <p:spPr>
          <a:xfrm>
            <a:off x="9400032" y="2560320"/>
            <a:ext cx="164592" cy="164592"/>
          </a:xfrm>
          <a:prstGeom prst="rect">
            <a:avLst/>
          </a:prstGeom>
        </p:spPr>
      </p:pic>
      <p:sp>
        <p:nvSpPr>
          <p:cNvPr id="32" name="Shape 22"/>
          <p:cNvSpPr/>
          <p:nvPr/>
        </p:nvSpPr>
        <p:spPr>
          <a:xfrm>
            <a:off x="9582912" y="1371600"/>
            <a:ext cx="2057400" cy="2514600"/>
          </a:xfrm>
          <a:prstGeom prst="roundRect">
            <a:avLst>
              <a:gd name="adj" fmla="val 7111"/>
            </a:avLst>
          </a:prstGeom>
          <a:solidFill>
            <a:srgbClr val="F3F2FA"/>
          </a:solidFill>
          <a:ln/>
        </p:spPr>
      </p:sp>
      <p:sp>
        <p:nvSpPr>
          <p:cNvPr id="33" name="Shape 23"/>
          <p:cNvSpPr/>
          <p:nvPr/>
        </p:nvSpPr>
        <p:spPr>
          <a:xfrm>
            <a:off x="9811512" y="1600200"/>
            <a:ext cx="502920" cy="502920"/>
          </a:xfrm>
          <a:prstGeom prst="ellipse">
            <a:avLst/>
          </a:prstGeom>
          <a:solidFill>
            <a:srgbClr val="FFFFFF"/>
          </a:solidFill>
          <a:ln/>
        </p:spPr>
      </p:sp>
      <p:pic>
        <p:nvPicPr>
          <p:cNvPr id="34" name="Image 8" descr="preencoded.png">    </p:cNvPr>
          <p:cNvPicPr>
            <a:picLocks noChangeAspect="1"/>
          </p:cNvPicPr>
          <p:nvPr/>
        </p:nvPicPr>
        <p:blipFill>
          <a:blip r:embed="rId9"/>
          <a:stretch>
            <a:fillRect/>
          </a:stretch>
        </p:blipFill>
        <p:spPr>
          <a:xfrm>
            <a:off x="9939528" y="1728216"/>
            <a:ext cx="246888" cy="246888"/>
          </a:xfrm>
          <a:prstGeom prst="rect">
            <a:avLst/>
          </a:prstGeom>
        </p:spPr>
      </p:pic>
      <p:sp>
        <p:nvSpPr>
          <p:cNvPr id="35" name="Text 24"/>
          <p:cNvSpPr txBox="1"/>
          <p:nvPr/>
        </p:nvSpPr>
        <p:spPr>
          <a:xfrm>
            <a:off x="11228832" y="1572768"/>
            <a:ext cx="274320" cy="274320"/>
          </a:xfrm>
          <a:prstGeom prst="rect">
            <a:avLst/>
          </a:prstGeom>
          <a:noFill/>
          <a:ln/>
        </p:spPr>
        <p:txBody>
          <a:bodyPr wrap="square" lIns="0" tIns="0" rIns="0" bIns="0" rtlCol="0" anchor="t"/>
          <a:lstStyle/>
          <a:p>
            <a:pPr indent="0" marL="0">
              <a:buNone/>
            </a:pPr>
            <a:r>
              <a:rPr lang="en-US" sz="1400" b="1" dirty="0">
                <a:solidFill>
                  <a:srgbClr val="B3A8FF"/>
                </a:solidFill>
                <a:latin typeface="Calibri" pitchFamily="34" charset="0"/>
                <a:ea typeface="Calibri" pitchFamily="34" charset="-122"/>
                <a:cs typeface="Calibri" pitchFamily="34" charset="-120"/>
              </a:rPr>
              <a:t>5</a:t>
            </a:r>
            <a:endParaRPr lang="en-US" sz="1400" dirty="0"/>
          </a:p>
        </p:txBody>
      </p:sp>
      <p:sp>
        <p:nvSpPr>
          <p:cNvPr id="36" name="Text 25"/>
          <p:cNvSpPr txBox="1"/>
          <p:nvPr/>
        </p:nvSpPr>
        <p:spPr>
          <a:xfrm>
            <a:off x="9811512" y="2240280"/>
            <a:ext cx="1691640" cy="320040"/>
          </a:xfrm>
          <a:prstGeom prst="rect">
            <a:avLst/>
          </a:prstGeom>
          <a:noFill/>
          <a:ln/>
        </p:spPr>
        <p:txBody>
          <a:bodyPr wrap="square" lIns="0" tIns="0" rIns="0" bIns="0" rtlCol="0" anchor="t"/>
          <a:lstStyle/>
          <a:p>
            <a:pPr indent="0" marL="0">
              <a:buNone/>
            </a:pPr>
            <a:r>
              <a:rPr lang="en-US" sz="1400" b="1" dirty="0">
                <a:solidFill>
                  <a:srgbClr val="16161F"/>
                </a:solidFill>
                <a:latin typeface="Calibri" pitchFamily="34" charset="0"/>
                <a:ea typeface="Calibri" pitchFamily="34" charset="-122"/>
                <a:cs typeface="Calibri" pitchFamily="34" charset="-120"/>
              </a:rPr>
              <a:t>Confirmation</a:t>
            </a:r>
            <a:endParaRPr lang="en-US" sz="1400" dirty="0"/>
          </a:p>
        </p:txBody>
      </p:sp>
      <p:sp>
        <p:nvSpPr>
          <p:cNvPr id="37" name="Text 26"/>
          <p:cNvSpPr txBox="1"/>
          <p:nvPr/>
        </p:nvSpPr>
        <p:spPr>
          <a:xfrm>
            <a:off x="9811512" y="2606040"/>
            <a:ext cx="1691640" cy="1188720"/>
          </a:xfrm>
          <a:prstGeom prst="rect">
            <a:avLst/>
          </a:prstGeom>
          <a:noFill/>
          <a:ln/>
        </p:spPr>
        <p:txBody>
          <a:bodyPr wrap="square" lIns="0" tIns="0" rIns="0" bIns="0" rtlCol="0" anchor="t"/>
          <a:lstStyle/>
          <a:p>
            <a:pPr indent="0" marL="0">
              <a:buNone/>
            </a:pPr>
            <a:r>
              <a:rPr lang="en-US" sz="1150" dirty="0">
                <a:solidFill>
                  <a:srgbClr val="5F6075"/>
                </a:solidFill>
                <a:latin typeface="Calibri" pitchFamily="34" charset="0"/>
                <a:ea typeface="Calibri" pitchFamily="34" charset="-122"/>
                <a:cs typeface="Calibri" pitchFamily="34" charset="-120"/>
              </a:rPr>
              <a:t>On-page success message ✱; optional auto-reply to the visitor</a:t>
            </a:r>
            <a:endParaRPr lang="en-US"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7498080" cy="914400"/>
        </p:xfrm>
        <a:graphic>
          <a:graphicData uri="http://schemas.openxmlformats.org/drawingml/2006/table">
            <a:tbl>
              <a:tblPr/>
              <a:tblGrid>
                <a:gridCol w="1554480"/>
                <a:gridCol w="1005840"/>
                <a:gridCol w="914400"/>
                <a:gridCol w="4023360"/>
              </a:tblGrid>
              <a:tr h="26517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Enquiry type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Toggle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Voice / VoIP · SMS · Partnership · General ✱</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Full name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Text</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At least 2 characters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Company</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Text</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Added for B2B context ✱</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Business email</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Valid email format</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Phone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Tel</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Digits, spaces, + and - (international)</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Message</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Textarea</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At least 5 characters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265176">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Privacy consent</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Checkbox</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Links to Privacy Policy (text TBC)</a:t>
                      </a:r>
                      <a:endParaRPr lang="en-US" sz="1050" dirty="0">
                        <a:latin typeface="Calibri" charset="0"/>
                        <a:ea typeface="Calibri" charset="0"/>
                        <a:cs typeface="Calibri" charset="0"/>
                      </a:endParaRPr>
                    </a:p>
                  </a:txBody>
                  <a:tcPr marL="45720" marR="45720" marT="45720" marB="45720">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bl>
          </a:graphicData>
        </a:graphic>
      </p:graphicFrame>
      <p:sp>
        <p:nvSpPr>
          <p:cNvPr id="39" name="Shape 27"/>
          <p:cNvSpPr/>
          <p:nvPr/>
        </p:nvSpPr>
        <p:spPr>
          <a:xfrm>
            <a:off x="8321040" y="4114800"/>
            <a:ext cx="3337560" cy="2148840"/>
          </a:xfrm>
          <a:prstGeom prst="roundRect">
            <a:avLst>
              <a:gd name="adj" fmla="val 5957"/>
            </a:avLst>
          </a:prstGeom>
          <a:solidFill>
            <a:srgbClr val="FDF3E7"/>
          </a:solidFill>
          <a:ln/>
        </p:spPr>
      </p:sp>
      <p:sp>
        <p:nvSpPr>
          <p:cNvPr id="40" name="Text 28"/>
          <p:cNvSpPr txBox="1"/>
          <p:nvPr/>
        </p:nvSpPr>
        <p:spPr>
          <a:xfrm>
            <a:off x="8549640" y="4251960"/>
            <a:ext cx="2743200" cy="274320"/>
          </a:xfrm>
          <a:prstGeom prst="rect">
            <a:avLst/>
          </a:prstGeom>
          <a:noFill/>
          <a:ln/>
        </p:spPr>
        <p:txBody>
          <a:bodyPr wrap="square" lIns="0" tIns="0" rIns="0" bIns="0" rtlCol="0" anchor="t"/>
          <a:lstStyle/>
          <a:p>
            <a:pPr indent="0" marL="0">
              <a:buNone/>
            </a:pPr>
            <a:r>
              <a:rPr lang="en-US" sz="1300" b="1" dirty="0">
                <a:solidFill>
                  <a:srgbClr val="A0561C"/>
                </a:solidFill>
                <a:latin typeface="Calibri" pitchFamily="34" charset="0"/>
                <a:ea typeface="Calibri" pitchFamily="34" charset="-122"/>
                <a:cs typeface="Calibri" pitchFamily="34" charset="-120"/>
              </a:rPr>
              <a:t>To confirm</a:t>
            </a:r>
            <a:endParaRPr lang="en-US" sz="1300" dirty="0"/>
          </a:p>
        </p:txBody>
      </p:sp>
      <p:sp>
        <p:nvSpPr>
          <p:cNvPr id="41" name="Text 29"/>
          <p:cNvSpPr txBox="1"/>
          <p:nvPr/>
        </p:nvSpPr>
        <p:spPr>
          <a:xfrm>
            <a:off x="8549640" y="4572000"/>
            <a:ext cx="2971800" cy="164592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6161F"/>
                </a:solidFill>
                <a:latin typeface="Calibri" pitchFamily="34" charset="0"/>
                <a:ea typeface="Calibri" pitchFamily="34" charset="-122"/>
                <a:cs typeface="Calibri" pitchFamily="34" charset="-120"/>
              </a:rPr>
              <a:t>Form handler: hosting SMTP, a form service or CMS plugin</a:t>
            </a:r>
            <a:endParaRPr lang="en-US" sz="1100" dirty="0"/>
          </a:p>
          <a:p>
            <a:pPr marL="127000" indent="-127000">
              <a:spcAft>
                <a:spcPts val="300"/>
              </a:spcAft>
              <a:buSzPct val="100000"/>
              <a:buChar char="•"/>
            </a:pPr>
            <a:r>
              <a:rPr lang="en-US" sz="1100" dirty="0">
                <a:solidFill>
                  <a:srgbClr val="16161F"/>
                </a:solidFill>
                <a:latin typeface="Calibri" pitchFamily="34" charset="0"/>
                <a:ea typeface="Calibri" pitchFamily="34" charset="-122"/>
                <a:cs typeface="Calibri" pitchFamily="34" charset="-120"/>
              </a:rPr>
              <a:t>Auto-reply wanted? If so, approve wording</a:t>
            </a:r>
            <a:endParaRPr lang="en-US" sz="1100" dirty="0"/>
          </a:p>
          <a:p>
            <a:pPr marL="127000" indent="-127000">
              <a:spcAft>
                <a:spcPts val="300"/>
              </a:spcAft>
              <a:buSzPct val="100000"/>
              <a:buChar char="•"/>
            </a:pPr>
            <a:r>
              <a:rPr lang="en-US" sz="1100" dirty="0">
                <a:solidFill>
                  <a:srgbClr val="16161F"/>
                </a:solidFill>
                <a:latin typeface="Calibri" pitchFamily="34" charset="0"/>
                <a:ea typeface="Calibri" pitchFamily="34" charset="-122"/>
                <a:cs typeface="Calibri" pitchFamily="34" charset="-120"/>
              </a:rPr>
              <a:t>Which spam protection to use</a:t>
            </a:r>
            <a:endParaRPr lang="en-US" sz="1100" dirty="0"/>
          </a:p>
          <a:p>
            <a:pPr marL="127000" indent="-127000">
              <a:spcAft>
                <a:spcPts val="300"/>
              </a:spcAft>
              <a:buSzPct val="100000"/>
              <a:buChar char="•"/>
            </a:pPr>
            <a:r>
              <a:rPr lang="en-US" sz="1100" dirty="0">
                <a:solidFill>
                  <a:srgbClr val="16161F"/>
                </a:solidFill>
                <a:latin typeface="Calibri" pitchFamily="34" charset="0"/>
                <a:ea typeface="Calibri" pitchFamily="34" charset="-122"/>
                <a:cs typeface="Calibri" pitchFamily="34" charset="-120"/>
              </a:rPr>
              <a:t>Store submissions anywhere besides email?</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731520" y="2011680"/>
            <a:ext cx="2743200" cy="457200"/>
          </a:xfrm>
          <a:prstGeom prst="rect">
            <a:avLst/>
          </a:prstGeom>
          <a:noFill/>
          <a:ln/>
        </p:spPr>
        <p:txBody>
          <a:bodyPr wrap="square" lIns="0" tIns="0" rIns="0" bIns="0" rtlCol="0" anchor="t"/>
          <a:lstStyle/>
          <a:p>
            <a:pPr indent="0" marL="0">
              <a:buNone/>
            </a:pPr>
            <a:r>
              <a:rPr lang="en-US" sz="1400" b="1" spc="300" kern="0" dirty="0">
                <a:solidFill>
                  <a:srgbClr val="9DF0D4"/>
                </a:solidFill>
                <a:latin typeface="Calibri" pitchFamily="34" charset="0"/>
                <a:ea typeface="Calibri" pitchFamily="34" charset="-122"/>
                <a:cs typeface="Calibri" pitchFamily="34" charset="-120"/>
              </a:rPr>
              <a:t>07</a:t>
            </a:r>
            <a:endParaRPr lang="en-US" sz="14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Delivery</a:t>
            </a:r>
            <a:endParaRPr lang="en-US" sz="4000" dirty="0"/>
          </a:p>
        </p:txBody>
      </p:sp>
      <p:sp>
        <p:nvSpPr>
          <p:cNvPr id="4" name="Text 2"/>
          <p:cNvSpPr txBox="1"/>
          <p:nvPr/>
        </p:nvSpPr>
        <p:spPr>
          <a:xfrm>
            <a:off x="731520" y="3703320"/>
            <a:ext cx="5394960" cy="1280160"/>
          </a:xfrm>
          <a:prstGeom prst="rect">
            <a:avLst/>
          </a:prstGeom>
          <a:noFill/>
          <a:ln/>
        </p:spPr>
        <p:txBody>
          <a:bodyPr wrap="square" lIns="0" tIns="0" rIns="0" bIns="0" rtlCol="0" anchor="t"/>
          <a:lstStyle/>
          <a:p>
            <a:pPr indent="0" marL="0">
              <a:buNone/>
            </a:pPr>
            <a:r>
              <a:rPr lang="en-US" sz="1500" dirty="0">
                <a:solidFill>
                  <a:srgbClr val="C9C9DA"/>
                </a:solidFill>
                <a:latin typeface="Calibri" pitchFamily="34" charset="0"/>
                <a:ea typeface="Calibri" pitchFamily="34" charset="-122"/>
                <a:cs typeface="Calibri" pitchFamily="34" charset="-120"/>
              </a:rPr>
              <a:t>Responsive design: how the site adapts to every screen, SEO groundwork, the items we need from you, and next steps.</a:t>
            </a:r>
            <a:endParaRPr lang="en-US" sz="1500" dirty="0"/>
          </a:p>
        </p:txBody>
      </p:sp>
      <p:sp>
        <p:nvSpPr>
          <p:cNvPr id="5" name="Shape 3"/>
          <p:cNvSpPr/>
          <p:nvPr/>
        </p:nvSpPr>
        <p:spPr>
          <a:xfrm>
            <a:off x="6903720" y="1005840"/>
            <a:ext cx="4754880" cy="4846320"/>
          </a:xfrm>
          <a:prstGeom prst="roundRect">
            <a:avLst>
              <a:gd name="adj" fmla="val 3846"/>
            </a:avLst>
          </a:prstGeom>
          <a:solidFill>
            <a:srgbClr val="1B1B28"/>
          </a:solidFill>
          <a:ln/>
        </p:spPr>
      </p:sp>
      <p:pic>
        <p:nvPicPr>
          <p:cNvPr id="6" name="Image 0" descr="preencoded.png">    </p:cNvPr>
          <p:cNvPicPr>
            <a:picLocks noChangeAspect="1"/>
          </p:cNvPicPr>
          <p:nvPr/>
        </p:nvPicPr>
        <p:blipFill>
          <a:blip r:embed="rId1"/>
          <a:stretch>
            <a:fillRect/>
          </a:stretch>
        </p:blipFill>
        <p:spPr>
          <a:xfrm>
            <a:off x="8245960" y="1188720"/>
            <a:ext cx="2070401" cy="448056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Breakpoints carried over from the sample</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RESPONSIVE DESIGN</a:t>
            </a:r>
            <a:endParaRPr lang="en-US" sz="1050" dirty="0"/>
          </a:p>
        </p:txBody>
      </p:sp>
      <p:sp>
        <p:nvSpPr>
          <p:cNvPr id="4" name="Shape 2"/>
          <p:cNvSpPr/>
          <p:nvPr/>
        </p:nvSpPr>
        <p:spPr>
          <a:xfrm>
            <a:off x="502920" y="1325880"/>
            <a:ext cx="4023360" cy="2660904"/>
          </a:xfrm>
          <a:prstGeom prst="roundRect">
            <a:avLst>
              <a:gd name="adj" fmla="val 2749"/>
            </a:avLst>
          </a:prstGeom>
          <a:solidFill>
            <a:srgbClr val="F3F2FA"/>
          </a:solidFill>
          <a:ln w="9525">
            <a:solidFill>
              <a:srgbClr val="E4E3EF"/>
            </a:solidFill>
            <a:prstDash val="solid"/>
          </a:ln>
        </p:spPr>
      </p:sp>
      <p:pic>
        <p:nvPicPr>
          <p:cNvPr id="5" name="Image 0" descr="preencoded.png">    </p:cNvPr>
          <p:cNvPicPr>
            <a:picLocks noChangeAspect="1"/>
          </p:cNvPicPr>
          <p:nvPr/>
        </p:nvPicPr>
        <p:blipFill>
          <a:blip r:embed="rId1"/>
          <a:stretch>
            <a:fillRect/>
          </a:stretch>
        </p:blipFill>
        <p:spPr>
          <a:xfrm>
            <a:off x="548640" y="1427607"/>
            <a:ext cx="3931920" cy="2457450"/>
          </a:xfrm>
          <a:prstGeom prst="rect">
            <a:avLst/>
          </a:prstGeom>
        </p:spPr>
      </p:pic>
      <p:sp>
        <p:nvSpPr>
          <p:cNvPr id="6" name="Text 3"/>
          <p:cNvSpPr txBox="1"/>
          <p:nvPr/>
        </p:nvSpPr>
        <p:spPr>
          <a:xfrm>
            <a:off x="548640" y="4041648"/>
            <a:ext cx="3931920" cy="228600"/>
          </a:xfrm>
          <a:prstGeom prst="rect">
            <a:avLst/>
          </a:prstGeom>
          <a:noFill/>
          <a:ln/>
        </p:spPr>
        <p:txBody>
          <a:bodyPr wrap="square" lIns="0" tIns="0" rIns="0" bIns="0" rtlCol="0" anchor="t"/>
          <a:lstStyle/>
          <a:p>
            <a:pPr algn="ctr" indent="0" marL="0">
              <a:buNone/>
            </a:pPr>
            <a:r>
              <a:rPr lang="en-US" sz="1000" b="1" dirty="0">
                <a:solidFill>
                  <a:srgbClr val="16161F"/>
                </a:solidFill>
                <a:latin typeface="Calibri" pitchFamily="34" charset="0"/>
                <a:ea typeface="Calibri" pitchFamily="34" charset="-122"/>
                <a:cs typeface="Calibri" pitchFamily="34" charset="-120"/>
              </a:rPr>
              <a:t>Desktop 1440px</a:t>
            </a:r>
            <a:endParaRPr lang="en-US" sz="1000" dirty="0"/>
          </a:p>
        </p:txBody>
      </p:sp>
      <p:sp>
        <p:nvSpPr>
          <p:cNvPr id="7" name="Shape 4"/>
          <p:cNvSpPr/>
          <p:nvPr/>
        </p:nvSpPr>
        <p:spPr>
          <a:xfrm>
            <a:off x="4709160" y="1325880"/>
            <a:ext cx="1874520" cy="2660904"/>
          </a:xfrm>
          <a:prstGeom prst="roundRect">
            <a:avLst>
              <a:gd name="adj" fmla="val 3902"/>
            </a:avLst>
          </a:prstGeom>
          <a:solidFill>
            <a:srgbClr val="F3F2FA"/>
          </a:solidFill>
          <a:ln w="9525">
            <a:solidFill>
              <a:srgbClr val="E4E3EF"/>
            </a:solidFill>
            <a:prstDash val="solid"/>
          </a:ln>
        </p:spPr>
      </p:sp>
      <p:pic>
        <p:nvPicPr>
          <p:cNvPr id="8" name="Image 1" descr="preencoded.png">    </p:cNvPr>
          <p:cNvPicPr>
            <a:picLocks noChangeAspect="1"/>
          </p:cNvPicPr>
          <p:nvPr/>
        </p:nvPicPr>
        <p:blipFill>
          <a:blip r:embed="rId2"/>
          <a:stretch>
            <a:fillRect/>
          </a:stretch>
        </p:blipFill>
        <p:spPr>
          <a:xfrm>
            <a:off x="4754880" y="1373384"/>
            <a:ext cx="1783080" cy="2565896"/>
          </a:xfrm>
          <a:prstGeom prst="rect">
            <a:avLst/>
          </a:prstGeom>
        </p:spPr>
      </p:pic>
      <p:sp>
        <p:nvSpPr>
          <p:cNvPr id="9" name="Text 5"/>
          <p:cNvSpPr txBox="1"/>
          <p:nvPr/>
        </p:nvSpPr>
        <p:spPr>
          <a:xfrm>
            <a:off x="4754880" y="4041648"/>
            <a:ext cx="1783080" cy="228600"/>
          </a:xfrm>
          <a:prstGeom prst="rect">
            <a:avLst/>
          </a:prstGeom>
          <a:noFill/>
          <a:ln/>
        </p:spPr>
        <p:txBody>
          <a:bodyPr wrap="square" lIns="0" tIns="0" rIns="0" bIns="0" rtlCol="0" anchor="t"/>
          <a:lstStyle/>
          <a:p>
            <a:pPr algn="ctr" indent="0" marL="0">
              <a:buNone/>
            </a:pPr>
            <a:r>
              <a:rPr lang="en-US" sz="1000" b="1" dirty="0">
                <a:solidFill>
                  <a:srgbClr val="16161F"/>
                </a:solidFill>
                <a:latin typeface="Calibri" pitchFamily="34" charset="0"/>
                <a:ea typeface="Calibri" pitchFamily="34" charset="-122"/>
                <a:cs typeface="Calibri" pitchFamily="34" charset="-120"/>
              </a:rPr>
              <a:t>Tablet 820px</a:t>
            </a:r>
            <a:endParaRPr lang="en-US" sz="1000" dirty="0"/>
          </a:p>
        </p:txBody>
      </p:sp>
      <p:sp>
        <p:nvSpPr>
          <p:cNvPr id="10" name="Shape 6"/>
          <p:cNvSpPr/>
          <p:nvPr/>
        </p:nvSpPr>
        <p:spPr>
          <a:xfrm>
            <a:off x="6766560" y="1325880"/>
            <a:ext cx="1280160" cy="2660904"/>
          </a:xfrm>
          <a:prstGeom prst="roundRect">
            <a:avLst>
              <a:gd name="adj" fmla="val 5714"/>
            </a:avLst>
          </a:prstGeom>
          <a:solidFill>
            <a:srgbClr val="F3F2FA"/>
          </a:solidFill>
          <a:ln w="9525">
            <a:solidFill>
              <a:srgbClr val="E4E3EF"/>
            </a:solidFill>
            <a:prstDash val="solid"/>
          </a:ln>
        </p:spPr>
      </p:sp>
      <p:pic>
        <p:nvPicPr>
          <p:cNvPr id="11" name="Image 2" descr="preencoded.png">    </p:cNvPr>
          <p:cNvPicPr>
            <a:picLocks noChangeAspect="1"/>
          </p:cNvPicPr>
          <p:nvPr/>
        </p:nvPicPr>
        <p:blipFill>
          <a:blip r:embed="rId3"/>
          <a:stretch>
            <a:fillRect/>
          </a:stretch>
        </p:blipFill>
        <p:spPr>
          <a:xfrm>
            <a:off x="6812984" y="1371600"/>
            <a:ext cx="1187312" cy="2569464"/>
          </a:xfrm>
          <a:prstGeom prst="rect">
            <a:avLst/>
          </a:prstGeom>
        </p:spPr>
      </p:pic>
      <p:sp>
        <p:nvSpPr>
          <p:cNvPr id="12" name="Text 7"/>
          <p:cNvSpPr txBox="1"/>
          <p:nvPr/>
        </p:nvSpPr>
        <p:spPr>
          <a:xfrm>
            <a:off x="6812280" y="4041648"/>
            <a:ext cx="1188720" cy="228600"/>
          </a:xfrm>
          <a:prstGeom prst="rect">
            <a:avLst/>
          </a:prstGeom>
          <a:noFill/>
          <a:ln/>
        </p:spPr>
        <p:txBody>
          <a:bodyPr wrap="square" lIns="0" tIns="0" rIns="0" bIns="0" rtlCol="0" anchor="t"/>
          <a:lstStyle/>
          <a:p>
            <a:pPr algn="ctr" indent="0" marL="0">
              <a:buNone/>
            </a:pPr>
            <a:r>
              <a:rPr lang="en-US" sz="1000" b="1" dirty="0">
                <a:solidFill>
                  <a:srgbClr val="16161F"/>
                </a:solidFill>
                <a:latin typeface="Calibri" pitchFamily="34" charset="0"/>
                <a:ea typeface="Calibri" pitchFamily="34" charset="-122"/>
                <a:cs typeface="Calibri" pitchFamily="34" charset="-120"/>
              </a:rPr>
              <a:t>Mobile 390px</a:t>
            </a:r>
            <a:endParaRPr lang="en-US" sz="1000" dirty="0"/>
          </a:p>
        </p:txBody>
      </p:sp>
      <p:sp>
        <p:nvSpPr>
          <p:cNvPr id="13" name="Shape 8"/>
          <p:cNvSpPr/>
          <p:nvPr/>
        </p:nvSpPr>
        <p:spPr>
          <a:xfrm>
            <a:off x="8229600" y="1325880"/>
            <a:ext cx="1280160" cy="2660904"/>
          </a:xfrm>
          <a:prstGeom prst="roundRect">
            <a:avLst>
              <a:gd name="adj" fmla="val 5714"/>
            </a:avLst>
          </a:prstGeom>
          <a:solidFill>
            <a:srgbClr val="F3F2FA"/>
          </a:solidFill>
          <a:ln w="9525">
            <a:solidFill>
              <a:srgbClr val="E4E3EF"/>
            </a:solidFill>
            <a:prstDash val="solid"/>
          </a:ln>
        </p:spPr>
      </p:sp>
      <p:pic>
        <p:nvPicPr>
          <p:cNvPr id="14" name="Image 3" descr="preencoded.png">    </p:cNvPr>
          <p:cNvPicPr>
            <a:picLocks noChangeAspect="1"/>
          </p:cNvPicPr>
          <p:nvPr/>
        </p:nvPicPr>
        <p:blipFill>
          <a:blip r:embed="rId4"/>
          <a:stretch>
            <a:fillRect/>
          </a:stretch>
        </p:blipFill>
        <p:spPr>
          <a:xfrm>
            <a:off x="8276024" y="1371600"/>
            <a:ext cx="1187312" cy="2569464"/>
          </a:xfrm>
          <a:prstGeom prst="rect">
            <a:avLst/>
          </a:prstGeom>
        </p:spPr>
      </p:pic>
      <p:sp>
        <p:nvSpPr>
          <p:cNvPr id="15" name="Text 9"/>
          <p:cNvSpPr txBox="1"/>
          <p:nvPr/>
        </p:nvSpPr>
        <p:spPr>
          <a:xfrm>
            <a:off x="8275320" y="4041648"/>
            <a:ext cx="1188720" cy="228600"/>
          </a:xfrm>
          <a:prstGeom prst="rect">
            <a:avLst/>
          </a:prstGeom>
          <a:noFill/>
          <a:ln/>
        </p:spPr>
        <p:txBody>
          <a:bodyPr wrap="square" lIns="0" tIns="0" rIns="0" bIns="0" rtlCol="0" anchor="t"/>
          <a:lstStyle/>
          <a:p>
            <a:pPr algn="ctr" indent="0" marL="0">
              <a:buNone/>
            </a:pPr>
            <a:r>
              <a:rPr lang="en-US" sz="1000" b="1" dirty="0">
                <a:solidFill>
                  <a:srgbClr val="16161F"/>
                </a:solidFill>
                <a:latin typeface="Calibri" pitchFamily="34" charset="0"/>
                <a:ea typeface="Calibri" pitchFamily="34" charset="-122"/>
                <a:cs typeface="Calibri" pitchFamily="34" charset="-120"/>
              </a:rPr>
              <a:t>Mobile menu open</a:t>
            </a:r>
            <a:endParaRPr lang="en-US" sz="1000" dirty="0"/>
          </a:p>
        </p:txBody>
      </p:sp>
      <p:sp>
        <p:nvSpPr>
          <p:cNvPr id="16" name="Text 10"/>
          <p:cNvSpPr txBox="1"/>
          <p:nvPr/>
        </p:nvSpPr>
        <p:spPr>
          <a:xfrm>
            <a:off x="9738360" y="1371600"/>
            <a:ext cx="1920240" cy="91440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Screenshots of the sample site at each size (placeholder content shown).</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109960" cy="914400"/>
        </p:xfrm>
        <a:graphic>
          <a:graphicData uri="http://schemas.openxmlformats.org/drawingml/2006/table">
            <a:tbl>
              <a:tblPr/>
              <a:tblGrid>
                <a:gridCol w="1371600"/>
                <a:gridCol w="1463040"/>
                <a:gridCol w="82753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Width</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changes</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r>
              <a:tr h="347472">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 1080px</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Desktop</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Full layouts: 4-column bento, side-by-side founder cards, 2-column hero</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347472">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900–1080px</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Small laptop</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Bento drops to 2 columns; founder cards stack</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347472">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600–900px</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Tablet</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Hamburger menu; hero, about and contact become single column; footer 2 columns</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347472">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&lt; 600px</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Phone</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Everything single column; form fields one per row; timeline vertical; footer 1 column</a:t>
                      </a:r>
                      <a:endParaRPr lang="en-US" sz="11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bl>
          </a:graphicData>
        </a:graphic>
      </p:graphicFrame>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Mobile layouts and recommendations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RESPONSIVE DESIGN</a:t>
            </a:r>
            <a:endParaRPr lang="en-US" sz="1050" dirty="0"/>
          </a:p>
        </p:txBody>
      </p:sp>
      <p:sp>
        <p:nvSpPr>
          <p:cNvPr id="4" name="Shape 2"/>
          <p:cNvSpPr/>
          <p:nvPr/>
        </p:nvSpPr>
        <p:spPr>
          <a:xfrm>
            <a:off x="548640" y="1325880"/>
            <a:ext cx="1874520" cy="3931920"/>
          </a:xfrm>
          <a:prstGeom prst="roundRect">
            <a:avLst>
              <a:gd name="adj" fmla="val 13659"/>
            </a:avLst>
          </a:prstGeom>
          <a:solidFill>
            <a:srgbClr val="16161F"/>
          </a:solidFill>
          <a:ln/>
          <a:effectLst>
            <a:outerShdw sx="100000" sy="100000" kx="0" ky="0" algn="bl" rotWithShape="0" blurRad="101600" dist="25400" dir="5400000">
              <a:srgbClr val="28207A">
                <a:alpha val="12000"/>
              </a:srgbClr>
            </a:outerShdw>
          </a:effectLst>
        </p:spPr>
      </p:sp>
      <p:sp>
        <p:nvSpPr>
          <p:cNvPr id="5" name="Shape 3"/>
          <p:cNvSpPr/>
          <p:nvPr/>
        </p:nvSpPr>
        <p:spPr>
          <a:xfrm>
            <a:off x="612648" y="1389888"/>
            <a:ext cx="1746504" cy="3803904"/>
          </a:xfrm>
          <a:prstGeom prst="roundRect">
            <a:avLst>
              <a:gd name="adj" fmla="val 11518"/>
            </a:avLst>
          </a:prstGeom>
          <a:solidFill>
            <a:srgbClr val="FBFBFF"/>
          </a:solidFill>
          <a:ln/>
        </p:spPr>
      </p:sp>
      <p:sp>
        <p:nvSpPr>
          <p:cNvPr id="6" name="Shape 4"/>
          <p:cNvSpPr/>
          <p:nvPr/>
        </p:nvSpPr>
        <p:spPr>
          <a:xfrm>
            <a:off x="1211580" y="1435608"/>
            <a:ext cx="548640" cy="73152"/>
          </a:xfrm>
          <a:prstGeom prst="roundRect">
            <a:avLst>
              <a:gd name="adj" fmla="val 50000"/>
            </a:avLst>
          </a:prstGeom>
          <a:solidFill>
            <a:srgbClr val="16161F"/>
          </a:solidFill>
          <a:ln/>
        </p:spPr>
      </p:sp>
      <p:sp>
        <p:nvSpPr>
          <p:cNvPr id="7" name="Shape 5"/>
          <p:cNvSpPr/>
          <p:nvPr/>
        </p:nvSpPr>
        <p:spPr>
          <a:xfrm>
            <a:off x="685800" y="1600200"/>
            <a:ext cx="502920" cy="137160"/>
          </a:xfrm>
          <a:prstGeom prst="roundRect">
            <a:avLst>
              <a:gd name="adj" fmla="val 20000"/>
            </a:avLst>
          </a:prstGeom>
          <a:solidFill>
            <a:srgbClr val="ECEBFF"/>
          </a:solidFill>
          <a:ln w="9525">
            <a:solidFill>
              <a:srgbClr val="B3A8FF"/>
            </a:solidFill>
            <a:prstDash val="dash"/>
          </a:ln>
        </p:spPr>
      </p:sp>
      <p:sp>
        <p:nvSpPr>
          <p:cNvPr id="8" name="Shape 6"/>
          <p:cNvSpPr/>
          <p:nvPr/>
        </p:nvSpPr>
        <p:spPr>
          <a:xfrm>
            <a:off x="2103120" y="1618488"/>
            <a:ext cx="164592" cy="18288"/>
          </a:xfrm>
          <a:prstGeom prst="rect">
            <a:avLst/>
          </a:prstGeom>
          <a:solidFill>
            <a:srgbClr val="16161F"/>
          </a:solidFill>
          <a:ln/>
        </p:spPr>
      </p:sp>
      <p:sp>
        <p:nvSpPr>
          <p:cNvPr id="9" name="Shape 7"/>
          <p:cNvSpPr/>
          <p:nvPr/>
        </p:nvSpPr>
        <p:spPr>
          <a:xfrm>
            <a:off x="2103120" y="1664208"/>
            <a:ext cx="164592" cy="18288"/>
          </a:xfrm>
          <a:prstGeom prst="rect">
            <a:avLst/>
          </a:prstGeom>
          <a:solidFill>
            <a:srgbClr val="16161F"/>
          </a:solidFill>
          <a:ln/>
        </p:spPr>
      </p:sp>
      <p:sp>
        <p:nvSpPr>
          <p:cNvPr id="10" name="Shape 8"/>
          <p:cNvSpPr/>
          <p:nvPr/>
        </p:nvSpPr>
        <p:spPr>
          <a:xfrm>
            <a:off x="2103120" y="1709928"/>
            <a:ext cx="164592" cy="18288"/>
          </a:xfrm>
          <a:prstGeom prst="rect">
            <a:avLst/>
          </a:prstGeom>
          <a:solidFill>
            <a:srgbClr val="16161F"/>
          </a:solidFill>
          <a:ln/>
        </p:spPr>
      </p:sp>
      <p:sp>
        <p:nvSpPr>
          <p:cNvPr id="11" name="Shape 9"/>
          <p:cNvSpPr/>
          <p:nvPr/>
        </p:nvSpPr>
        <p:spPr>
          <a:xfrm>
            <a:off x="685800" y="1874520"/>
            <a:ext cx="1600200" cy="731520"/>
          </a:xfrm>
          <a:prstGeom prst="roundRect">
            <a:avLst>
              <a:gd name="adj" fmla="val 7500"/>
            </a:avLst>
          </a:prstGeom>
          <a:solidFill>
            <a:srgbClr val="FFFFFF"/>
          </a:solidFill>
          <a:ln w="9525">
            <a:solidFill>
              <a:srgbClr val="E4E3EF"/>
            </a:solidFill>
            <a:prstDash val="solid"/>
          </a:ln>
        </p:spPr>
      </p:sp>
      <p:sp>
        <p:nvSpPr>
          <p:cNvPr id="12" name="Text 10"/>
          <p:cNvSpPr txBox="1"/>
          <p:nvPr/>
        </p:nvSpPr>
        <p:spPr>
          <a:xfrm>
            <a:off x="740664" y="1874520"/>
            <a:ext cx="1490472" cy="73152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Hero text + 2 buttons</a:t>
            </a:r>
            <a:endParaRPr lang="en-US" sz="700" dirty="0"/>
          </a:p>
        </p:txBody>
      </p:sp>
      <p:sp>
        <p:nvSpPr>
          <p:cNvPr id="13" name="Shape 11"/>
          <p:cNvSpPr/>
          <p:nvPr/>
        </p:nvSpPr>
        <p:spPr>
          <a:xfrm>
            <a:off x="685800" y="2660904"/>
            <a:ext cx="1600200" cy="548640"/>
          </a:xfrm>
          <a:prstGeom prst="roundRect">
            <a:avLst>
              <a:gd name="adj" fmla="val 10000"/>
            </a:avLst>
          </a:prstGeom>
          <a:solidFill>
            <a:srgbClr val="ECEBFF"/>
          </a:solidFill>
          <a:ln w="9525">
            <a:solidFill>
              <a:srgbClr val="E4E3EF"/>
            </a:solidFill>
            <a:prstDash val="solid"/>
          </a:ln>
        </p:spPr>
      </p:sp>
      <p:sp>
        <p:nvSpPr>
          <p:cNvPr id="14" name="Text 12"/>
          <p:cNvSpPr txBox="1"/>
          <p:nvPr/>
        </p:nvSpPr>
        <p:spPr>
          <a:xfrm>
            <a:off x="740664" y="2660904"/>
            <a:ext cx="1490472" cy="54864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Illustration</a:t>
            </a:r>
            <a:endParaRPr lang="en-US" sz="700" dirty="0"/>
          </a:p>
        </p:txBody>
      </p:sp>
      <p:sp>
        <p:nvSpPr>
          <p:cNvPr id="15" name="Shape 13"/>
          <p:cNvSpPr/>
          <p:nvPr/>
        </p:nvSpPr>
        <p:spPr>
          <a:xfrm>
            <a:off x="685800" y="3264408"/>
            <a:ext cx="1600200" cy="411480"/>
          </a:xfrm>
          <a:prstGeom prst="roundRect">
            <a:avLst>
              <a:gd name="adj" fmla="val 13333"/>
            </a:avLst>
          </a:prstGeom>
          <a:solidFill>
            <a:srgbClr val="FFFFFF"/>
          </a:solidFill>
          <a:ln w="9525">
            <a:solidFill>
              <a:srgbClr val="E4E3EF"/>
            </a:solidFill>
            <a:prstDash val="solid"/>
          </a:ln>
        </p:spPr>
      </p:sp>
      <p:sp>
        <p:nvSpPr>
          <p:cNvPr id="16" name="Text 14"/>
          <p:cNvSpPr txBox="1"/>
          <p:nvPr/>
        </p:nvSpPr>
        <p:spPr>
          <a:xfrm>
            <a:off x="740664" y="3264408"/>
            <a:ext cx="1490472" cy="41148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Voice card</a:t>
            </a:r>
            <a:endParaRPr lang="en-US" sz="700" dirty="0"/>
          </a:p>
        </p:txBody>
      </p:sp>
      <p:sp>
        <p:nvSpPr>
          <p:cNvPr id="17" name="Shape 15"/>
          <p:cNvSpPr/>
          <p:nvPr/>
        </p:nvSpPr>
        <p:spPr>
          <a:xfrm>
            <a:off x="685800" y="3730752"/>
            <a:ext cx="1600200" cy="411480"/>
          </a:xfrm>
          <a:prstGeom prst="roundRect">
            <a:avLst>
              <a:gd name="adj" fmla="val 13333"/>
            </a:avLst>
          </a:prstGeom>
          <a:solidFill>
            <a:srgbClr val="1B1B28"/>
          </a:solidFill>
          <a:ln/>
        </p:spPr>
      </p:sp>
      <p:sp>
        <p:nvSpPr>
          <p:cNvPr id="18" name="Text 16"/>
          <p:cNvSpPr txBox="1"/>
          <p:nvPr/>
        </p:nvSpPr>
        <p:spPr>
          <a:xfrm>
            <a:off x="740664" y="3730752"/>
            <a:ext cx="1490472" cy="4114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SMS card</a:t>
            </a:r>
            <a:endParaRPr lang="en-US" sz="700" dirty="0"/>
          </a:p>
        </p:txBody>
      </p:sp>
      <p:sp>
        <p:nvSpPr>
          <p:cNvPr id="19" name="Shape 17"/>
          <p:cNvSpPr/>
          <p:nvPr/>
        </p:nvSpPr>
        <p:spPr>
          <a:xfrm>
            <a:off x="685800" y="4197096"/>
            <a:ext cx="1600200" cy="502920"/>
          </a:xfrm>
          <a:prstGeom prst="roundRect">
            <a:avLst>
              <a:gd name="adj" fmla="val 10909"/>
            </a:avLst>
          </a:prstGeom>
          <a:solidFill>
            <a:srgbClr val="F3F2FA"/>
          </a:solidFill>
          <a:ln w="9525">
            <a:solidFill>
              <a:srgbClr val="E4E3EF"/>
            </a:solidFill>
            <a:prstDash val="solid"/>
          </a:ln>
        </p:spPr>
      </p:sp>
      <p:sp>
        <p:nvSpPr>
          <p:cNvPr id="20" name="Text 18"/>
          <p:cNvSpPr txBox="1"/>
          <p:nvPr/>
        </p:nvSpPr>
        <p:spPr>
          <a:xfrm>
            <a:off x="740664" y="4197096"/>
            <a:ext cx="1490472" cy="50292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Service cards (1 per row)</a:t>
            </a:r>
            <a:endParaRPr lang="en-US" sz="700" dirty="0"/>
          </a:p>
        </p:txBody>
      </p:sp>
      <p:sp>
        <p:nvSpPr>
          <p:cNvPr id="21" name="Shape 19"/>
          <p:cNvSpPr/>
          <p:nvPr/>
        </p:nvSpPr>
        <p:spPr>
          <a:xfrm>
            <a:off x="685800" y="4754880"/>
            <a:ext cx="1600200" cy="274320"/>
          </a:xfrm>
          <a:prstGeom prst="roundRect">
            <a:avLst>
              <a:gd name="adj" fmla="val 20000"/>
            </a:avLst>
          </a:prstGeom>
          <a:solidFill>
            <a:srgbClr val="1B1B28"/>
          </a:solidFill>
          <a:ln/>
        </p:spPr>
      </p:sp>
      <p:sp>
        <p:nvSpPr>
          <p:cNvPr id="22" name="Text 20"/>
          <p:cNvSpPr txBox="1"/>
          <p:nvPr/>
        </p:nvSpPr>
        <p:spPr>
          <a:xfrm>
            <a:off x="740664" y="4754880"/>
            <a:ext cx="1490472"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Footer</a:t>
            </a:r>
            <a:endParaRPr lang="en-US" sz="700" dirty="0"/>
          </a:p>
        </p:txBody>
      </p:sp>
      <p:sp>
        <p:nvSpPr>
          <p:cNvPr id="23" name="Text 21"/>
          <p:cNvSpPr txBox="1"/>
          <p:nvPr/>
        </p:nvSpPr>
        <p:spPr>
          <a:xfrm>
            <a:off x="548640" y="5349240"/>
            <a:ext cx="1874520" cy="228600"/>
          </a:xfrm>
          <a:prstGeom prst="rect">
            <a:avLst/>
          </a:prstGeom>
          <a:noFill/>
          <a:ln/>
        </p:spPr>
        <p:txBody>
          <a:bodyPr wrap="square" lIns="0" tIns="0" rIns="0" bIns="0" rtlCol="0" anchor="t"/>
          <a:lstStyle/>
          <a:p>
            <a:pPr algn="ctr" indent="0" marL="0">
              <a:buNone/>
            </a:pPr>
            <a:r>
              <a:rPr lang="en-US" sz="1100" b="1" dirty="0">
                <a:solidFill>
                  <a:srgbClr val="16161F"/>
                </a:solidFill>
                <a:latin typeface="Calibri" pitchFamily="34" charset="0"/>
                <a:ea typeface="Calibri" pitchFamily="34" charset="-122"/>
                <a:cs typeface="Calibri" pitchFamily="34" charset="-120"/>
              </a:rPr>
              <a:t>Home</a:t>
            </a:r>
            <a:endParaRPr lang="en-US" sz="1100" dirty="0"/>
          </a:p>
        </p:txBody>
      </p:sp>
      <p:sp>
        <p:nvSpPr>
          <p:cNvPr id="24" name="Shape 22"/>
          <p:cNvSpPr/>
          <p:nvPr/>
        </p:nvSpPr>
        <p:spPr>
          <a:xfrm>
            <a:off x="2651760" y="1325880"/>
            <a:ext cx="1874520" cy="3931920"/>
          </a:xfrm>
          <a:prstGeom prst="roundRect">
            <a:avLst>
              <a:gd name="adj" fmla="val 13659"/>
            </a:avLst>
          </a:prstGeom>
          <a:solidFill>
            <a:srgbClr val="16161F"/>
          </a:solidFill>
          <a:ln/>
          <a:effectLst>
            <a:outerShdw sx="100000" sy="100000" kx="0" ky="0" algn="bl" rotWithShape="0" blurRad="101600" dist="25400" dir="5400000">
              <a:srgbClr val="28207A">
                <a:alpha val="12000"/>
              </a:srgbClr>
            </a:outerShdw>
          </a:effectLst>
        </p:spPr>
      </p:sp>
      <p:sp>
        <p:nvSpPr>
          <p:cNvPr id="25" name="Shape 23"/>
          <p:cNvSpPr/>
          <p:nvPr/>
        </p:nvSpPr>
        <p:spPr>
          <a:xfrm>
            <a:off x="2715768" y="1389888"/>
            <a:ext cx="1746504" cy="3803904"/>
          </a:xfrm>
          <a:prstGeom prst="roundRect">
            <a:avLst>
              <a:gd name="adj" fmla="val 11518"/>
            </a:avLst>
          </a:prstGeom>
          <a:solidFill>
            <a:srgbClr val="FBFBFF"/>
          </a:solidFill>
          <a:ln/>
        </p:spPr>
      </p:sp>
      <p:sp>
        <p:nvSpPr>
          <p:cNvPr id="26" name="Shape 24"/>
          <p:cNvSpPr/>
          <p:nvPr/>
        </p:nvSpPr>
        <p:spPr>
          <a:xfrm>
            <a:off x="3314700" y="1435608"/>
            <a:ext cx="548640" cy="73152"/>
          </a:xfrm>
          <a:prstGeom prst="roundRect">
            <a:avLst>
              <a:gd name="adj" fmla="val 50000"/>
            </a:avLst>
          </a:prstGeom>
          <a:solidFill>
            <a:srgbClr val="16161F"/>
          </a:solidFill>
          <a:ln/>
        </p:spPr>
      </p:sp>
      <p:sp>
        <p:nvSpPr>
          <p:cNvPr id="27" name="Shape 25"/>
          <p:cNvSpPr/>
          <p:nvPr/>
        </p:nvSpPr>
        <p:spPr>
          <a:xfrm>
            <a:off x="2788920" y="1600200"/>
            <a:ext cx="502920" cy="137160"/>
          </a:xfrm>
          <a:prstGeom prst="roundRect">
            <a:avLst>
              <a:gd name="adj" fmla="val 20000"/>
            </a:avLst>
          </a:prstGeom>
          <a:solidFill>
            <a:srgbClr val="ECEBFF"/>
          </a:solidFill>
          <a:ln w="9525">
            <a:solidFill>
              <a:srgbClr val="B3A8FF"/>
            </a:solidFill>
            <a:prstDash val="dash"/>
          </a:ln>
        </p:spPr>
      </p:sp>
      <p:sp>
        <p:nvSpPr>
          <p:cNvPr id="28" name="Shape 26"/>
          <p:cNvSpPr/>
          <p:nvPr/>
        </p:nvSpPr>
        <p:spPr>
          <a:xfrm>
            <a:off x="4206240" y="1618488"/>
            <a:ext cx="164592" cy="18288"/>
          </a:xfrm>
          <a:prstGeom prst="rect">
            <a:avLst/>
          </a:prstGeom>
          <a:solidFill>
            <a:srgbClr val="16161F"/>
          </a:solidFill>
          <a:ln/>
        </p:spPr>
      </p:sp>
      <p:sp>
        <p:nvSpPr>
          <p:cNvPr id="29" name="Shape 27"/>
          <p:cNvSpPr/>
          <p:nvPr/>
        </p:nvSpPr>
        <p:spPr>
          <a:xfrm>
            <a:off x="4206240" y="1664208"/>
            <a:ext cx="164592" cy="18288"/>
          </a:xfrm>
          <a:prstGeom prst="rect">
            <a:avLst/>
          </a:prstGeom>
          <a:solidFill>
            <a:srgbClr val="16161F"/>
          </a:solidFill>
          <a:ln/>
        </p:spPr>
      </p:sp>
      <p:sp>
        <p:nvSpPr>
          <p:cNvPr id="30" name="Shape 28"/>
          <p:cNvSpPr/>
          <p:nvPr/>
        </p:nvSpPr>
        <p:spPr>
          <a:xfrm>
            <a:off x="4206240" y="1709928"/>
            <a:ext cx="164592" cy="18288"/>
          </a:xfrm>
          <a:prstGeom prst="rect">
            <a:avLst/>
          </a:prstGeom>
          <a:solidFill>
            <a:srgbClr val="16161F"/>
          </a:solidFill>
          <a:ln/>
        </p:spPr>
      </p:sp>
      <p:sp>
        <p:nvSpPr>
          <p:cNvPr id="31" name="Shape 29"/>
          <p:cNvSpPr/>
          <p:nvPr/>
        </p:nvSpPr>
        <p:spPr>
          <a:xfrm>
            <a:off x="2788920" y="1874520"/>
            <a:ext cx="1600200" cy="731520"/>
          </a:xfrm>
          <a:prstGeom prst="roundRect">
            <a:avLst>
              <a:gd name="adj" fmla="val 7500"/>
            </a:avLst>
          </a:prstGeom>
          <a:solidFill>
            <a:srgbClr val="FFFFFF"/>
          </a:solidFill>
          <a:ln w="9525">
            <a:solidFill>
              <a:srgbClr val="E4E3EF"/>
            </a:solidFill>
            <a:prstDash val="solid"/>
          </a:ln>
        </p:spPr>
      </p:sp>
      <p:sp>
        <p:nvSpPr>
          <p:cNvPr id="32" name="Text 30"/>
          <p:cNvSpPr txBox="1"/>
          <p:nvPr/>
        </p:nvSpPr>
        <p:spPr>
          <a:xfrm>
            <a:off x="2843784" y="1874520"/>
            <a:ext cx="1490472" cy="73152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Breadcrumb · H1 · intro</a:t>
            </a:r>
            <a:endParaRPr lang="en-US" sz="700" dirty="0"/>
          </a:p>
        </p:txBody>
      </p:sp>
      <p:sp>
        <p:nvSpPr>
          <p:cNvPr id="33" name="Shape 31"/>
          <p:cNvSpPr/>
          <p:nvPr/>
        </p:nvSpPr>
        <p:spPr>
          <a:xfrm>
            <a:off x="2788920" y="2660904"/>
            <a:ext cx="1600200" cy="457200"/>
          </a:xfrm>
          <a:prstGeom prst="roundRect">
            <a:avLst>
              <a:gd name="adj" fmla="val 12000"/>
            </a:avLst>
          </a:prstGeom>
          <a:solidFill>
            <a:srgbClr val="ECEBFF"/>
          </a:solidFill>
          <a:ln w="9525">
            <a:solidFill>
              <a:srgbClr val="E4E3EF"/>
            </a:solidFill>
            <a:prstDash val="solid"/>
          </a:ln>
        </p:spPr>
      </p:sp>
      <p:sp>
        <p:nvSpPr>
          <p:cNvPr id="34" name="Text 32"/>
          <p:cNvSpPr txBox="1"/>
          <p:nvPr/>
        </p:nvSpPr>
        <p:spPr>
          <a:xfrm>
            <a:off x="2843784" y="2660904"/>
            <a:ext cx="1490472" cy="45720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Illustration</a:t>
            </a:r>
            <a:endParaRPr lang="en-US" sz="700" dirty="0"/>
          </a:p>
        </p:txBody>
      </p:sp>
      <p:sp>
        <p:nvSpPr>
          <p:cNvPr id="35" name="Shape 33"/>
          <p:cNvSpPr/>
          <p:nvPr/>
        </p:nvSpPr>
        <p:spPr>
          <a:xfrm>
            <a:off x="2788920" y="3172968"/>
            <a:ext cx="1600200" cy="411480"/>
          </a:xfrm>
          <a:prstGeom prst="roundRect">
            <a:avLst>
              <a:gd name="adj" fmla="val 13333"/>
            </a:avLst>
          </a:prstGeom>
          <a:solidFill>
            <a:srgbClr val="1B1B28"/>
          </a:solidFill>
          <a:ln/>
        </p:spPr>
      </p:sp>
      <p:sp>
        <p:nvSpPr>
          <p:cNvPr id="36" name="Text 34"/>
          <p:cNvSpPr txBox="1"/>
          <p:nvPr/>
        </p:nvSpPr>
        <p:spPr>
          <a:xfrm>
            <a:off x="2843784" y="3172968"/>
            <a:ext cx="1490472" cy="4114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Capability card</a:t>
            </a:r>
            <a:endParaRPr lang="en-US" sz="700" dirty="0"/>
          </a:p>
        </p:txBody>
      </p:sp>
      <p:sp>
        <p:nvSpPr>
          <p:cNvPr id="37" name="Shape 35"/>
          <p:cNvSpPr/>
          <p:nvPr/>
        </p:nvSpPr>
        <p:spPr>
          <a:xfrm>
            <a:off x="2788920" y="3639312"/>
            <a:ext cx="1600200" cy="411480"/>
          </a:xfrm>
          <a:prstGeom prst="roundRect">
            <a:avLst>
              <a:gd name="adj" fmla="val 13333"/>
            </a:avLst>
          </a:prstGeom>
          <a:solidFill>
            <a:srgbClr val="FFFFFF"/>
          </a:solidFill>
          <a:ln w="9525">
            <a:solidFill>
              <a:srgbClr val="E4E3EF"/>
            </a:solidFill>
            <a:prstDash val="solid"/>
          </a:ln>
        </p:spPr>
      </p:sp>
      <p:sp>
        <p:nvSpPr>
          <p:cNvPr id="38" name="Text 36"/>
          <p:cNvSpPr txBox="1"/>
          <p:nvPr/>
        </p:nvSpPr>
        <p:spPr>
          <a:xfrm>
            <a:off x="2843784" y="3639312"/>
            <a:ext cx="1490472" cy="41148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Capability card</a:t>
            </a:r>
            <a:endParaRPr lang="en-US" sz="700" dirty="0"/>
          </a:p>
        </p:txBody>
      </p:sp>
      <p:sp>
        <p:nvSpPr>
          <p:cNvPr id="39" name="Shape 37"/>
          <p:cNvSpPr/>
          <p:nvPr/>
        </p:nvSpPr>
        <p:spPr>
          <a:xfrm>
            <a:off x="2788920" y="4105656"/>
            <a:ext cx="1600200" cy="457200"/>
          </a:xfrm>
          <a:prstGeom prst="roundRect">
            <a:avLst>
              <a:gd name="adj" fmla="val 12000"/>
            </a:avLst>
          </a:prstGeom>
          <a:solidFill>
            <a:srgbClr val="F3F2FA"/>
          </a:solidFill>
          <a:ln w="9525">
            <a:solidFill>
              <a:srgbClr val="E4E3EF"/>
            </a:solidFill>
            <a:prstDash val="solid"/>
          </a:ln>
        </p:spPr>
      </p:sp>
      <p:sp>
        <p:nvSpPr>
          <p:cNvPr id="40" name="Text 38"/>
          <p:cNvSpPr txBox="1"/>
          <p:nvPr/>
        </p:nvSpPr>
        <p:spPr>
          <a:xfrm>
            <a:off x="2843784" y="4105656"/>
            <a:ext cx="1490472" cy="45720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Numbered / tick rows</a:t>
            </a:r>
            <a:endParaRPr lang="en-US" sz="700" dirty="0"/>
          </a:p>
        </p:txBody>
      </p:sp>
      <p:sp>
        <p:nvSpPr>
          <p:cNvPr id="41" name="Shape 39"/>
          <p:cNvSpPr/>
          <p:nvPr/>
        </p:nvSpPr>
        <p:spPr>
          <a:xfrm>
            <a:off x="2788920" y="4617720"/>
            <a:ext cx="1600200" cy="365760"/>
          </a:xfrm>
          <a:prstGeom prst="roundRect">
            <a:avLst>
              <a:gd name="adj" fmla="val 15000"/>
            </a:avLst>
          </a:prstGeom>
          <a:solidFill>
            <a:srgbClr val="1B1B28"/>
          </a:solidFill>
          <a:ln/>
        </p:spPr>
      </p:sp>
      <p:sp>
        <p:nvSpPr>
          <p:cNvPr id="42" name="Text 40"/>
          <p:cNvSpPr txBox="1"/>
          <p:nvPr/>
        </p:nvSpPr>
        <p:spPr>
          <a:xfrm>
            <a:off x="2843784" y="4617720"/>
            <a:ext cx="1490472"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CTA band</a:t>
            </a:r>
            <a:endParaRPr lang="en-US" sz="700" dirty="0"/>
          </a:p>
        </p:txBody>
      </p:sp>
      <p:sp>
        <p:nvSpPr>
          <p:cNvPr id="43" name="Text 41"/>
          <p:cNvSpPr txBox="1"/>
          <p:nvPr/>
        </p:nvSpPr>
        <p:spPr>
          <a:xfrm>
            <a:off x="2651760" y="5349240"/>
            <a:ext cx="1874520" cy="228600"/>
          </a:xfrm>
          <a:prstGeom prst="rect">
            <a:avLst/>
          </a:prstGeom>
          <a:noFill/>
          <a:ln/>
        </p:spPr>
        <p:txBody>
          <a:bodyPr wrap="square" lIns="0" tIns="0" rIns="0" bIns="0" rtlCol="0" anchor="t"/>
          <a:lstStyle/>
          <a:p>
            <a:pPr algn="ctr" indent="0" marL="0">
              <a:buNone/>
            </a:pPr>
            <a:r>
              <a:rPr lang="en-US" sz="1100" b="1" dirty="0">
                <a:solidFill>
                  <a:srgbClr val="16161F"/>
                </a:solidFill>
                <a:latin typeface="Calibri" pitchFamily="34" charset="0"/>
                <a:ea typeface="Calibri" pitchFamily="34" charset="-122"/>
                <a:cs typeface="Calibri" pitchFamily="34" charset="-120"/>
              </a:rPr>
              <a:t>VoIP / SMS</a:t>
            </a:r>
            <a:endParaRPr lang="en-US" sz="1100" dirty="0"/>
          </a:p>
        </p:txBody>
      </p:sp>
      <p:sp>
        <p:nvSpPr>
          <p:cNvPr id="44" name="Shape 42"/>
          <p:cNvSpPr/>
          <p:nvPr/>
        </p:nvSpPr>
        <p:spPr>
          <a:xfrm>
            <a:off x="4754880" y="1325880"/>
            <a:ext cx="1874520" cy="3931920"/>
          </a:xfrm>
          <a:prstGeom prst="roundRect">
            <a:avLst>
              <a:gd name="adj" fmla="val 13659"/>
            </a:avLst>
          </a:prstGeom>
          <a:solidFill>
            <a:srgbClr val="16161F"/>
          </a:solidFill>
          <a:ln/>
          <a:effectLst>
            <a:outerShdw sx="100000" sy="100000" kx="0" ky="0" algn="bl" rotWithShape="0" blurRad="101600" dist="25400" dir="5400000">
              <a:srgbClr val="28207A">
                <a:alpha val="12000"/>
              </a:srgbClr>
            </a:outerShdw>
          </a:effectLst>
        </p:spPr>
      </p:sp>
      <p:sp>
        <p:nvSpPr>
          <p:cNvPr id="45" name="Shape 43"/>
          <p:cNvSpPr/>
          <p:nvPr/>
        </p:nvSpPr>
        <p:spPr>
          <a:xfrm>
            <a:off x="4818888" y="1389888"/>
            <a:ext cx="1746504" cy="3803904"/>
          </a:xfrm>
          <a:prstGeom prst="roundRect">
            <a:avLst>
              <a:gd name="adj" fmla="val 11518"/>
            </a:avLst>
          </a:prstGeom>
          <a:solidFill>
            <a:srgbClr val="FBFBFF"/>
          </a:solidFill>
          <a:ln/>
        </p:spPr>
      </p:sp>
      <p:sp>
        <p:nvSpPr>
          <p:cNvPr id="46" name="Shape 44"/>
          <p:cNvSpPr/>
          <p:nvPr/>
        </p:nvSpPr>
        <p:spPr>
          <a:xfrm>
            <a:off x="5417820" y="1435608"/>
            <a:ext cx="548640" cy="73152"/>
          </a:xfrm>
          <a:prstGeom prst="roundRect">
            <a:avLst>
              <a:gd name="adj" fmla="val 50000"/>
            </a:avLst>
          </a:prstGeom>
          <a:solidFill>
            <a:srgbClr val="16161F"/>
          </a:solidFill>
          <a:ln/>
        </p:spPr>
      </p:sp>
      <p:sp>
        <p:nvSpPr>
          <p:cNvPr id="47" name="Shape 45"/>
          <p:cNvSpPr/>
          <p:nvPr/>
        </p:nvSpPr>
        <p:spPr>
          <a:xfrm>
            <a:off x="4892040" y="1600200"/>
            <a:ext cx="502920" cy="137160"/>
          </a:xfrm>
          <a:prstGeom prst="roundRect">
            <a:avLst>
              <a:gd name="adj" fmla="val 20000"/>
            </a:avLst>
          </a:prstGeom>
          <a:solidFill>
            <a:srgbClr val="ECEBFF"/>
          </a:solidFill>
          <a:ln w="9525">
            <a:solidFill>
              <a:srgbClr val="B3A8FF"/>
            </a:solidFill>
            <a:prstDash val="dash"/>
          </a:ln>
        </p:spPr>
      </p:sp>
      <p:sp>
        <p:nvSpPr>
          <p:cNvPr id="48" name="Shape 46"/>
          <p:cNvSpPr/>
          <p:nvPr/>
        </p:nvSpPr>
        <p:spPr>
          <a:xfrm>
            <a:off x="6309360" y="1618488"/>
            <a:ext cx="164592" cy="18288"/>
          </a:xfrm>
          <a:prstGeom prst="rect">
            <a:avLst/>
          </a:prstGeom>
          <a:solidFill>
            <a:srgbClr val="16161F"/>
          </a:solidFill>
          <a:ln/>
        </p:spPr>
      </p:sp>
      <p:sp>
        <p:nvSpPr>
          <p:cNvPr id="49" name="Shape 47"/>
          <p:cNvSpPr/>
          <p:nvPr/>
        </p:nvSpPr>
        <p:spPr>
          <a:xfrm>
            <a:off x="6309360" y="1664208"/>
            <a:ext cx="164592" cy="18288"/>
          </a:xfrm>
          <a:prstGeom prst="rect">
            <a:avLst/>
          </a:prstGeom>
          <a:solidFill>
            <a:srgbClr val="16161F"/>
          </a:solidFill>
          <a:ln/>
        </p:spPr>
      </p:sp>
      <p:sp>
        <p:nvSpPr>
          <p:cNvPr id="50" name="Shape 48"/>
          <p:cNvSpPr/>
          <p:nvPr/>
        </p:nvSpPr>
        <p:spPr>
          <a:xfrm>
            <a:off x="6309360" y="1709928"/>
            <a:ext cx="164592" cy="18288"/>
          </a:xfrm>
          <a:prstGeom prst="rect">
            <a:avLst/>
          </a:prstGeom>
          <a:solidFill>
            <a:srgbClr val="16161F"/>
          </a:solidFill>
          <a:ln/>
        </p:spPr>
      </p:sp>
      <p:sp>
        <p:nvSpPr>
          <p:cNvPr id="51" name="Shape 49"/>
          <p:cNvSpPr/>
          <p:nvPr/>
        </p:nvSpPr>
        <p:spPr>
          <a:xfrm>
            <a:off x="4892040" y="1874520"/>
            <a:ext cx="1600200" cy="411480"/>
          </a:xfrm>
          <a:prstGeom prst="roundRect">
            <a:avLst>
              <a:gd name="adj" fmla="val 13333"/>
            </a:avLst>
          </a:prstGeom>
          <a:solidFill>
            <a:srgbClr val="FFFFFF"/>
          </a:solidFill>
          <a:ln w="9525">
            <a:solidFill>
              <a:srgbClr val="E4E3EF"/>
            </a:solidFill>
            <a:prstDash val="solid"/>
          </a:ln>
        </p:spPr>
      </p:sp>
      <p:sp>
        <p:nvSpPr>
          <p:cNvPr id="52" name="Text 50"/>
          <p:cNvSpPr txBox="1"/>
          <p:nvPr/>
        </p:nvSpPr>
        <p:spPr>
          <a:xfrm>
            <a:off x="4946904" y="1874520"/>
            <a:ext cx="1490472" cy="41148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Heading</a:t>
            </a:r>
            <a:endParaRPr lang="en-US" sz="700" dirty="0"/>
          </a:p>
        </p:txBody>
      </p:sp>
      <p:sp>
        <p:nvSpPr>
          <p:cNvPr id="53" name="Shape 51"/>
          <p:cNvSpPr/>
          <p:nvPr/>
        </p:nvSpPr>
        <p:spPr>
          <a:xfrm>
            <a:off x="4892040" y="2340864"/>
            <a:ext cx="1600200" cy="274320"/>
          </a:xfrm>
          <a:prstGeom prst="roundRect">
            <a:avLst>
              <a:gd name="adj" fmla="val 20000"/>
            </a:avLst>
          </a:prstGeom>
          <a:solidFill>
            <a:srgbClr val="F3F2FA"/>
          </a:solidFill>
          <a:ln w="9525">
            <a:solidFill>
              <a:srgbClr val="E4E3EF"/>
            </a:solidFill>
            <a:prstDash val="solid"/>
          </a:ln>
        </p:spPr>
      </p:sp>
      <p:sp>
        <p:nvSpPr>
          <p:cNvPr id="54" name="Text 52"/>
          <p:cNvSpPr txBox="1"/>
          <p:nvPr/>
        </p:nvSpPr>
        <p:spPr>
          <a:xfrm>
            <a:off x="4946904" y="2340864"/>
            <a:ext cx="1490472" cy="27432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Type toggle (scrolls)</a:t>
            </a:r>
            <a:endParaRPr lang="en-US" sz="700" dirty="0"/>
          </a:p>
        </p:txBody>
      </p:sp>
      <p:sp>
        <p:nvSpPr>
          <p:cNvPr id="55" name="Shape 53"/>
          <p:cNvSpPr/>
          <p:nvPr/>
        </p:nvSpPr>
        <p:spPr>
          <a:xfrm>
            <a:off x="4892040" y="2670048"/>
            <a:ext cx="1600200" cy="960120"/>
          </a:xfrm>
          <a:prstGeom prst="roundRect">
            <a:avLst>
              <a:gd name="adj" fmla="val 5714"/>
            </a:avLst>
          </a:prstGeom>
          <a:solidFill>
            <a:srgbClr val="FFFFFF"/>
          </a:solidFill>
          <a:ln w="9525">
            <a:solidFill>
              <a:srgbClr val="E4E3EF"/>
            </a:solidFill>
            <a:prstDash val="solid"/>
          </a:ln>
        </p:spPr>
      </p:sp>
      <p:sp>
        <p:nvSpPr>
          <p:cNvPr id="56" name="Text 54"/>
          <p:cNvSpPr txBox="1"/>
          <p:nvPr/>
        </p:nvSpPr>
        <p:spPr>
          <a:xfrm>
            <a:off x="4946904" y="2670048"/>
            <a:ext cx="1490472" cy="960120"/>
          </a:xfrm>
          <a:prstGeom prst="rect">
            <a:avLst/>
          </a:prstGeom>
          <a:noFill/>
          <a:ln/>
        </p:spPr>
        <p:txBody>
          <a:bodyPr wrap="square" lIns="0" tIns="0" rIns="0" bIns="0" rtlCol="0" anchor="ctr"/>
          <a:lstStyle/>
          <a:p>
            <a:pPr algn="ctr" indent="0" marL="0">
              <a:buNone/>
            </a:pPr>
            <a:r>
              <a:rPr lang="en-US" sz="700" b="1" dirty="0">
                <a:solidFill>
                  <a:srgbClr val="5F6075"/>
                </a:solidFill>
                <a:latin typeface="Calibri" pitchFamily="34" charset="0"/>
                <a:ea typeface="Calibri" pitchFamily="34" charset="-122"/>
                <a:cs typeface="Calibri" pitchFamily="34" charset="-120"/>
              </a:rPr>
              <a:t>Fields, one per row</a:t>
            </a:r>
            <a:endParaRPr lang="en-US" sz="700" dirty="0"/>
          </a:p>
        </p:txBody>
      </p:sp>
      <p:sp>
        <p:nvSpPr>
          <p:cNvPr id="57" name="Shape 55"/>
          <p:cNvSpPr/>
          <p:nvPr/>
        </p:nvSpPr>
        <p:spPr>
          <a:xfrm>
            <a:off x="4892040" y="3685032"/>
            <a:ext cx="1600200" cy="274320"/>
          </a:xfrm>
          <a:prstGeom prst="roundRect">
            <a:avLst>
              <a:gd name="adj" fmla="val 20000"/>
            </a:avLst>
          </a:prstGeom>
          <a:solidFill>
            <a:srgbClr val="7B6CF6"/>
          </a:solidFill>
          <a:ln/>
        </p:spPr>
      </p:sp>
      <p:sp>
        <p:nvSpPr>
          <p:cNvPr id="58" name="Text 56"/>
          <p:cNvSpPr txBox="1"/>
          <p:nvPr/>
        </p:nvSpPr>
        <p:spPr>
          <a:xfrm>
            <a:off x="4946904" y="3685032"/>
            <a:ext cx="1490472"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Send Enquiry (full width)</a:t>
            </a:r>
            <a:endParaRPr lang="en-US" sz="700" dirty="0"/>
          </a:p>
        </p:txBody>
      </p:sp>
      <p:sp>
        <p:nvSpPr>
          <p:cNvPr id="59" name="Shape 57"/>
          <p:cNvSpPr/>
          <p:nvPr/>
        </p:nvSpPr>
        <p:spPr>
          <a:xfrm>
            <a:off x="4892040" y="4014216"/>
            <a:ext cx="1600200" cy="777240"/>
          </a:xfrm>
          <a:prstGeom prst="roundRect">
            <a:avLst>
              <a:gd name="adj" fmla="val 7059"/>
            </a:avLst>
          </a:prstGeom>
          <a:solidFill>
            <a:srgbClr val="1B1B28"/>
          </a:solidFill>
          <a:ln/>
        </p:spPr>
      </p:sp>
      <p:sp>
        <p:nvSpPr>
          <p:cNvPr id="60" name="Text 58"/>
          <p:cNvSpPr txBox="1"/>
          <p:nvPr/>
        </p:nvSpPr>
        <p:spPr>
          <a:xfrm>
            <a:off x="4946904" y="4014216"/>
            <a:ext cx="1490472" cy="77724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Tap-to-call / email info card</a:t>
            </a:r>
            <a:endParaRPr lang="en-US" sz="700" dirty="0"/>
          </a:p>
        </p:txBody>
      </p:sp>
      <p:sp>
        <p:nvSpPr>
          <p:cNvPr id="61" name="Text 59"/>
          <p:cNvSpPr txBox="1"/>
          <p:nvPr/>
        </p:nvSpPr>
        <p:spPr>
          <a:xfrm>
            <a:off x="4754880" y="5349240"/>
            <a:ext cx="1874520" cy="228600"/>
          </a:xfrm>
          <a:prstGeom prst="rect">
            <a:avLst/>
          </a:prstGeom>
          <a:noFill/>
          <a:ln/>
        </p:spPr>
        <p:txBody>
          <a:bodyPr wrap="square" lIns="0" tIns="0" rIns="0" bIns="0" rtlCol="0" anchor="t"/>
          <a:lstStyle/>
          <a:p>
            <a:pPr algn="ctr" indent="0" marL="0">
              <a:buNone/>
            </a:pPr>
            <a:r>
              <a:rPr lang="en-US" sz="1100" b="1" dirty="0">
                <a:solidFill>
                  <a:srgbClr val="16161F"/>
                </a:solidFill>
                <a:latin typeface="Calibri" pitchFamily="34" charset="0"/>
                <a:ea typeface="Calibri" pitchFamily="34" charset="-122"/>
                <a:cs typeface="Calibri" pitchFamily="34" charset="-120"/>
              </a:rPr>
              <a:t>Contact Us</a:t>
            </a:r>
            <a:endParaRPr lang="en-US" sz="1100" dirty="0"/>
          </a:p>
        </p:txBody>
      </p:sp>
      <p:sp>
        <p:nvSpPr>
          <p:cNvPr id="62" name="Shape 60"/>
          <p:cNvSpPr/>
          <p:nvPr/>
        </p:nvSpPr>
        <p:spPr>
          <a:xfrm>
            <a:off x="7040880" y="1325880"/>
            <a:ext cx="4617720" cy="4937760"/>
          </a:xfrm>
          <a:prstGeom prst="roundRect">
            <a:avLst>
              <a:gd name="adj" fmla="val 3564"/>
            </a:avLst>
          </a:prstGeom>
          <a:solidFill>
            <a:srgbClr val="F3F2FA"/>
          </a:solidFill>
          <a:ln/>
        </p:spPr>
      </p:sp>
      <p:sp>
        <p:nvSpPr>
          <p:cNvPr id="63" name="Text 61"/>
          <p:cNvSpPr txBox="1"/>
          <p:nvPr/>
        </p:nvSpPr>
        <p:spPr>
          <a:xfrm>
            <a:off x="7269480" y="1508760"/>
            <a:ext cx="3657600" cy="32004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Recommendations</a:t>
            </a:r>
            <a:endParaRPr lang="en-US" sz="1500" dirty="0"/>
          </a:p>
        </p:txBody>
      </p:sp>
      <p:sp>
        <p:nvSpPr>
          <p:cNvPr id="64" name="Text 62"/>
          <p:cNvSpPr txBox="1"/>
          <p:nvPr/>
        </p:nvSpPr>
        <p:spPr>
          <a:xfrm>
            <a:off x="7269480" y="1920240"/>
            <a:ext cx="4206240" cy="42062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Mobile-first build; test at 360, 390, 768, 1024 and 1440px</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Touch targets ≥ 44px; primary CTA reachable without zooming</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Services dropdown becomes an expandable item in the mobile menu</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Contact details use tap-to-call and tap-to-email</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Illustrations as lightweight SVG; photos as WebP with lazy loading</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Heavy parallax/animation off on touch devices and for reduced-motion users</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Hero headline scales fluidly (clamp) so it never wraps awkwardly</a:t>
            </a:r>
            <a:endParaRPr lang="en-US" sz="1250" dirty="0"/>
          </a:p>
          <a:p>
            <a:pPr marL="152400" indent="-152400">
              <a:spcAft>
                <a:spcPts val="600"/>
              </a:spcAft>
              <a:buSzPct val="100000"/>
              <a:buChar char="•"/>
            </a:pPr>
            <a:r>
              <a:rPr lang="en-US" sz="1250" dirty="0">
                <a:solidFill>
                  <a:srgbClr val="16161F"/>
                </a:solidFill>
                <a:latin typeface="Calibri" pitchFamily="34" charset="0"/>
                <a:ea typeface="Calibri" pitchFamily="34" charset="-122"/>
                <a:cs typeface="Calibri" pitchFamily="34" charset="-120"/>
              </a:rPr>
              <a:t>WCAG 2.1 AA contrast; visible focus states for keyboard users</a:t>
            </a:r>
            <a:endParaRPr lang="en-US" sz="125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SEO groundwork</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SEO &amp; TECHNICAL</a:t>
            </a:r>
            <a:endParaRPr lang="en-US" sz="10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1143000"/>
                <a:gridCol w="3611880"/>
                <a:gridCol w="283464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Page</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Proposed title tag ✱</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Primary terms (from the document)</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Home</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Omaginfo LLC | Global Voice &amp; Messaging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international voice termination, VoIP, SMS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About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About Omaginfo LLC | Global Connectivity. Trusted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telecommunications company, telecom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Services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Our Services | VoIP, SMS Routing &amp; Direct Routes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SMS routing, direct route solutions, global telecom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VoIP</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VoIP &amp; International Voice Termination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A–Z voice termination, international voice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SMS Connectivity &amp; A2P Messaging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A2P SMS, international SMS aggregators, direct SMS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Contact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Contact Omaginfo LLC | Partner with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050" dirty="0">
                          <a:solidFill>
                            <a:srgbClr val="16161F"/>
                          </a:solidFill>
                          <a:latin typeface="Calibri" pitchFamily="34" charset="0"/>
                          <a:ea typeface="Calibri" pitchFamily="34" charset="-122"/>
                          <a:cs typeface="Calibri" pitchFamily="34" charset="-120"/>
                        </a:rPr>
                        <a:t>Omaginfo LLC contact</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bl>
          </a:graphicData>
        </a:graphic>
      </p:graphicFrame>
      <p:sp>
        <p:nvSpPr>
          <p:cNvPr id="5" name="Shape 2"/>
          <p:cNvSpPr/>
          <p:nvPr/>
        </p:nvSpPr>
        <p:spPr>
          <a:xfrm>
            <a:off x="8412480" y="1325880"/>
            <a:ext cx="3246120" cy="4937760"/>
          </a:xfrm>
          <a:prstGeom prst="roundRect">
            <a:avLst>
              <a:gd name="adj" fmla="val 5070"/>
            </a:avLst>
          </a:prstGeom>
          <a:solidFill>
            <a:srgbClr val="F3F2FA"/>
          </a:solidFill>
          <a:ln/>
        </p:spPr>
      </p:sp>
      <p:sp>
        <p:nvSpPr>
          <p:cNvPr id="6" name="Text 3"/>
          <p:cNvSpPr txBox="1"/>
          <p:nvPr/>
        </p:nvSpPr>
        <p:spPr>
          <a:xfrm>
            <a:off x="8641080" y="1508760"/>
            <a:ext cx="2743200" cy="320040"/>
          </a:xfrm>
          <a:prstGeom prst="rect">
            <a:avLst/>
          </a:prstGeom>
          <a:noFill/>
          <a:ln/>
        </p:spPr>
        <p:txBody>
          <a:bodyPr wrap="square" lIns="0" tIns="0" rIns="0" bIns="0" rtlCol="0" anchor="t"/>
          <a:lstStyle/>
          <a:p>
            <a:pPr indent="0" marL="0">
              <a:buNone/>
            </a:pPr>
            <a:r>
              <a:rPr lang="en-US" sz="1500" b="1" dirty="0">
                <a:solidFill>
                  <a:srgbClr val="16161F"/>
                </a:solidFill>
                <a:latin typeface="Calibri" pitchFamily="34" charset="0"/>
                <a:ea typeface="Calibri" pitchFamily="34" charset="-122"/>
                <a:cs typeface="Calibri" pitchFamily="34" charset="-120"/>
              </a:rPr>
              <a:t>Technical basics</a:t>
            </a:r>
            <a:endParaRPr lang="en-US" sz="1500" dirty="0"/>
          </a:p>
        </p:txBody>
      </p:sp>
      <p:sp>
        <p:nvSpPr>
          <p:cNvPr id="7" name="Text 4"/>
          <p:cNvSpPr txBox="1"/>
          <p:nvPr/>
        </p:nvSpPr>
        <p:spPr>
          <a:xfrm>
            <a:off x="8641080" y="1920240"/>
            <a:ext cx="2880360" cy="42062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Target region: Global (as supplied)</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Unique meta description per page</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One H1 per page; clean URLs (/services/voip)</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Organization schema with address, phone, LinkedIn</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XML sitemap, robots.txt, HTTPS</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Google Search Console + analytics (access TBC)</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Fast loading: SVG art, compressed images</a:t>
            </a:r>
            <a:endParaRPr lang="en-US" sz="1200" dirty="0"/>
          </a:p>
        </p:txBody>
      </p:sp>
      <p:sp>
        <p:nvSpPr>
          <p:cNvPr id="8" name="Text 5"/>
          <p:cNvSpPr txBox="1"/>
          <p:nvPr/>
        </p:nvSpPr>
        <p:spPr>
          <a:xfrm>
            <a:off x="548640" y="4846320"/>
            <a:ext cx="7589520" cy="640080"/>
          </a:xfrm>
          <a:prstGeom prst="rect">
            <a:avLst/>
          </a:prstGeom>
          <a:noFill/>
          <a:ln/>
        </p:spPr>
        <p:txBody>
          <a:bodyPr wrap="square" lIns="0" tIns="0" rIns="0" bIns="0" rtlCol="0" anchor="t"/>
          <a:lstStyle/>
          <a:p>
            <a:pPr indent="0" marL="0">
              <a:buNone/>
            </a:pPr>
            <a:r>
              <a:rPr lang="en-US" sz="1100" i="1" dirty="0">
                <a:solidFill>
                  <a:srgbClr val="5F6075"/>
                </a:solidFill>
                <a:latin typeface="Calibri" pitchFamily="34" charset="0"/>
                <a:ea typeface="Calibri" pitchFamily="34" charset="-122"/>
                <a:cs typeface="Calibri" pitchFamily="34" charset="-120"/>
              </a:rPr>
              <a:t>Only 'Global' was supplied for keywords/regions; the terms above come from the client's own service wording. Additional keywords or priority countries to be confirmed.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Assets we need from you</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FOR CLIENT APPROVAL</a:t>
            </a:r>
            <a:endParaRPr lang="en-US" sz="10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a:tblGrid>
                <a:gridCol w="411480"/>
                <a:gridCol w="5852160"/>
                <a:gridCol w="3474720"/>
                <a:gridCol w="137160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Asset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Used on</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Logo — vector (SVG/AI/EPS), full-colour and white versions; favicon</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Navbar, footer, browser tab</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b="1" dirty="0">
                          <a:solidFill>
                            <a:srgbClr val="E5484D"/>
                          </a:solidFill>
                          <a:latin typeface="Calibri" pitchFamily="34" charset="0"/>
                          <a:ea typeface="Calibri" pitchFamily="34" charset="-122"/>
                          <a:cs typeface="Calibri" pitchFamily="34" charset="-120"/>
                        </a:rPr>
                        <a:t>Required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Brand colours and fonts (if any exist)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Whole site (else sample palette is used)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b="1" dirty="0">
                          <a:solidFill>
                            <a:srgbClr val="A0561C"/>
                          </a:solidFill>
                          <a:latin typeface="Calibri" pitchFamily="34" charset="0"/>
                          <a:ea typeface="Calibri" pitchFamily="34" charset="-122"/>
                          <a:cs typeface="Calibri" pitchFamily="34" charset="-120"/>
                        </a:rPr>
                        <a:t>Confirm</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Professional headshots of Gaurav Goyal and Aastha Gupta</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About Us – Leadership</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b="1" dirty="0">
                          <a:solidFill>
                            <a:srgbClr val="E5484D"/>
                          </a:solidFill>
                          <a:latin typeface="Calibri" pitchFamily="34" charset="0"/>
                          <a:ea typeface="Calibri" pitchFamily="34" charset="-122"/>
                          <a:cs typeface="Calibri" pitchFamily="34" charset="-120"/>
                        </a:rPr>
                        <a:t>Required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Founders' LinkedIn profile URLs and (optional) public emails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Founder cards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b="1" dirty="0">
                          <a:solidFill>
                            <a:srgbClr val="E5484D"/>
                          </a:solidFill>
                          <a:latin typeface="Calibri" pitchFamily="34" charset="0"/>
                          <a:ea typeface="Calibri" pitchFamily="34" charset="-122"/>
                          <a:cs typeface="Calibri" pitchFamily="34" charset="-120"/>
                        </a:rPr>
                        <a:t>Required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Optional founder quotes and years of experience</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Founder cards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b="1" dirty="0">
                          <a:solidFill>
                            <a:srgbClr val="5F6075"/>
                          </a:solidFill>
                          <a:latin typeface="Calibri" pitchFamily="34" charset="0"/>
                          <a:ea typeface="Calibri" pitchFamily="34" charset="-122"/>
                          <a:cs typeface="Calibri" pitchFamily="34" charset="-120"/>
                        </a:rPr>
                        <a:t>Optional</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Verified figures, if you want a stats row (e.g. destinations, partners)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Home hero, About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b="1" dirty="0">
                          <a:solidFill>
                            <a:srgbClr val="5F6075"/>
                          </a:solidFill>
                          <a:latin typeface="Calibri" pitchFamily="34" charset="0"/>
                          <a:ea typeface="Calibri" pitchFamily="34" charset="-122"/>
                          <a:cs typeface="Calibri" pitchFamily="34" charset="-120"/>
                        </a:rPr>
                        <a:t>Optional</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Founding year and milestones for a timeline</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About Us – Our Story</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b="1" dirty="0">
                          <a:solidFill>
                            <a:srgbClr val="5F6075"/>
                          </a:solidFill>
                          <a:latin typeface="Calibri" pitchFamily="34" charset="0"/>
                          <a:ea typeface="Calibri" pitchFamily="34" charset="-122"/>
                          <a:cs typeface="Calibri" pitchFamily="34" charset="-120"/>
                        </a:rPr>
                        <a:t>Optional</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Privacy Policy and Terms of Use text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Footer links, form consent</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b="1" dirty="0">
                          <a:solidFill>
                            <a:srgbClr val="E5484D"/>
                          </a:solidFill>
                          <a:latin typeface="Calibri" pitchFamily="34" charset="0"/>
                          <a:ea typeface="Calibri" pitchFamily="34" charset="-122"/>
                          <a:cs typeface="Calibri" pitchFamily="34" charset="-120"/>
                        </a:rPr>
                        <a:t>Required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Any certifications or partner logos — only with written permission</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Home / About (if supplied)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indent="0" marL="0">
                        <a:buNone/>
                      </a:pPr>
                      <a:r>
                        <a:rPr lang="en-US" sz="1150" b="1" dirty="0">
                          <a:solidFill>
                            <a:srgbClr val="5F6075"/>
                          </a:solidFill>
                          <a:latin typeface="Calibri" pitchFamily="34" charset="0"/>
                          <a:ea typeface="Calibri" pitchFamily="34" charset="-122"/>
                          <a:cs typeface="Calibri" pitchFamily="34" charset="-120"/>
                        </a:rPr>
                        <a:t>Optional</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Approval of illustration style (isometric SVG, sample-based)</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dirty="0">
                          <a:solidFill>
                            <a:srgbClr val="16161F"/>
                          </a:solidFill>
                          <a:latin typeface="Calibri" pitchFamily="34" charset="0"/>
                          <a:ea typeface="Calibri" pitchFamily="34" charset="-122"/>
                          <a:cs typeface="Calibri" pitchFamily="34" charset="-120"/>
                        </a:rPr>
                        <a:t>Hero and page headers</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indent="0" marL="0">
                        <a:buNone/>
                      </a:pPr>
                      <a:r>
                        <a:rPr lang="en-US" sz="1150" b="1" dirty="0">
                          <a:solidFill>
                            <a:srgbClr val="7B6CF6"/>
                          </a:solidFill>
                          <a:latin typeface="Calibri" pitchFamily="34" charset="0"/>
                          <a:ea typeface="Calibri" pitchFamily="34" charset="-122"/>
                          <a:cs typeface="Calibri" pitchFamily="34" charset="-120"/>
                        </a:rPr>
                        <a:t>Approve</a:t>
                      </a:r>
                      <a:endParaRPr lang="en-US" sz="1150" dirty="0">
                        <a:latin typeface="Calibri" charset="0"/>
                        <a:ea typeface="Calibri" charset="0"/>
                        <a:cs typeface="Calibri" charset="0"/>
                      </a:endParaRPr>
                    </a:p>
                  </a:txBody>
                  <a:tcPr marL="54864" marR="54864" marT="54864" marB="54864">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r>
            </a:tbl>
          </a:graphicData>
        </a:graphic>
      </p:graphicFrame>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lIns="0" tIns="0" rIns="0" bIns="0" rtlCol="0" anchor="ctr"/>
          <a:lstStyle/>
          <a:p>
            <a:pPr algn="l" indent="0" marL="0">
              <a:buNone/>
            </a:pPr>
            <a:r>
              <a:rPr lang="en-US" sz="2800" b="1" dirty="0">
                <a:solidFill>
                  <a:srgbClr val="16161F"/>
                </a:solidFill>
                <a:latin typeface="Calibri" pitchFamily="34" charset="0"/>
                <a:ea typeface="Calibri" pitchFamily="34" charset="-122"/>
                <a:cs typeface="Calibri" pitchFamily="34" charset="-120"/>
              </a:rPr>
              <a:t>Information to confirm before design starts</a:t>
            </a:r>
            <a:endParaRPr lang="en-US" sz="2800" dirty="0"/>
          </a:p>
        </p:txBody>
      </p:sp>
      <p:sp>
        <p:nvSpPr>
          <p:cNvPr id="3" name="Text 1"/>
          <p:cNvSpPr txBox="1"/>
          <p:nvPr/>
        </p:nvSpPr>
        <p:spPr>
          <a:xfrm>
            <a:off x="548640" y="246888"/>
            <a:ext cx="9144000" cy="228600"/>
          </a:xfrm>
          <a:prstGeom prst="rect">
            <a:avLst/>
          </a:prstGeom>
          <a:noFill/>
          <a:ln/>
        </p:spPr>
        <p:txBody>
          <a:bodyPr wrap="square" lIns="0" tIns="0" rIns="0" bIns="0" rtlCol="0" anchor="t"/>
          <a:lstStyle/>
          <a:p>
            <a:pPr indent="0" marL="0">
              <a:buNone/>
            </a:pPr>
            <a:r>
              <a:rPr lang="en-US" sz="1050" b="1" spc="200" kern="0" dirty="0">
                <a:solidFill>
                  <a:srgbClr val="7B6CF6"/>
                </a:solidFill>
                <a:latin typeface="Calibri" pitchFamily="34" charset="0"/>
                <a:ea typeface="Calibri" pitchFamily="34" charset="-122"/>
                <a:cs typeface="Calibri" pitchFamily="34" charset="-120"/>
              </a:rPr>
              <a:t>FOR CLIENT APPROVAL</a:t>
            </a:r>
            <a:endParaRPr lang="en-US" sz="1050" dirty="0"/>
          </a:p>
        </p:txBody>
      </p:sp>
      <p:sp>
        <p:nvSpPr>
          <p:cNvPr id="4" name="Shape 2"/>
          <p:cNvSpPr/>
          <p:nvPr/>
        </p:nvSpPr>
        <p:spPr>
          <a:xfrm>
            <a:off x="548640" y="1325880"/>
            <a:ext cx="5440680" cy="1143000"/>
          </a:xfrm>
          <a:prstGeom prst="roundRect">
            <a:avLst>
              <a:gd name="adj" fmla="val 11200"/>
            </a:avLst>
          </a:prstGeom>
          <a:solidFill>
            <a:srgbClr val="FDF3E7"/>
          </a:solidFill>
          <a:ln/>
        </p:spPr>
      </p:sp>
      <p:sp>
        <p:nvSpPr>
          <p:cNvPr id="5" name="Shape 3"/>
          <p:cNvSpPr/>
          <p:nvPr/>
        </p:nvSpPr>
        <p:spPr>
          <a:xfrm>
            <a:off x="731520" y="1527048"/>
            <a:ext cx="438912" cy="438912"/>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41248" y="1636776"/>
            <a:ext cx="219456" cy="219456"/>
          </a:xfrm>
          <a:prstGeom prst="rect">
            <a:avLst/>
          </a:prstGeom>
        </p:spPr>
      </p:pic>
      <p:sp>
        <p:nvSpPr>
          <p:cNvPr id="7" name="Text 4"/>
          <p:cNvSpPr txBox="1"/>
          <p:nvPr/>
        </p:nvSpPr>
        <p:spPr>
          <a:xfrm>
            <a:off x="1325880" y="1453896"/>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Address ZIP code</a:t>
            </a:r>
            <a:endParaRPr lang="en-US" sz="1300" dirty="0"/>
          </a:p>
        </p:txBody>
      </p:sp>
      <p:sp>
        <p:nvSpPr>
          <p:cNvPr id="8" name="Text 5"/>
          <p:cNvSpPr txBox="1"/>
          <p:nvPr/>
        </p:nvSpPr>
        <p:spPr>
          <a:xfrm>
            <a:off x="1325880" y="1737360"/>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Supplied as 'Sheridan, Wyoming, USA 8280'. US ZIP codes have five digits, so this looks incomplete — please confirm the exact code. Also confirm you want it shown publicly and on a map.</a:t>
            </a:r>
            <a:endParaRPr lang="en-US" sz="1100" dirty="0"/>
          </a:p>
        </p:txBody>
      </p:sp>
      <p:sp>
        <p:nvSpPr>
          <p:cNvPr id="9" name="Shape 6"/>
          <p:cNvSpPr/>
          <p:nvPr/>
        </p:nvSpPr>
        <p:spPr>
          <a:xfrm>
            <a:off x="6172200" y="1325880"/>
            <a:ext cx="5440680" cy="1143000"/>
          </a:xfrm>
          <a:prstGeom prst="roundRect">
            <a:avLst>
              <a:gd name="adj" fmla="val 11200"/>
            </a:avLst>
          </a:prstGeom>
          <a:solidFill>
            <a:srgbClr val="F3F2FA"/>
          </a:solidFill>
          <a:ln/>
        </p:spPr>
      </p:sp>
      <p:sp>
        <p:nvSpPr>
          <p:cNvPr id="10" name="Shape 7"/>
          <p:cNvSpPr/>
          <p:nvPr/>
        </p:nvSpPr>
        <p:spPr>
          <a:xfrm>
            <a:off x="6355080" y="1527048"/>
            <a:ext cx="438912" cy="438912"/>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464808" y="1636776"/>
            <a:ext cx="219456" cy="219456"/>
          </a:xfrm>
          <a:prstGeom prst="rect">
            <a:avLst/>
          </a:prstGeom>
        </p:spPr>
      </p:pic>
      <p:sp>
        <p:nvSpPr>
          <p:cNvPr id="12" name="Text 8"/>
          <p:cNvSpPr txBox="1"/>
          <p:nvPr/>
        </p:nvSpPr>
        <p:spPr>
          <a:xfrm>
            <a:off x="6949440" y="1453896"/>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Business hours &amp; time zone</a:t>
            </a:r>
            <a:endParaRPr lang="en-US" sz="1300" dirty="0"/>
          </a:p>
        </p:txBody>
      </p:sp>
      <p:sp>
        <p:nvSpPr>
          <p:cNvPr id="13" name="Text 9"/>
          <p:cNvSpPr txBox="1"/>
          <p:nvPr/>
        </p:nvSpPr>
        <p:spPr>
          <a:xfrm>
            <a:off x="6949440" y="1737360"/>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Not supplied. Shown on Contact Us only if provided; otherwise the line is removed.</a:t>
            </a:r>
            <a:endParaRPr lang="en-US" sz="1100" dirty="0"/>
          </a:p>
        </p:txBody>
      </p:sp>
      <p:sp>
        <p:nvSpPr>
          <p:cNvPr id="14" name="Shape 10"/>
          <p:cNvSpPr/>
          <p:nvPr/>
        </p:nvSpPr>
        <p:spPr>
          <a:xfrm>
            <a:off x="548640" y="2578608"/>
            <a:ext cx="5440680" cy="1143000"/>
          </a:xfrm>
          <a:prstGeom prst="roundRect">
            <a:avLst>
              <a:gd name="adj" fmla="val 11200"/>
            </a:avLst>
          </a:prstGeom>
          <a:solidFill>
            <a:srgbClr val="F3F2FA"/>
          </a:solidFill>
          <a:ln/>
        </p:spPr>
      </p:sp>
      <p:sp>
        <p:nvSpPr>
          <p:cNvPr id="15" name="Shape 11"/>
          <p:cNvSpPr/>
          <p:nvPr/>
        </p:nvSpPr>
        <p:spPr>
          <a:xfrm>
            <a:off x="731520" y="2779776"/>
            <a:ext cx="438912" cy="438912"/>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41248" y="2889504"/>
            <a:ext cx="219456" cy="219456"/>
          </a:xfrm>
          <a:prstGeom prst="rect">
            <a:avLst/>
          </a:prstGeom>
        </p:spPr>
      </p:pic>
      <p:sp>
        <p:nvSpPr>
          <p:cNvPr id="17" name="Text 12"/>
          <p:cNvSpPr txBox="1"/>
          <p:nvPr/>
        </p:nvSpPr>
        <p:spPr>
          <a:xfrm>
            <a:off x="1325880" y="2706624"/>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Domain &amp; hosting</a:t>
            </a:r>
            <a:endParaRPr lang="en-US" sz="1300" dirty="0"/>
          </a:p>
        </p:txBody>
      </p:sp>
      <p:sp>
        <p:nvSpPr>
          <p:cNvPr id="18" name="Text 13"/>
          <p:cNvSpPr txBox="1"/>
          <p:nvPr/>
        </p:nvSpPr>
        <p:spPr>
          <a:xfrm>
            <a:off x="1325880" y="2990088"/>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We assume omaginfo.com (from the email address). Confirm domain, hosting and who manages DNS.</a:t>
            </a:r>
            <a:endParaRPr lang="en-US" sz="1100" dirty="0"/>
          </a:p>
        </p:txBody>
      </p:sp>
      <p:sp>
        <p:nvSpPr>
          <p:cNvPr id="19" name="Shape 14"/>
          <p:cNvSpPr/>
          <p:nvPr/>
        </p:nvSpPr>
        <p:spPr>
          <a:xfrm>
            <a:off x="6172200" y="2578608"/>
            <a:ext cx="5440680" cy="1143000"/>
          </a:xfrm>
          <a:prstGeom prst="roundRect">
            <a:avLst>
              <a:gd name="adj" fmla="val 11200"/>
            </a:avLst>
          </a:prstGeom>
          <a:solidFill>
            <a:srgbClr val="F3F2FA"/>
          </a:solidFill>
          <a:ln/>
        </p:spPr>
      </p:sp>
      <p:sp>
        <p:nvSpPr>
          <p:cNvPr id="20" name="Shape 15"/>
          <p:cNvSpPr/>
          <p:nvPr/>
        </p:nvSpPr>
        <p:spPr>
          <a:xfrm>
            <a:off x="6355080" y="2779776"/>
            <a:ext cx="438912" cy="438912"/>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6464808" y="2889504"/>
            <a:ext cx="219456" cy="219456"/>
          </a:xfrm>
          <a:prstGeom prst="rect">
            <a:avLst/>
          </a:prstGeom>
        </p:spPr>
      </p:pic>
      <p:sp>
        <p:nvSpPr>
          <p:cNvPr id="22" name="Text 16"/>
          <p:cNvSpPr txBox="1"/>
          <p:nvPr/>
        </p:nvSpPr>
        <p:spPr>
          <a:xfrm>
            <a:off x="6949440" y="2706624"/>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Login / client portal</a:t>
            </a:r>
            <a:endParaRPr lang="en-US" sz="1300" dirty="0"/>
          </a:p>
        </p:txBody>
      </p:sp>
      <p:sp>
        <p:nvSpPr>
          <p:cNvPr id="23" name="Text 17"/>
          <p:cNvSpPr txBox="1"/>
          <p:nvPr/>
        </p:nvSpPr>
        <p:spPr>
          <a:xfrm>
            <a:off x="6949440" y="2990088"/>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Sample had a 'Login' button. Remove unless you have a portal URL to link to.</a:t>
            </a:r>
            <a:endParaRPr lang="en-US" sz="1100" dirty="0"/>
          </a:p>
        </p:txBody>
      </p:sp>
      <p:sp>
        <p:nvSpPr>
          <p:cNvPr id="24" name="Shape 18"/>
          <p:cNvSpPr/>
          <p:nvPr/>
        </p:nvSpPr>
        <p:spPr>
          <a:xfrm>
            <a:off x="548640" y="3831336"/>
            <a:ext cx="5440680" cy="1143000"/>
          </a:xfrm>
          <a:prstGeom prst="roundRect">
            <a:avLst>
              <a:gd name="adj" fmla="val 11200"/>
            </a:avLst>
          </a:prstGeom>
          <a:solidFill>
            <a:srgbClr val="F3F2FA"/>
          </a:solidFill>
          <a:ln/>
        </p:spPr>
      </p:sp>
      <p:sp>
        <p:nvSpPr>
          <p:cNvPr id="25" name="Shape 19"/>
          <p:cNvSpPr/>
          <p:nvPr/>
        </p:nvSpPr>
        <p:spPr>
          <a:xfrm>
            <a:off x="731520" y="4032504"/>
            <a:ext cx="438912" cy="438912"/>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841248" y="4142232"/>
            <a:ext cx="219456" cy="219456"/>
          </a:xfrm>
          <a:prstGeom prst="rect">
            <a:avLst/>
          </a:prstGeom>
        </p:spPr>
      </p:pic>
      <p:sp>
        <p:nvSpPr>
          <p:cNvPr id="27" name="Text 20"/>
          <p:cNvSpPr txBox="1"/>
          <p:nvPr/>
        </p:nvSpPr>
        <p:spPr>
          <a:xfrm>
            <a:off x="1325880" y="3959352"/>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Newsletter</a:t>
            </a:r>
            <a:endParaRPr lang="en-US" sz="1300" dirty="0"/>
          </a:p>
        </p:txBody>
      </p:sp>
      <p:sp>
        <p:nvSpPr>
          <p:cNvPr id="28" name="Text 21"/>
          <p:cNvSpPr txBox="1"/>
          <p:nvPr/>
        </p:nvSpPr>
        <p:spPr>
          <a:xfrm>
            <a:off x="1325880" y="4242816"/>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Sample had a newsletter sign-up. Removed — not mentioned in the brief. Confirm if wanted.</a:t>
            </a:r>
            <a:endParaRPr lang="en-US" sz="1100" dirty="0"/>
          </a:p>
        </p:txBody>
      </p:sp>
      <p:sp>
        <p:nvSpPr>
          <p:cNvPr id="29" name="Shape 22"/>
          <p:cNvSpPr/>
          <p:nvPr/>
        </p:nvSpPr>
        <p:spPr>
          <a:xfrm>
            <a:off x="6172200" y="3831336"/>
            <a:ext cx="5440680" cy="1143000"/>
          </a:xfrm>
          <a:prstGeom prst="roundRect">
            <a:avLst>
              <a:gd name="adj" fmla="val 11200"/>
            </a:avLst>
          </a:prstGeom>
          <a:solidFill>
            <a:srgbClr val="F3F2FA"/>
          </a:solidFill>
          <a:ln/>
        </p:spPr>
      </p:sp>
      <p:sp>
        <p:nvSpPr>
          <p:cNvPr id="30" name="Shape 23"/>
          <p:cNvSpPr/>
          <p:nvPr/>
        </p:nvSpPr>
        <p:spPr>
          <a:xfrm>
            <a:off x="6355080" y="4032504"/>
            <a:ext cx="438912" cy="438912"/>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6464808" y="4142232"/>
            <a:ext cx="219456" cy="219456"/>
          </a:xfrm>
          <a:prstGeom prst="rect">
            <a:avLst/>
          </a:prstGeom>
        </p:spPr>
      </p:pic>
      <p:sp>
        <p:nvSpPr>
          <p:cNvPr id="32" name="Text 24"/>
          <p:cNvSpPr txBox="1"/>
          <p:nvPr/>
        </p:nvSpPr>
        <p:spPr>
          <a:xfrm>
            <a:off x="6949440" y="3959352"/>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Proposed microcopy (✱)</a:t>
            </a:r>
            <a:endParaRPr lang="en-US" sz="1300" dirty="0"/>
          </a:p>
        </p:txBody>
      </p:sp>
      <p:sp>
        <p:nvSpPr>
          <p:cNvPr id="33" name="Text 25"/>
          <p:cNvSpPr txBox="1"/>
          <p:nvPr/>
        </p:nvSpPr>
        <p:spPr>
          <a:xfrm>
            <a:off x="6949440" y="4242816"/>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Button labels, form labels, eyebrows and short captions were written by us. Please approve or edit.</a:t>
            </a:r>
            <a:endParaRPr lang="en-US" sz="1100" dirty="0"/>
          </a:p>
        </p:txBody>
      </p:sp>
      <p:sp>
        <p:nvSpPr>
          <p:cNvPr id="34" name="Shape 26"/>
          <p:cNvSpPr/>
          <p:nvPr/>
        </p:nvSpPr>
        <p:spPr>
          <a:xfrm>
            <a:off x="548640" y="5084064"/>
            <a:ext cx="5440680" cy="1143000"/>
          </a:xfrm>
          <a:prstGeom prst="roundRect">
            <a:avLst>
              <a:gd name="adj" fmla="val 11200"/>
            </a:avLst>
          </a:prstGeom>
          <a:solidFill>
            <a:srgbClr val="F3F2FA"/>
          </a:solidFill>
          <a:ln/>
        </p:spPr>
      </p:sp>
      <p:sp>
        <p:nvSpPr>
          <p:cNvPr id="35" name="Shape 27"/>
          <p:cNvSpPr/>
          <p:nvPr/>
        </p:nvSpPr>
        <p:spPr>
          <a:xfrm>
            <a:off x="731520" y="5285232"/>
            <a:ext cx="438912" cy="438912"/>
          </a:xfrm>
          <a:prstGeom prst="ellipse">
            <a:avLst/>
          </a:prstGeom>
          <a:solidFill>
            <a:srgbClr val="FFFFFF"/>
          </a:solidFill>
          <a:ln/>
        </p:spPr>
      </p:sp>
      <p:pic>
        <p:nvPicPr>
          <p:cNvPr id="36" name="Image 6" descr="preencoded.png">    </p:cNvPr>
          <p:cNvPicPr>
            <a:picLocks noChangeAspect="1"/>
          </p:cNvPicPr>
          <p:nvPr/>
        </p:nvPicPr>
        <p:blipFill>
          <a:blip r:embed="rId7"/>
          <a:stretch>
            <a:fillRect/>
          </a:stretch>
        </p:blipFill>
        <p:spPr>
          <a:xfrm>
            <a:off x="841248" y="5394960"/>
            <a:ext cx="219456" cy="219456"/>
          </a:xfrm>
          <a:prstGeom prst="rect">
            <a:avLst/>
          </a:prstGeom>
        </p:spPr>
      </p:pic>
      <p:sp>
        <p:nvSpPr>
          <p:cNvPr id="37" name="Text 28"/>
          <p:cNvSpPr txBox="1"/>
          <p:nvPr/>
        </p:nvSpPr>
        <p:spPr>
          <a:xfrm>
            <a:off x="1325880" y="5212080"/>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Page structure</a:t>
            </a:r>
            <a:endParaRPr lang="en-US" sz="1300" dirty="0"/>
          </a:p>
        </p:txBody>
      </p:sp>
      <p:sp>
        <p:nvSpPr>
          <p:cNvPr id="38" name="Text 29"/>
          <p:cNvSpPr txBox="1"/>
          <p:nvPr/>
        </p:nvSpPr>
        <p:spPr>
          <a:xfrm>
            <a:off x="1325880" y="5495544"/>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Approve the 6-page sitemap, or tell us if Direct Routes / Partnerships need their own pages.</a:t>
            </a:r>
            <a:endParaRPr lang="en-US" sz="1100" dirty="0"/>
          </a:p>
        </p:txBody>
      </p:sp>
      <p:sp>
        <p:nvSpPr>
          <p:cNvPr id="39" name="Shape 30"/>
          <p:cNvSpPr/>
          <p:nvPr/>
        </p:nvSpPr>
        <p:spPr>
          <a:xfrm>
            <a:off x="6172200" y="5084064"/>
            <a:ext cx="5440680" cy="1143000"/>
          </a:xfrm>
          <a:prstGeom prst="roundRect">
            <a:avLst>
              <a:gd name="adj" fmla="val 11200"/>
            </a:avLst>
          </a:prstGeom>
          <a:solidFill>
            <a:srgbClr val="F3F2FA"/>
          </a:solidFill>
          <a:ln/>
        </p:spPr>
      </p:sp>
      <p:sp>
        <p:nvSpPr>
          <p:cNvPr id="40" name="Shape 31"/>
          <p:cNvSpPr/>
          <p:nvPr/>
        </p:nvSpPr>
        <p:spPr>
          <a:xfrm>
            <a:off x="6355080" y="5285232"/>
            <a:ext cx="438912" cy="438912"/>
          </a:xfrm>
          <a:prstGeom prst="ellipse">
            <a:avLst/>
          </a:prstGeom>
          <a:solidFill>
            <a:srgbClr val="FFFFFF"/>
          </a:solidFill>
          <a:ln/>
        </p:spPr>
      </p:sp>
      <p:pic>
        <p:nvPicPr>
          <p:cNvPr id="41" name="Image 7" descr="preencoded.png">    </p:cNvPr>
          <p:cNvPicPr>
            <a:picLocks noChangeAspect="1"/>
          </p:cNvPicPr>
          <p:nvPr/>
        </p:nvPicPr>
        <p:blipFill>
          <a:blip r:embed="rId8"/>
          <a:stretch>
            <a:fillRect/>
          </a:stretch>
        </p:blipFill>
        <p:spPr>
          <a:xfrm>
            <a:off x="6464808" y="5394960"/>
            <a:ext cx="219456" cy="219456"/>
          </a:xfrm>
          <a:prstGeom prst="rect">
            <a:avLst/>
          </a:prstGeom>
        </p:spPr>
      </p:pic>
      <p:sp>
        <p:nvSpPr>
          <p:cNvPr id="42" name="Text 32"/>
          <p:cNvSpPr txBox="1"/>
          <p:nvPr/>
        </p:nvSpPr>
        <p:spPr>
          <a:xfrm>
            <a:off x="6949440" y="5212080"/>
            <a:ext cx="4480560" cy="274320"/>
          </a:xfrm>
          <a:prstGeom prst="rect">
            <a:avLst/>
          </a:prstGeom>
          <a:noFill/>
          <a:ln/>
        </p:spPr>
        <p:txBody>
          <a:bodyPr wrap="square" lIns="0" tIns="0" rIns="0" bIns="0" rtlCol="0" anchor="t"/>
          <a:lstStyle/>
          <a:p>
            <a:pPr indent="0" marL="0">
              <a:buNone/>
            </a:pPr>
            <a:r>
              <a:rPr lang="en-US" sz="1300" b="1" dirty="0">
                <a:solidFill>
                  <a:srgbClr val="16161F"/>
                </a:solidFill>
                <a:latin typeface="Calibri" pitchFamily="34" charset="0"/>
                <a:ea typeface="Calibri" pitchFamily="34" charset="-122"/>
                <a:cs typeface="Calibri" pitchFamily="34" charset="-120"/>
              </a:rPr>
              <a:t>Other social channels</a:t>
            </a:r>
            <a:endParaRPr lang="en-US" sz="1300" dirty="0"/>
          </a:p>
        </p:txBody>
      </p:sp>
      <p:sp>
        <p:nvSpPr>
          <p:cNvPr id="43" name="Text 33"/>
          <p:cNvSpPr txBox="1"/>
          <p:nvPr/>
        </p:nvSpPr>
        <p:spPr>
          <a:xfrm>
            <a:off x="6949440" y="5495544"/>
            <a:ext cx="4526280" cy="713232"/>
          </a:xfrm>
          <a:prstGeom prst="rect">
            <a:avLst/>
          </a:prstGeom>
          <a:noFill/>
          <a:ln/>
        </p:spPr>
        <p:txBody>
          <a:bodyPr wrap="square" lIns="0" tIns="0" rIns="0" bIns="0" rtlCol="0" anchor="t"/>
          <a:lstStyle/>
          <a:p>
            <a:pPr indent="0" marL="0">
              <a:buNone/>
            </a:pPr>
            <a:r>
              <a:rPr lang="en-US" sz="1100" dirty="0">
                <a:solidFill>
                  <a:srgbClr val="5F6075"/>
                </a:solidFill>
                <a:latin typeface="Calibri" pitchFamily="34" charset="0"/>
                <a:ea typeface="Calibri" pitchFamily="34" charset="-122"/>
                <a:cs typeface="Calibri" pitchFamily="34" charset="-120"/>
              </a:rPr>
              <a:t>Only LinkedIn was supplied. Add any others you want linked.</a:t>
            </a:r>
            <a:endParaRPr lang="en-US" sz="11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31520" y="2011680"/>
            <a:ext cx="4572000" cy="365760"/>
          </a:xfrm>
          <a:prstGeom prst="rect">
            <a:avLst/>
          </a:prstGeom>
          <a:noFill/>
          <a:ln/>
        </p:spPr>
        <p:txBody>
          <a:bodyPr wrap="square" lIns="0" tIns="0" rIns="0" bIns="0" rtlCol="0" anchor="t"/>
          <a:lstStyle/>
          <a:p>
            <a:pPr indent="0" marL="0">
              <a:buNone/>
            </a:pPr>
            <a:r>
              <a:rPr lang="en-US" sz="1300" b="1" spc="300" kern="0" dirty="0">
                <a:solidFill>
                  <a:srgbClr val="9DF0D4"/>
                </a:solidFill>
                <a:latin typeface="Calibri" pitchFamily="34" charset="0"/>
                <a:ea typeface="Calibri" pitchFamily="34" charset="-122"/>
                <a:cs typeface="Calibri" pitchFamily="34" charset="-120"/>
              </a:rPr>
              <a:t>NEXT STEPS</a:t>
            </a:r>
            <a:endParaRPr lang="en-US" sz="1300" dirty="0"/>
          </a:p>
        </p:txBody>
      </p:sp>
      <p:sp>
        <p:nvSpPr>
          <p:cNvPr id="3" name="Text 0"/>
          <p:cNvSpPr/>
          <p:nvPr>
            <p:ph idx="100" type="title" hasCustomPrompt="1"/>
          </p:nvPr>
        </p:nvSpPr>
        <p:spPr>
          <a:xfrm>
            <a:off x="731520" y="2606040"/>
            <a:ext cx="5852160"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From proposal to launch</a:t>
            </a:r>
            <a:endParaRPr lang="en-US" sz="4000" dirty="0"/>
          </a:p>
        </p:txBody>
      </p:sp>
      <p:sp>
        <p:nvSpPr>
          <p:cNvPr id="4" name="Shape 2"/>
          <p:cNvSpPr/>
          <p:nvPr/>
        </p:nvSpPr>
        <p:spPr>
          <a:xfrm>
            <a:off x="731520" y="4023360"/>
            <a:ext cx="502920" cy="502920"/>
          </a:xfrm>
          <a:prstGeom prst="ellipse">
            <a:avLst/>
          </a:prstGeom>
          <a:solidFill>
            <a:srgbClr val="7B6CF6"/>
          </a:solidFill>
          <a:ln/>
        </p:spPr>
      </p:sp>
      <p:sp>
        <p:nvSpPr>
          <p:cNvPr id="5" name="Text 3"/>
          <p:cNvSpPr txBox="1"/>
          <p:nvPr/>
        </p:nvSpPr>
        <p:spPr>
          <a:xfrm>
            <a:off x="73152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325880" y="4274820"/>
            <a:ext cx="1554480" cy="0"/>
          </a:xfrm>
          <a:prstGeom prst="line">
            <a:avLst/>
          </a:prstGeom>
          <a:noFill/>
          <a:ln w="19050">
            <a:solidFill>
              <a:srgbClr val="3E3E55"/>
            </a:solidFill>
            <a:prstDash val="dash"/>
          </a:ln>
        </p:spPr>
      </p:sp>
      <p:sp>
        <p:nvSpPr>
          <p:cNvPr id="7" name="Text 5"/>
          <p:cNvSpPr txBox="1"/>
          <p:nvPr/>
        </p:nvSpPr>
        <p:spPr>
          <a:xfrm>
            <a:off x="731520" y="4709160"/>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Approve</a:t>
            </a:r>
            <a:endParaRPr lang="en-US" sz="1500" dirty="0"/>
          </a:p>
        </p:txBody>
      </p:sp>
      <p:sp>
        <p:nvSpPr>
          <p:cNvPr id="8" name="Text 6"/>
          <p:cNvSpPr txBox="1"/>
          <p:nvPr/>
        </p:nvSpPr>
        <p:spPr>
          <a:xfrm>
            <a:off x="731520" y="5029200"/>
            <a:ext cx="1965960" cy="82296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Sitemap, visual direction and proposed copy (✱)</a:t>
            </a:r>
            <a:endParaRPr lang="en-US" sz="1200" dirty="0"/>
          </a:p>
        </p:txBody>
      </p:sp>
      <p:sp>
        <p:nvSpPr>
          <p:cNvPr id="9" name="Shape 7"/>
          <p:cNvSpPr/>
          <p:nvPr/>
        </p:nvSpPr>
        <p:spPr>
          <a:xfrm>
            <a:off x="2971800" y="4023360"/>
            <a:ext cx="502920" cy="502920"/>
          </a:xfrm>
          <a:prstGeom prst="ellipse">
            <a:avLst/>
          </a:prstGeom>
          <a:solidFill>
            <a:srgbClr val="2A2A3C"/>
          </a:solidFill>
          <a:ln/>
        </p:spPr>
      </p:sp>
      <p:sp>
        <p:nvSpPr>
          <p:cNvPr id="10" name="Text 8"/>
          <p:cNvSpPr txBox="1"/>
          <p:nvPr/>
        </p:nvSpPr>
        <p:spPr>
          <a:xfrm>
            <a:off x="297180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3566160" y="4274820"/>
            <a:ext cx="1554480" cy="0"/>
          </a:xfrm>
          <a:prstGeom prst="line">
            <a:avLst/>
          </a:prstGeom>
          <a:noFill/>
          <a:ln w="19050">
            <a:solidFill>
              <a:srgbClr val="3E3E55"/>
            </a:solidFill>
            <a:prstDash val="dash"/>
          </a:ln>
        </p:spPr>
      </p:sp>
      <p:sp>
        <p:nvSpPr>
          <p:cNvPr id="12" name="Text 10"/>
          <p:cNvSpPr txBox="1"/>
          <p:nvPr/>
        </p:nvSpPr>
        <p:spPr>
          <a:xfrm>
            <a:off x="2971800" y="4709160"/>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Supply</a:t>
            </a:r>
            <a:endParaRPr lang="en-US" sz="1500" dirty="0"/>
          </a:p>
        </p:txBody>
      </p:sp>
      <p:sp>
        <p:nvSpPr>
          <p:cNvPr id="13" name="Text 11"/>
          <p:cNvSpPr txBox="1"/>
          <p:nvPr/>
        </p:nvSpPr>
        <p:spPr>
          <a:xfrm>
            <a:off x="2971800" y="5029200"/>
            <a:ext cx="1965960" cy="82296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Logo, photos, legal text and items marked TBC</a:t>
            </a:r>
            <a:endParaRPr lang="en-US" sz="1200" dirty="0"/>
          </a:p>
        </p:txBody>
      </p:sp>
      <p:sp>
        <p:nvSpPr>
          <p:cNvPr id="14" name="Shape 12"/>
          <p:cNvSpPr/>
          <p:nvPr/>
        </p:nvSpPr>
        <p:spPr>
          <a:xfrm>
            <a:off x="5212080" y="4023360"/>
            <a:ext cx="502920" cy="502920"/>
          </a:xfrm>
          <a:prstGeom prst="ellipse">
            <a:avLst/>
          </a:prstGeom>
          <a:solidFill>
            <a:srgbClr val="2A2A3C"/>
          </a:solidFill>
          <a:ln/>
        </p:spPr>
      </p:sp>
      <p:sp>
        <p:nvSpPr>
          <p:cNvPr id="15" name="Text 13"/>
          <p:cNvSpPr txBox="1"/>
          <p:nvPr/>
        </p:nvSpPr>
        <p:spPr>
          <a:xfrm>
            <a:off x="521208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5806440" y="4274820"/>
            <a:ext cx="1554480" cy="0"/>
          </a:xfrm>
          <a:prstGeom prst="line">
            <a:avLst/>
          </a:prstGeom>
          <a:noFill/>
          <a:ln w="19050">
            <a:solidFill>
              <a:srgbClr val="3E3E55"/>
            </a:solidFill>
            <a:prstDash val="dash"/>
          </a:ln>
        </p:spPr>
      </p:sp>
      <p:sp>
        <p:nvSpPr>
          <p:cNvPr id="17" name="Text 15"/>
          <p:cNvSpPr txBox="1"/>
          <p:nvPr/>
        </p:nvSpPr>
        <p:spPr>
          <a:xfrm>
            <a:off x="5212080" y="4709160"/>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Design</a:t>
            </a:r>
            <a:endParaRPr lang="en-US" sz="1500" dirty="0"/>
          </a:p>
        </p:txBody>
      </p:sp>
      <p:sp>
        <p:nvSpPr>
          <p:cNvPr id="18" name="Text 16"/>
          <p:cNvSpPr txBox="1"/>
          <p:nvPr/>
        </p:nvSpPr>
        <p:spPr>
          <a:xfrm>
            <a:off x="5212080" y="5029200"/>
            <a:ext cx="1965960" cy="82296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High-fidelity designs for all 6 pages, desktop + mobile</a:t>
            </a:r>
            <a:endParaRPr lang="en-US" sz="1200" dirty="0"/>
          </a:p>
        </p:txBody>
      </p:sp>
      <p:sp>
        <p:nvSpPr>
          <p:cNvPr id="19" name="Shape 17"/>
          <p:cNvSpPr/>
          <p:nvPr/>
        </p:nvSpPr>
        <p:spPr>
          <a:xfrm>
            <a:off x="7452360" y="4023360"/>
            <a:ext cx="502920" cy="502920"/>
          </a:xfrm>
          <a:prstGeom prst="ellipse">
            <a:avLst/>
          </a:prstGeom>
          <a:solidFill>
            <a:srgbClr val="2A2A3C"/>
          </a:solidFill>
          <a:ln/>
        </p:spPr>
      </p:sp>
      <p:sp>
        <p:nvSpPr>
          <p:cNvPr id="20" name="Text 18"/>
          <p:cNvSpPr txBox="1"/>
          <p:nvPr/>
        </p:nvSpPr>
        <p:spPr>
          <a:xfrm>
            <a:off x="745236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Shape 19"/>
          <p:cNvSpPr/>
          <p:nvPr/>
        </p:nvSpPr>
        <p:spPr>
          <a:xfrm>
            <a:off x="8046720" y="4274820"/>
            <a:ext cx="1554480" cy="0"/>
          </a:xfrm>
          <a:prstGeom prst="line">
            <a:avLst/>
          </a:prstGeom>
          <a:noFill/>
          <a:ln w="19050">
            <a:solidFill>
              <a:srgbClr val="3E3E55"/>
            </a:solidFill>
            <a:prstDash val="dash"/>
          </a:ln>
        </p:spPr>
      </p:sp>
      <p:sp>
        <p:nvSpPr>
          <p:cNvPr id="22" name="Text 20"/>
          <p:cNvSpPr txBox="1"/>
          <p:nvPr/>
        </p:nvSpPr>
        <p:spPr>
          <a:xfrm>
            <a:off x="7452360" y="4709160"/>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23" name="Text 21"/>
          <p:cNvSpPr txBox="1"/>
          <p:nvPr/>
        </p:nvSpPr>
        <p:spPr>
          <a:xfrm>
            <a:off x="7452360" y="5029200"/>
            <a:ext cx="1965960" cy="82296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Responsive development, form setup, SEO basics</a:t>
            </a:r>
            <a:endParaRPr lang="en-US" sz="1200" dirty="0"/>
          </a:p>
        </p:txBody>
      </p:sp>
      <p:sp>
        <p:nvSpPr>
          <p:cNvPr id="24" name="Shape 22"/>
          <p:cNvSpPr/>
          <p:nvPr/>
        </p:nvSpPr>
        <p:spPr>
          <a:xfrm>
            <a:off x="9692640" y="4023360"/>
            <a:ext cx="502920" cy="502920"/>
          </a:xfrm>
          <a:prstGeom prst="ellipse">
            <a:avLst/>
          </a:prstGeom>
          <a:solidFill>
            <a:srgbClr val="2A2A3C"/>
          </a:solidFill>
          <a:ln/>
        </p:spPr>
      </p:sp>
      <p:sp>
        <p:nvSpPr>
          <p:cNvPr id="25" name="Text 23"/>
          <p:cNvSpPr txBox="1"/>
          <p:nvPr/>
        </p:nvSpPr>
        <p:spPr>
          <a:xfrm>
            <a:off x="969264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9692640" y="4709160"/>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 &amp; launch</a:t>
            </a:r>
            <a:endParaRPr lang="en-US" sz="1500" dirty="0"/>
          </a:p>
        </p:txBody>
      </p:sp>
      <p:sp>
        <p:nvSpPr>
          <p:cNvPr id="27" name="Text 25"/>
          <p:cNvSpPr txBox="1"/>
          <p:nvPr/>
        </p:nvSpPr>
        <p:spPr>
          <a:xfrm>
            <a:off x="9692640" y="5029200"/>
            <a:ext cx="1965960" cy="822960"/>
          </a:xfrm>
          <a:prstGeom prst="rect">
            <a:avLst/>
          </a:prstGeom>
          <a:noFill/>
          <a:ln/>
        </p:spPr>
        <p:txBody>
          <a:bodyPr wrap="square" lIns="0" tIns="0" rIns="0" bIns="0" rtlCol="0" anchor="t"/>
          <a:lstStyle/>
          <a:p>
            <a:pPr indent="0" marL="0">
              <a:buNone/>
            </a:pPr>
            <a:r>
              <a:rPr lang="en-US" sz="1200" dirty="0">
                <a:solidFill>
                  <a:srgbClr val="C9C9DA"/>
                </a:solidFill>
                <a:latin typeface="Calibri" pitchFamily="34" charset="0"/>
                <a:ea typeface="Calibri" pitchFamily="34" charset="-122"/>
                <a:cs typeface="Calibri" pitchFamily="34" charset="-120"/>
              </a:rPr>
              <a:t>Content check, cross-device testing, go-live</a:t>
            </a:r>
            <a:endParaRPr lang="en-US" sz="1200" dirty="0"/>
          </a:p>
        </p:txBody>
      </p:sp>
      <p:sp>
        <p:nvSpPr>
          <p:cNvPr id="28" name="Text 26"/>
          <p:cNvSpPr txBox="1"/>
          <p:nvPr/>
        </p:nvSpPr>
        <p:spPr>
          <a:xfrm>
            <a:off x="731520" y="5989320"/>
            <a:ext cx="8229600" cy="274320"/>
          </a:xfrm>
          <a:prstGeom prst="rect">
            <a:avLst/>
          </a:prstGeom>
          <a:noFill/>
          <a:ln/>
        </p:spPr>
        <p:txBody>
          <a:bodyPr wrap="square" lIns="0" tIns="0" rIns="0" bIns="0" rtlCol="0" anchor="t"/>
          <a:lstStyle/>
          <a:p>
            <a:pPr indent="0" marL="0">
              <a:buNone/>
            </a:pPr>
            <a:r>
              <a:rPr lang="en-US" sz="1100" i="1" dirty="0">
                <a:solidFill>
                  <a:srgbClr val="8B8BA3"/>
                </a:solidFill>
                <a:latin typeface="Calibri" pitchFamily="34" charset="0"/>
                <a:ea typeface="Calibri" pitchFamily="34" charset="-122"/>
                <a:cs typeface="Calibri" pitchFamily="34" charset="-120"/>
              </a:rPr>
              <a:t>Timeline and pricing to be agreed separately once the scope above is approved.</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B8BA3"/>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Omaginfo Proposal">
  <a:themeElements>
    <a:clrScheme name="Omaginfo Proposal">
      <a:dk1>
        <a:srgbClr val="16161F"/>
      </a:dk1>
      <a:lt1>
        <a:srgbClr val="FFFFFF"/>
      </a:lt1>
      <a:dk2>
        <a:srgbClr val="1B1B28"/>
      </a:dk2>
      <a:lt2>
        <a:srgbClr val="F3F2FA"/>
      </a:lt2>
      <a:accent1>
        <a:srgbClr val="7B6CF6"/>
      </a:accent1>
      <a:accent2>
        <a:srgbClr val="9DF0D4"/>
      </a:accent2>
      <a:accent3>
        <a:srgbClr val="F2B77A"/>
      </a:accent3>
      <a:accent4>
        <a:srgbClr val="B3A8FF"/>
      </a:accent4>
      <a:accent5>
        <a:srgbClr val="5F6075"/>
      </a:accent5>
      <a:accent6>
        <a:srgbClr val="2ECC8F"/>
      </a:accent6>
      <a:hlink>
        <a:srgbClr val="7B6CF6"/>
      </a:hlink>
      <a:folHlink>
        <a:srgbClr val="5A4FD0"/>
      </a:folHlink>
    </a:clrScheme>
    <a:fontScheme name="Omaginfo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Omaginfo LLC – Website Design Proposal</dc:title>
  <dc:subject>Website design proposal</dc:subject>
  <dc:creator>PptxGenJS</dc:creator>
  <cp:lastModifiedBy>PptxGenJS</cp:lastModifiedBy>
  <cp:revision>1</cp:revision>
  <dcterms:created xsi:type="dcterms:W3CDTF">2026-10-22T18:13:33Z</dcterms:created>
  <dcterms:modified xsi:type="dcterms:W3CDTF">2026-10-22T18:13:33Z</dcterms:modified>
</cp:coreProperties>
</file>